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84ca5b9-db0f-a0ae-5d88-46a8e3be79de}">
          <p14:sldIdLst>
            <p14:sldId id="256"/>
            <p14:sldId id="257"/>
            <p14:sldId id="258"/>
          </p14:sldIdLst>
        </p14:section>
        <p14:section name="The engine" id="{e120acfc-605f-6895-c97c-8787e2633d41}">
          <p14:sldIdLst>
            <p14:sldId id="259"/>
            <p14:sldId id="260"/>
          </p14:sldIdLst>
        </p14:section>
        <p14:section name="Forecast and proof" id="{c7d7b9b3-3607-6936-3ba3-dfd1e6a3aaff}">
          <p14:sldIdLst>
            <p14:sldId id="261"/>
            <p14:sldId id="262"/>
          </p14:sldIdLst>
        </p14:section>
        <p14:section name="Services" id="{f85de667-8f70-86ae-dcd8-a4bae59e3b49}">
          <p14:sldIdLst>
            <p14:sldId id="263"/>
            <p14:sldId id="264"/>
          </p14:sldIdLst>
        </p14:section>
        <p14:section name="Business" id="{54c28836-44dc-2732-8414-4365e247a64c}">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8"/>
          <c:w val="0.92"/>
          <c:h val="0.74"/>
        </c:manualLayout>
      </c:layout>
      <c:barChart>
        <c:barDir val="col"/>
        <c:grouping val="clustered"/>
        <c:varyColors val="0"/>
        <c:ser>
          <c:idx val="0"/>
          <c:order val="0"/>
          <c:tx>
            <c:strRef>
              <c:f>Sheet1!$B$1</c:f>
              <c:strCache>
                <c:ptCount val="1"/>
                <c:pt idx="0">
                  <c:v>Indian fan comments per 10,000</c:v>
                </c:pt>
              </c:strCache>
            </c:strRef>
          </c:tx>
          <c:spPr>
            <a:solidFill>
              <a:srgbClr val="C9BFAE"/>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dPt>
            <c:idx val="0"/>
            <c:invertIfNegative val="0"/>
            <c:bubble3D val="0"/>
            <c:spPr>
              <a:solidFill>
                <a:srgbClr val="C9BFAE"/>
              </a:solidFill>
              <a:effectLst/>
            </c:spPr>
          </c:dPt>
          <c:dPt>
            <c:idx val="1"/>
            <c:invertIfNegative val="0"/>
            <c:bubble3D val="0"/>
            <c:spPr>
              <a:solidFill>
                <a:srgbClr val="D9412B"/>
              </a:solidFill>
              <a:effectLst/>
            </c:spPr>
          </c:dPt>
          <c:cat>
            <c:multiLvlStrRef>
              <c:f>Sheet1!$A$2:$A$3</c:f>
              <c:multiLvlStrCache>
                <c:ptCount val="2"/>
                <c:lvl>
                  <c:pt idx="0">
                    <c:v>Script-only detection</c:v>
                  </c:pt>
                  <c:pt idx="1">
                    <c:v>Yosoku: Hinglish + IndicLID</c:v>
                  </c:pt>
                </c:lvl>
              </c:multiLvlStrCache>
            </c:multiLvlStrRef>
          </c:cat>
          <c:val>
            <c:numRef>
              <c:f>Sheet1!$B$2:$B$3</c:f>
              <c:numCache>
                <c:formatCode>General</c:formatCode>
                <c:ptCount val="2"/>
                <c:pt idx="0">
                  <c:v>5</c:v>
                </c:pt>
                <c:pt idx="1">
                  <c:v>100</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BFAE"/>
            </a:solidFill>
            <a:prstDash val="solid"/>
            <a:round/>
          </a:ln>
        </c:spPr>
        <c:txPr>
          <a:bodyPr/>
          <a:lstStyle/>
          <a:p>
            <a:pPr>
              <a:defRPr sz="1200" b="0" i="0" u="none" strike="noStrike">
                <a:solidFill>
                  <a:srgbClr val="141A33"/>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Rank accuracy</c:v>
                </c:pt>
              </c:strCache>
            </c:strRef>
          </c:tx>
          <c:spPr>
            <a:solidFill>
              <a:srgbClr val="D9412B"/>
            </a:solidFill>
            <a:effectLst/>
          </c:spPr>
          <c:invertIfNegative val="0"/>
          <c:dLbls>
            <c:numFmt formatCode="0.00" sourceLinked="0"/>
            <c:txPr>
              <a:bodyPr/>
              <a:lstStyle/>
              <a:p>
                <a:pPr>
                  <a:defRPr b="1" i="0" strike="noStrike" sz="1100" u="none">
                    <a:solidFill>
                      <a:srgbClr val="141A33"/>
                    </a:solidFill>
                    <a:latin typeface="+mn-lt"/>
                  </a:defRPr>
                </a:pPr>
              </a:p>
            </c:txPr>
            <c:showLegendKey val="0"/>
            <c:showVal val="1"/>
            <c:showCatName val="0"/>
            <c:showSerName val="0"/>
            <c:showPercent val="0"/>
            <c:showBubbleSize val="0"/>
            <c:showLeaderLines val="0"/>
          </c:dLbls>
          <c:dPt>
            <c:idx val="0"/>
            <c:invertIfNegative val="0"/>
            <c:bubble3D val="0"/>
            <c:spPr>
              <a:solidFill>
                <a:srgbClr val="D9412B"/>
              </a:solidFill>
              <a:effectLst/>
            </c:spPr>
          </c:dPt>
          <c:dPt>
            <c:idx val="1"/>
            <c:invertIfNegative val="0"/>
            <c:bubble3D val="0"/>
            <c:spPr>
              <a:solidFill>
                <a:srgbClr val="C9BFAE"/>
              </a:solidFill>
              <a:effectLst/>
            </c:spPr>
          </c:dPt>
          <c:dPt>
            <c:idx val="2"/>
            <c:invertIfNegative val="0"/>
            <c:bubble3D val="0"/>
            <c:spPr>
              <a:solidFill>
                <a:srgbClr val="C9BFAE"/>
              </a:solidFill>
              <a:effectLst/>
            </c:spPr>
          </c:dPt>
          <c:dPt>
            <c:idx val="3"/>
            <c:invertIfNegative val="0"/>
            <c:bubble3D val="0"/>
            <c:spPr>
              <a:solidFill>
                <a:srgbClr val="C9BFAE"/>
              </a:solidFill>
              <a:effectLst/>
            </c:spPr>
          </c:dPt>
          <c:dPt>
            <c:idx val="4"/>
            <c:invertIfNegative val="0"/>
            <c:bubble3D val="0"/>
            <c:spPr>
              <a:solidFill>
                <a:srgbClr val="C9BFAE"/>
              </a:solidFill>
              <a:effectLst/>
            </c:spPr>
          </c:dPt>
          <c:cat>
            <c:multiLvlStrRef>
              <c:f>Sheet1!$A$2:$A$6</c:f>
              <c:multiLvlStrCache>
                <c:ptCount val="5"/>
                <c:lvl>
                  <c:pt idx="0">
                    <c:v>Yosoku Blend</c:v>
                  </c:pt>
                  <c:pt idx="1">
                    <c:v>India YouTube alone</c:v>
                  </c:pt>
                  <c:pt idx="2">
                    <c:v>Global Wikipedia buzz</c:v>
                  </c:pt>
                  <c:pt idx="3">
                    <c:v>Genre average</c:v>
                  </c:pt>
                  <c:pt idx="4">
                    <c:v>Sequel carry-over</c:v>
                  </c:pt>
                </c:lvl>
              </c:multiLvlStrCache>
            </c:multiLvlStrRef>
          </c:cat>
          <c:val>
            <c:numRef>
              <c:f>Sheet1!$B$2:$B$6</c:f>
              <c:numCache>
                <c:formatCode>General</c:formatCode>
                <c:ptCount val="5"/>
                <c:pt idx="0">
                  <c:v>0.66</c:v>
                </c:pt>
                <c:pt idx="1">
                  <c:v>0.52</c:v>
                </c:pt>
                <c:pt idx="2">
                  <c:v>0.38</c:v>
                </c:pt>
                <c:pt idx="3">
                  <c:v>0.12</c:v>
                </c:pt>
                <c:pt idx="4">
                  <c:v>0.07</c:v>
                </c:pt>
              </c:numCache>
            </c:numRef>
          </c:val>
        </c:ser>
        <c:dLbls>
          <c:numFmt formatCode="0.00" sourceLinked="0"/>
          <c:txPr>
            <a:bodyPr/>
            <a:lstStyle/>
            <a:p>
              <a:pPr>
                <a:defRPr b="1" i="0" strike="noStrike" sz="1100" u="none">
                  <a:solidFill>
                    <a:srgbClr val="141A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41A33"/>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Rank accuracy, 20 seasons</c:v>
                </c:pt>
              </c:strCache>
            </c:strRef>
          </c:tx>
          <c:spPr>
            <a:solidFill>
              <a:srgbClr val="D9412B"/>
            </a:solidFill>
            <a:ln w="31750" cap="flat">
              <a:solidFill>
                <a:srgbClr val="D9412B"/>
              </a:solidFill>
              <a:prstDash val="solid"/>
              <a:round/>
            </a:ln>
            <a:effectLst/>
          </c:spPr>
          <c:invertIfNegative val="0"/>
          <c:dLbls>
            <c:numFmt formatCode="0.00" sourceLinked="0"/>
            <c:txPr>
              <a:bodyPr/>
              <a:lstStyle/>
              <a:p>
                <a:pPr>
                  <a:defRPr b="0" i="0" strike="noStrike" sz="950" u="none">
                    <a:solidFill>
                      <a:srgbClr val="141A33"/>
                    </a:solidFill>
                    <a:latin typeface="+mn-lt"/>
                  </a:defRPr>
                </a:pPr>
              </a:p>
            </c:txPr>
            <c:dLblPos val="t"/>
            <c:showLegendKey val="0"/>
            <c:showVal val="1"/>
            <c:showCatName val="0"/>
            <c:showSerName val="0"/>
            <c:showPercent val="0"/>
            <c:showBubbleSize val="0"/>
            <c:showLeaderLines val="0"/>
          </c:dLbls>
          <c:marker>
            <c:symbol val="circle"/>
            <c:size val="7"/>
            <c:spPr>
              <a:solidFill>
                <a:srgbClr val="D9412B"/>
              </a:solidFill>
              <a:ln w="9525" cap="flat">
                <a:solidFill>
                  <a:srgbClr val="D9412B"/>
                </a:solidFill>
                <a:prstDash val="solid"/>
                <a:round/>
              </a:ln>
              <a:effectLst/>
            </c:spPr>
          </c:marker>
          <c:cat>
            <c:multiLvlStrRef>
              <c:f>Sheet1!$A$2:$A$13</c:f>
              <c:multiLvlStrCache>
                <c:ptCount val="12"/>
                <c:lvl>
                  <c:pt idx="0">
                    <c:v>Cold</c:v>
                  </c:pt>
                  <c:pt idx="1">
                    <c:v>−49</c:v>
                  </c:pt>
                  <c:pt idx="2">
                    <c:v>−42</c:v>
                  </c:pt>
                  <c:pt idx="3">
                    <c:v>−35</c:v>
                  </c:pt>
                  <c:pt idx="4">
                    <c:v>−28</c:v>
                  </c:pt>
                  <c:pt idx="5">
                    <c:v>−21</c:v>
                  </c:pt>
                  <c:pt idx="6">
                    <c:v>−14</c:v>
                  </c:pt>
                  <c:pt idx="7">
                    <c:v>−7</c:v>
                  </c:pt>
                  <c:pt idx="8">
                    <c:v>0</c:v>
                  </c:pt>
                  <c:pt idx="9">
                    <c:v>+3</c:v>
                  </c:pt>
                  <c:pt idx="10">
                    <c:v>+7</c:v>
                  </c:pt>
                  <c:pt idx="11">
                    <c:v>+14</c:v>
                  </c:pt>
                </c:lvl>
              </c:multiLvlStrCache>
            </c:multiLvlStrRef>
          </c:cat>
          <c:val>
            <c:numRef>
              <c:f>Sheet1!$B$2:$B$13</c:f>
              <c:numCache>
                <c:formatCode>General</c:formatCode>
                <c:ptCount val="12"/>
                <c:pt idx="0">
                  <c:v>0.18</c:v>
                </c:pt>
                <c:pt idx="1">
                  <c:v>0.29</c:v>
                </c:pt>
                <c:pt idx="2">
                  <c:v>0.33</c:v>
                </c:pt>
                <c:pt idx="3">
                  <c:v>0.33</c:v>
                </c:pt>
                <c:pt idx="4">
                  <c:v>0.32</c:v>
                </c:pt>
                <c:pt idx="5">
                  <c:v>0.34</c:v>
                </c:pt>
                <c:pt idx="6">
                  <c:v>0.32</c:v>
                </c:pt>
                <c:pt idx="7">
                  <c:v>0.38</c:v>
                </c:pt>
                <c:pt idx="8">
                  <c:v>0.41</c:v>
                </c:pt>
                <c:pt idx="9">
                  <c:v>0.53</c:v>
                </c:pt>
                <c:pt idx="10">
                  <c:v>0.61</c:v>
                </c:pt>
                <c:pt idx="11">
                  <c:v>0.65</c:v>
                </c:pt>
              </c:numCache>
            </c:numRef>
          </c:val>
          <c:smooth val="0"/>
        </c:ser>
        <c:dLbls>
          <c:numFmt formatCode="0.00" sourceLinked="0"/>
          <c:txPr>
            <a:bodyPr/>
            <a:lstStyle/>
            <a:p>
              <a:pPr>
                <a:defRPr b="0" i="0" strike="noStrike" sz="950" u="none">
                  <a:solidFill>
                    <a:srgbClr val="141A33"/>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BFAE"/>
            </a:solidFill>
            <a:prstDash val="solid"/>
            <a:round/>
          </a:ln>
        </c:spPr>
        <c:txPr>
          <a:bodyPr/>
          <a:lstStyle/>
          <a:p>
            <a:pPr>
              <a:defRPr sz="1050" b="0" i="0" u="none" strike="noStrike">
                <a:solidFill>
                  <a:srgbClr val="5B6178"/>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l"/>
        <c:majorGridlines>
          <c:spPr>
            <a:ln w="6350" cap="flat">
              <a:solidFill>
                <a:srgbClr val="E6DF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Dub requests</c:v>
                </c:pt>
              </c:strCache>
            </c:strRef>
          </c:tx>
          <c:spPr>
            <a:solidFill>
              <a:srgbClr val="D9412B"/>
            </a:solidFill>
            <a:effectLst/>
          </c:spPr>
          <c:invertIfNegative val="0"/>
          <c:dLbls>
            <c:numFmt formatCode="#,##0" sourceLinked="0"/>
            <c:txPr>
              <a:bodyPr/>
              <a:lstStyle/>
              <a:p>
                <a:pPr>
                  <a:defRPr b="1" i="0" strike="noStrike" sz="1050" u="none">
                    <a:solidFill>
                      <a:srgbClr val="141A33"/>
                    </a:solidFill>
                    <a:latin typeface="+mn-lt"/>
                  </a:defRPr>
                </a:pPr>
              </a:p>
            </c:txPr>
            <c:showLegendKey val="0"/>
            <c:showVal val="1"/>
            <c:showCatName val="0"/>
            <c:showSerName val="0"/>
            <c:showPercent val="0"/>
            <c:showBubbleSize val="0"/>
            <c:showLeaderLines val="0"/>
          </c:dLbls>
          <c:dPt>
            <c:idx val="0"/>
            <c:invertIfNegative val="0"/>
            <c:bubble3D val="0"/>
            <c:spPr>
              <a:solidFill>
                <a:srgbClr val="D9412B"/>
              </a:solidFill>
              <a:effectLst/>
            </c:spPr>
          </c:dPt>
          <c:dPt>
            <c:idx val="1"/>
            <c:invertIfNegative val="0"/>
            <c:bubble3D val="0"/>
            <c:spPr>
              <a:solidFill>
                <a:srgbClr val="C9BFAE"/>
              </a:solidFill>
              <a:effectLst/>
            </c:spPr>
          </c:dPt>
          <c:dPt>
            <c:idx val="2"/>
            <c:invertIfNegative val="0"/>
            <c:bubble3D val="0"/>
            <c:spPr>
              <a:solidFill>
                <a:srgbClr val="C9BFAE"/>
              </a:solidFill>
              <a:effectLst/>
            </c:spPr>
          </c:dPt>
          <c:dPt>
            <c:idx val="3"/>
            <c:invertIfNegative val="0"/>
            <c:bubble3D val="0"/>
            <c:spPr>
              <a:solidFill>
                <a:srgbClr val="C9BFAE"/>
              </a:solidFill>
              <a:effectLst/>
            </c:spPr>
          </c:dPt>
          <c:dPt>
            <c:idx val="4"/>
            <c:invertIfNegative val="0"/>
            <c:bubble3D val="0"/>
            <c:spPr>
              <a:solidFill>
                <a:srgbClr val="C9BFAE"/>
              </a:solidFill>
              <a:effectLst/>
            </c:spPr>
          </c:dPt>
          <c:cat>
            <c:multiLvlStrRef>
              <c:f>Sheet1!$A$2:$A$6</c:f>
              <c:multiLvlStrCache>
                <c:ptCount val="5"/>
                <c:lvl>
                  <c:pt idx="0">
                    <c:v>Hindi</c:v>
                  </c:pt>
                  <c:pt idx="1">
                    <c:v>Tamil</c:v>
                  </c:pt>
                  <c:pt idx="2">
                    <c:v>Telugu</c:v>
                  </c:pt>
                  <c:pt idx="3">
                    <c:v>Bengali</c:v>
                  </c:pt>
                  <c:pt idx="4">
                    <c:v>Kannada</c:v>
                  </c:pt>
                </c:lvl>
              </c:multiLvlStrCache>
            </c:multiLvlStrRef>
          </c:cat>
          <c:val>
            <c:numRef>
              <c:f>Sheet1!$B$2:$B$6</c:f>
              <c:numCache>
                <c:formatCode>General</c:formatCode>
                <c:ptCount val="5"/>
                <c:pt idx="0">
                  <c:v>1016</c:v>
                </c:pt>
                <c:pt idx="1">
                  <c:v>50</c:v>
                </c:pt>
                <c:pt idx="2">
                  <c:v>23</c:v>
                </c:pt>
                <c:pt idx="3">
                  <c:v>2</c:v>
                </c:pt>
                <c:pt idx="4">
                  <c:v>1</c:v>
                </c:pt>
              </c:numCache>
            </c:numRef>
          </c:val>
        </c:ser>
        <c:dLbls>
          <c:numFmt formatCode="#,##0" sourceLinked="0"/>
          <c:txPr>
            <a:bodyPr/>
            <a:lstStyle/>
            <a:p>
              <a:pPr>
                <a:defRPr b="1" i="0" strike="noStrike" sz="1050" u="none">
                  <a:solidFill>
                    <a:srgbClr val="141A33"/>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141A33"/>
                </a:solidFill>
                <a:latin typeface="+mn-lt"/>
              </a:defRPr>
            </a:pPr>
            <a:endParaRPr lang="en-US"/>
          </a:p>
        </c:txPr>
        <c:crossAx val="2094734552"/>
        <c:crosses val="autoZero"/>
        <c:auto val="1"/>
        <c:lblAlgn val="ctr"/>
        <c:noMultiLvlLbl val="1"/>
      </c:catAx>
      <c:valAx>
        <c:axId val="2094734552"/>
        <c:scaling>
          <c:orientation val="minMax"/>
          <c:max val="12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Yosoku (予測, 'forecast') answers one question for anyone bringing Japanese anime to India: will this title land here? We are Team shecodes. Four numbers to remember: 1,400 titles tracked; 20x more Indian fan voices found because we read Hinglish; 10 of 11 'Launch' calls at T+7 were real hits on titles the model never saw; and 50 forecasts for next season are sealed so you can check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is real: Demon Slayer: Infinity Castle took about 66 crore rupees net in Indian cinemas in roughly two weeks, and Japan wants to more than triple overseas content sales to 20 trillion yen by 2033. Yet the people deciding what to license, when to commit and which language to dub have almost no India-specific evidence before launch. Even the obvious signal fails: fewer than 1 in 2,000 trailer comments use an Indian script, because Indian fans type Hinglish in Latin letters. And hits are rare: only 15 anime have reached Netflix India's weekly Top 10 since July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things a buyer gets from Yosoku that a generic demand dashboard does not. The headline is our Hinglish-aware AI: by reading Hinglish typed in Latin letters, we find 20 times more Indian fan comments than script-based detection. Every title gets a verdict at three moments with an honest range, a launch plan, a language-hub map and dub demand, and prints as a one-page overview in English or as a Japanese ringi-sho. The Demand Guide, including Check your title, is a service layer that extends to new markets, signals and content. And our forecasts are sealed before titles air, so the track record is public and cannot be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Collect: AniList metadata, YouTube trailer comments day by day, Wikipedia views in English, Japanese, Hindi, Tamil and Telugu, and Netflix India's weekly Top 10, all public. Understand: our Hinglish and language AI flags Indian fans, their language hub and dub requests. Measure: the India Demand Index, 0 to 100, from YouTube India comments (50%), Netflix India (33%) and Wikipedia (17%), on a frozen scale. Forecast: a lookalike model and a blend, which must beat simple rules on unseen titles or the simple rule ships instead. Decide and deliver: Launch, Test-market or Hold, with a launch plan, a one-page brief, the Demand Guide, sealed forecasts and daily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that fixed our Hinglish problem. Fewer than 1 in 2,000 trailer comments use an Indian script, so a script-based detector sees almost no Indian fans. Our word rules catch Hinglish typed in Latin letters and mentions of India, its cities and languages, and AI4Bharat's IndicLID language model confirms the short Hinglish the rules miss, like 'Kab release hogi ye movie'. The correction runs both ways: on its own IndicLID calls Spanish, Indonesian and emoji Indian, so a comment also needs two Hindi words. Result: about 1 in 100 comments, 20 times more Indian voices; 41 to 107 of 200 titles now carry an India signal; adding IndicLID alone took Hinglish finds from 561 to 858. It runs locally and keeps only counts. Trailer comments are our most valuable input: without them, T+7 accuracy halves, from 0.66 to 0.32.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forecast sheet from our prototype: Demon Slayer, Hashira Training Arc, 2024, a title the model never trained on. At T+7 it says Launch, India Demand Index 78, 80% range 67 to 88; the real result was 91. Marker 1: the 稟 and print buttons turn any sheet into a downloadable one-page overview, in English or as a Japanese ringi-sho with seal boxes, the format a Japanese licensor uses for approval. Marker 2: the same title at three moments, Cold, T-28 and T+7. Marker 3: the verdict comes from the range, not the point: Launch only if the whole range clears the line, Hold only if it is all below, otherwise Test-market.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result here is on 2024 titles the model never saw. At T+7, 10 of the 11 titles we called Launch ended in the real top third of India demand; random picking lands there one time in three. At T-28, four weeks before the premiere, all 4 Launch calls were real hits. Our blend ranks India demand at 0.66, against 0.52 for the best simple rule, and misses by 8.4 points on a 0-100 scale. The lines were tuned on these titles, so treat the hit rates as optimistic; the sealed forecasts are the honest check. The decision clock on the right shows when a forecast becomes trustworthy: barely better from seven weeks to one week out, then a jump between the premiere and day 3. That is advice a buyer can act on: license small and early, decide the dub on day 3 to 7. At Cold our model did not beat the genre average, so the rule makes those forecasts and the site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and language are first-class outputs. For each title we map which Indian language hub its fans come from, read from the script, the language named or Hinglish in trailer comments on its closest past titles, and we measure dub demand against a typical title. Across our data, 1,090 Indian comments on 68 titles ask for a dub, 1,016 of them for Hindi, and 91% of language-tagged Indian comments are Hindi or Hinglish. The launch plan turns this into an action, such as subtitles first and then Hindi, then Malayalam, and the sheet flags thin evidence honestly when a map rests on fewer than 30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Demand Guide is a separate service from the forecasts. It uses only two counted signals, Netflix India's weekly Top 10 and India-flagged trailer comments, so it is useful even to a seller whose own title is unlikely to work. Four views: what India actually watched; what kind of title gets there; what India is asking for, with 1,197 comments on 68 titles asking for a dub or for where to watch; and Check your title, shown here: describe a title and see how similar anime fared in India and what would change if one thing were different. It is built to extend: a new market is one line of configuration, a new signal such as streaming availability turns the asks into a sales list, and new content types and delivery channels plug into the same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pays: whoever makes an India launch decision with money on it. Indian streaming platforms and TV decide what to license, when and whether to dub; Japanese studios and licensors decide which titles to offer India and at what price; cinema chains pick films and languages; dubbing studios pick titles and languages to pitch. How we earn: a season subscription covering every new title at all three stages; per-title one-page briefs in English or Japanese; a partner tier that adds a platform's own pre-launch signals; and, once sealed seasons prove the ranges, an accuracy guarantee. We have not tested prices with a buyer yet. Future expansion: now Japanese anime in India; next, grade the sealed season, run pilots with one Japanese rights holder and one Indian distributor, and open Indonesia, Thailand, Brazil and Mexico, which are already set up; later, K-dramas, Japanese films, Indian films abroad and revenue forecasts with partner data. Global firms such as Parrot Analytics already sell demand data to studios, so buyers pay for this answer; Yosoku is narrower, cheaper and India-specific, with a decision attached. The code can be copied; a sealed, dated track record cannot. Thank you from Team shecodes.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68680"/>
            <a:ext cx="6766560" cy="1371600"/>
          </a:xfrm>
          <a:prstGeom prst="rect">
            <a:avLst/>
          </a:prstGeom>
          <a:noFill/>
          <a:ln/>
        </p:spPr>
        <p:txBody>
          <a:bodyPr wrap="square" rtlCol="0"/>
          <a:lstStyle>
            <a:lvl1pPr algn="l" indent="0" marL="0">
              <a:buNone/>
              <a:defRPr lang="en-US" sz="8800" dirty="0">
                <a:solidFill>
                  <a:schemeClr val="bg2"/>
                </a:solidFill>
              </a:defRPr>
            </a:lvl1pPr>
          </a:lstStyle>
          <a:p>
            <a:pPr algn="l" indent="0" marL="0">
              <a:buNone/>
            </a:pPr>
            <a:endParaRPr lang="en-US" sz="8800" dirty="0"/>
          </a:p>
        </p:txBody>
      </p:sp>
      <p:sp>
        <p:nvSpPr>
          <p:cNvPr id="3" name="Text 0"/>
          <p:cNvSpPr/>
          <p:nvPr>
            <p:ph idx="101" type="body" hasCustomPrompt="1"/>
          </p:nvPr>
        </p:nvSpPr>
        <p:spPr>
          <a:xfrm>
            <a:off x="685800" y="2240280"/>
            <a:ext cx="6766560" cy="731520"/>
          </a:xfrm>
          <a:prstGeom prst="rect">
            <a:avLst/>
          </a:prstGeom>
          <a:noFill/>
          <a:ln/>
        </p:spPr>
        <p:txBody>
          <a:bodyPr wrap="square" rtlCol="0"/>
          <a:lstStyle>
            <a:lvl1pPr algn="l" indent="0" marL="0">
              <a:buNone/>
              <a:defRPr lang="en-US" sz="4000" dirty="0">
                <a:solidFill>
                  <a:schemeClr val="bg2"/>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rtlCol="0"/>
          <a:lstStyle>
            <a:lvl1pPr indent="0" marL="0">
              <a:buNone/>
              <a:defRPr lang="en-US" sz="1500" dirty="0">
                <a:solidFill>
                  <a:schemeClr val="accent5"/>
                </a:solidFill>
              </a:defRPr>
            </a:lvl1pPr>
          </a:lstStyle>
          <a:p>
            <a:pPr indent="0" marL="0">
              <a:buNone/>
            </a:pPr>
            <a:endParaRPr lang="en-US" sz="1500" dirty="0"/>
          </a:p>
        </p:txBody>
      </p:sp>
      <p:sp>
        <p:nvSpPr>
          <p:cNvPr id="5" name="Text 0"/>
          <p:cNvSpPr/>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Yosoku 予測  ·  Team shecodes  ·  Thapar Japan Hackathon</a:t>
            </a:r>
            <a:endParaRPr lang="en-US" sz="10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8-1.jp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3.xml"/><Relationship Id="rId1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un"/>
          <p:cNvSpPr/>
          <p:nvPr/>
        </p:nvSpPr>
        <p:spPr>
          <a:xfrm>
            <a:off x="7498080" y="502920"/>
            <a:ext cx="5257800" cy="5257800"/>
          </a:xfrm>
          <a:prstGeom prst="ellipse">
            <a:avLst/>
          </a:prstGeom>
          <a:solidFill>
            <a:schemeClr val="accent1"/>
          </a:solidFill>
          <a:ln/>
        </p:spPr>
      </p:sp>
      <p:sp>
        <p:nvSpPr>
          <p:cNvPr id="3" name="sun-kanji"/>
          <p:cNvSpPr txBox="1"/>
          <p:nvPr/>
        </p:nvSpPr>
        <p:spPr>
          <a:xfrm>
            <a:off x="9235440" y="868680"/>
            <a:ext cx="1828800" cy="4526280"/>
          </a:xfrm>
          <a:prstGeom prst="rect">
            <a:avLst/>
          </a:prstGeom>
          <a:noFill/>
          <a:ln/>
        </p:spPr>
        <p:txBody>
          <a:bodyPr wrap="square" lIns="0" tIns="0" rIns="0" bIns="0" rtlCol="0" anchor="ctr"/>
          <a:lstStyle/>
          <a:p>
            <a:pPr algn="ctr" indent="0" marL="0">
              <a:lnSpc>
                <a:spcPct val="95000"/>
              </a:lnSpc>
              <a:buNone/>
            </a:pPr>
            <a:r>
              <a:rPr lang="en-US" sz="11800" dirty="0">
                <a:solidFill>
                  <a:schemeClr val="bg1">
                    <a:alpha val="28000"/>
                  </a:schemeClr>
                </a:solidFill>
                <a:latin typeface="Yu Mincho" pitchFamily="34" charset="0"/>
                <a:ea typeface="Yu Mincho" pitchFamily="34" charset="-122"/>
                <a:cs typeface="Yu Mincho" pitchFamily="34" charset="-120"/>
              </a:rPr>
              <a:t>予</a:t>
            </a:r>
            <a:endParaRPr lang="en-US" sz="11800" dirty="0"/>
          </a:p>
          <a:p>
            <a:pPr algn="ctr" indent="0" marL="0">
              <a:lnSpc>
                <a:spcPct val="95000"/>
              </a:lnSpc>
              <a:buNone/>
            </a:pPr>
            <a:r>
              <a:rPr lang="en-US" sz="11800" dirty="0">
                <a:solidFill>
                  <a:schemeClr val="bg1">
                    <a:alpha val="28000"/>
                  </a:schemeClr>
                </a:solidFill>
                <a:latin typeface="Yu Mincho" pitchFamily="34" charset="0"/>
                <a:ea typeface="Yu Mincho" pitchFamily="34" charset="-122"/>
                <a:cs typeface="Yu Mincho" pitchFamily="34" charset="-120"/>
              </a:rPr>
              <a:t>測</a:t>
            </a:r>
            <a:endParaRPr lang="en-US" sz="11800" dirty="0"/>
          </a:p>
        </p:txBody>
      </p:sp>
      <p:sp>
        <p:nvSpPr>
          <p:cNvPr id="4" name="Text 2"/>
          <p:cNvSpPr txBox="1"/>
          <p:nvPr/>
        </p:nvSpPr>
        <p:spPr>
          <a:xfrm>
            <a:off x="685800" y="548640"/>
            <a:ext cx="6675120" cy="292608"/>
          </a:xfrm>
          <a:prstGeom prst="rect">
            <a:avLst/>
          </a:prstGeom>
          <a:noFill/>
          <a:ln/>
        </p:spPr>
        <p:txBody>
          <a:bodyPr wrap="square" lIns="0" tIns="0" rIns="0" bIns="0" rtlCol="0" anchor="ctr"/>
          <a:lstStyle/>
          <a:p>
            <a:pPr indent="0" marL="0">
              <a:buNone/>
            </a:pPr>
            <a:r>
              <a:rPr lang="en-US" sz="1200" b="1" spc="400" kern="0" dirty="0">
                <a:solidFill>
                  <a:schemeClr val="accent1"/>
                </a:solidFill>
              </a:rPr>
              <a:t>INDIA DEMAND INDEX  ·  LAUNCH FORECASTS</a:t>
            </a:r>
            <a:endParaRPr lang="en-US" sz="1200" dirty="0"/>
          </a:p>
        </p:txBody>
      </p:sp>
      <p:sp>
        <p:nvSpPr>
          <p:cNvPr id="5" name="Text 0"/>
          <p:cNvSpPr/>
          <p:nvPr>
            <p:ph idx="100" type="title" hasCustomPrompt="1"/>
          </p:nvPr>
        </p:nvSpPr>
        <p:spPr>
          <a:xfrm>
            <a:off x="685800" y="868680"/>
            <a:ext cx="6766560" cy="1371600"/>
          </a:xfrm>
          <a:prstGeom prst="rect">
            <a:avLst/>
          </a:prstGeom>
          <a:noFill/>
          <a:ln/>
        </p:spPr>
        <p:txBody>
          <a:bodyPr wrap="square" lIns="0" tIns="0" rIns="0" bIns="0" rtlCol="0" anchor="ctr"/>
          <a:lstStyle/>
          <a:p>
            <a:pPr algn="l" indent="0" marL="0">
              <a:buNone/>
            </a:pPr>
            <a:r>
              <a:rPr lang="en-US" sz="8800" dirty="0">
                <a:solidFill>
                  <a:schemeClr val="bg2"/>
                </a:solidFill>
              </a:rPr>
              <a:t>Yosoku </a:t>
            </a:r>
            <a:pPr algn="l" indent="0" marL="0">
              <a:buNone/>
            </a:pPr>
            <a:r>
              <a:rPr lang="en-US" sz="6000" dirty="0">
                <a:solidFill>
                  <a:schemeClr val="accent1"/>
                </a:solidFill>
                <a:latin typeface="Yu Mincho" pitchFamily="34" charset="0"/>
                <a:ea typeface="Yu Mincho" pitchFamily="34" charset="-122"/>
                <a:cs typeface="Yu Mincho" pitchFamily="34" charset="-120"/>
              </a:rPr>
              <a:t>予測</a:t>
            </a:r>
            <a:endParaRPr lang="en-US" sz="8800" dirty="0"/>
          </a:p>
        </p:txBody>
      </p:sp>
      <p:sp>
        <p:nvSpPr>
          <p:cNvPr id="6" name="Text 0"/>
          <p:cNvSpPr/>
          <p:nvPr>
            <p:ph idx="101" type="body" hasCustomPrompt="1"/>
          </p:nvPr>
        </p:nvSpPr>
        <p:spPr>
          <a:xfrm>
            <a:off x="685800" y="2240280"/>
            <a:ext cx="6766560" cy="731520"/>
          </a:xfrm>
          <a:prstGeom prst="rect">
            <a:avLst/>
          </a:prstGeom>
          <a:noFill/>
          <a:ln/>
        </p:spPr>
        <p:txBody>
          <a:bodyPr wrap="square" lIns="0" tIns="0" rIns="0" bIns="0" rtlCol="0" anchor="ctr"/>
          <a:lstStyle/>
          <a:p>
            <a:pPr algn="l" indent="0" marL="0">
              <a:buNone/>
            </a:pPr>
            <a:r>
              <a:rPr lang="en-US" sz="4000" dirty="0">
                <a:solidFill>
                  <a:schemeClr val="bg2"/>
                </a:solidFill>
                <a:latin typeface="+mj-lt" pitchFamily="34" charset="0"/>
                <a:ea typeface="+mj-lt" pitchFamily="34" charset="-122"/>
                <a:cs typeface="+mj-lt" pitchFamily="34" charset="-120"/>
              </a:rPr>
              <a:t>Will it land in </a:t>
            </a:r>
            <a:pPr algn="l" indent="0" marL="0">
              <a:buNone/>
            </a:pPr>
            <a:r>
              <a:rPr lang="en-US" sz="4000" dirty="0">
                <a:solidFill>
                  <a:schemeClr val="accent1"/>
                </a:solidFill>
                <a:latin typeface="+mj-lt" pitchFamily="34" charset="0"/>
                <a:ea typeface="+mj-lt" pitchFamily="34" charset="-122"/>
                <a:cs typeface="+mj-lt" pitchFamily="34" charset="-120"/>
              </a:rPr>
              <a:t>India?</a:t>
            </a:r>
            <a:endParaRPr lang="en-US" sz="4000" dirty="0"/>
          </a:p>
        </p:txBody>
      </p:sp>
      <p:sp>
        <p:nvSpPr>
          <p:cNvPr id="7" name="Text 5"/>
          <p:cNvSpPr txBox="1"/>
          <p:nvPr/>
        </p:nvSpPr>
        <p:spPr>
          <a:xfrm>
            <a:off x="685800" y="3090672"/>
            <a:ext cx="6126480" cy="822960"/>
          </a:xfrm>
          <a:prstGeom prst="rect">
            <a:avLst/>
          </a:prstGeom>
          <a:noFill/>
          <a:ln/>
        </p:spPr>
        <p:txBody>
          <a:bodyPr wrap="square" lIns="0" tIns="0" rIns="0" bIns="0" rtlCol="0" anchor="t"/>
          <a:lstStyle/>
          <a:p>
            <a:pPr indent="0" marL="0">
              <a:buNone/>
            </a:pPr>
            <a:r>
              <a:rPr lang="en-US" sz="1700" dirty="0">
                <a:solidFill>
                  <a:schemeClr val="accent6"/>
                </a:solidFill>
              </a:rPr>
              <a:t>Forecasting how Japanese anime will perform in India, before the launch decision is made, with a verdict and the evidence behind it.</a:t>
            </a:r>
            <a:endParaRPr lang="en-US" sz="1700" dirty="0"/>
          </a:p>
        </p:txBody>
      </p:sp>
      <p:sp>
        <p:nvSpPr>
          <p:cNvPr id="8" name="team"/>
          <p:cNvSpPr/>
          <p:nvPr/>
        </p:nvSpPr>
        <p:spPr>
          <a:xfrm>
            <a:off x="685800" y="4041648"/>
            <a:ext cx="22402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Team shecodes</a:t>
            </a:r>
            <a:endParaRPr lang="en-US" sz="1600" dirty="0"/>
          </a:p>
        </p:txBody>
      </p:sp>
      <p:sp>
        <p:nvSpPr>
          <p:cNvPr id="9" name="Text 7"/>
          <p:cNvSpPr txBox="1"/>
          <p:nvPr/>
        </p:nvSpPr>
        <p:spPr>
          <a:xfrm>
            <a:off x="685800" y="4681728"/>
            <a:ext cx="1691640" cy="475488"/>
          </a:xfrm>
          <a:prstGeom prst="rect">
            <a:avLst/>
          </a:prstGeom>
          <a:noFill/>
          <a:ln/>
        </p:spPr>
        <p:txBody>
          <a:bodyPr wrap="square" lIns="0" tIns="0" rIns="0" bIns="0" rtlCol="0" anchor="ctr"/>
          <a:lstStyle/>
          <a:p>
            <a:pPr indent="0" marL="0">
              <a:buNone/>
            </a:pPr>
            <a:r>
              <a:rPr lang="en-US" sz="2800" b="1" dirty="0">
                <a:solidFill>
                  <a:schemeClr val="bg2"/>
                </a:solidFill>
                <a:latin typeface="+mj-lt" pitchFamily="34" charset="0"/>
                <a:ea typeface="+mj-lt" pitchFamily="34" charset="-122"/>
                <a:cs typeface="+mj-lt" pitchFamily="34" charset="-120"/>
              </a:rPr>
              <a:t>1,400</a:t>
            </a:r>
            <a:endParaRPr lang="en-US" sz="2800" dirty="0"/>
          </a:p>
        </p:txBody>
      </p:sp>
      <p:sp>
        <p:nvSpPr>
          <p:cNvPr id="10" name="Text 8"/>
          <p:cNvSpPr txBox="1"/>
          <p:nvPr/>
        </p:nvSpPr>
        <p:spPr>
          <a:xfrm>
            <a:off x="685800" y="5175504"/>
            <a:ext cx="1737360" cy="502920"/>
          </a:xfrm>
          <a:prstGeom prst="rect">
            <a:avLst/>
          </a:prstGeom>
          <a:noFill/>
          <a:ln/>
        </p:spPr>
        <p:txBody>
          <a:bodyPr wrap="square" lIns="0" tIns="0" rIns="0" bIns="0" rtlCol="0" anchor="t"/>
          <a:lstStyle/>
          <a:p>
            <a:pPr indent="0" marL="0">
              <a:buNone/>
            </a:pPr>
            <a:r>
              <a:rPr lang="en-US" sz="1100" dirty="0">
                <a:solidFill>
                  <a:schemeClr val="accent6"/>
                </a:solidFill>
              </a:rPr>
              <a:t>anime titles tracked,</a:t>
            </a:r>
            <a:endParaRPr lang="en-US" sz="1100" dirty="0"/>
          </a:p>
          <a:p>
            <a:pPr indent="0" marL="0">
              <a:buNone/>
            </a:pPr>
            <a:r>
              <a:rPr lang="en-US" sz="1100" dirty="0">
                <a:solidFill>
                  <a:schemeClr val="accent6"/>
                </a:solidFill>
              </a:rPr>
              <a:t>2019–2025</a:t>
            </a:r>
            <a:endParaRPr lang="en-US" sz="1100" dirty="0"/>
          </a:p>
        </p:txBody>
      </p:sp>
      <p:sp>
        <p:nvSpPr>
          <p:cNvPr id="11" name="Text 9"/>
          <p:cNvSpPr txBox="1"/>
          <p:nvPr/>
        </p:nvSpPr>
        <p:spPr>
          <a:xfrm>
            <a:off x="2496312" y="4681728"/>
            <a:ext cx="1691640" cy="475488"/>
          </a:xfrm>
          <a:prstGeom prst="rect">
            <a:avLst/>
          </a:prstGeom>
          <a:noFill/>
          <a:ln/>
        </p:spPr>
        <p:txBody>
          <a:bodyPr wrap="square" lIns="0" tIns="0" rIns="0" bIns="0" rtlCol="0" anchor="ctr"/>
          <a:lstStyle/>
          <a:p>
            <a:pPr indent="0" marL="0">
              <a:buNone/>
            </a:pPr>
            <a:r>
              <a:rPr lang="en-US" sz="2800" b="1" dirty="0">
                <a:solidFill>
                  <a:schemeClr val="bg2"/>
                </a:solidFill>
                <a:latin typeface="+mj-lt" pitchFamily="34" charset="0"/>
                <a:ea typeface="+mj-lt" pitchFamily="34" charset="-122"/>
                <a:cs typeface="+mj-lt" pitchFamily="34" charset="-120"/>
              </a:rPr>
              <a:t>20×</a:t>
            </a:r>
            <a:endParaRPr lang="en-US" sz="2800" dirty="0"/>
          </a:p>
        </p:txBody>
      </p:sp>
      <p:sp>
        <p:nvSpPr>
          <p:cNvPr id="12" name="Text 10"/>
          <p:cNvSpPr txBox="1"/>
          <p:nvPr/>
        </p:nvSpPr>
        <p:spPr>
          <a:xfrm>
            <a:off x="2496312" y="5175504"/>
            <a:ext cx="1737360" cy="502920"/>
          </a:xfrm>
          <a:prstGeom prst="rect">
            <a:avLst/>
          </a:prstGeom>
          <a:noFill/>
          <a:ln/>
        </p:spPr>
        <p:txBody>
          <a:bodyPr wrap="square" lIns="0" tIns="0" rIns="0" bIns="0" rtlCol="0" anchor="t"/>
          <a:lstStyle/>
          <a:p>
            <a:pPr indent="0" marL="0">
              <a:buNone/>
            </a:pPr>
            <a:r>
              <a:rPr lang="en-US" sz="1100" dirty="0">
                <a:solidFill>
                  <a:schemeClr val="accent6"/>
                </a:solidFill>
              </a:rPr>
              <a:t>more Indian fan voices,</a:t>
            </a:r>
            <a:endParaRPr lang="en-US" sz="1100" dirty="0"/>
          </a:p>
          <a:p>
            <a:pPr indent="0" marL="0">
              <a:buNone/>
            </a:pPr>
            <a:r>
              <a:rPr lang="en-US" sz="1100" dirty="0">
                <a:solidFill>
                  <a:schemeClr val="accent6"/>
                </a:solidFill>
              </a:rPr>
              <a:t>via Hinglish AI</a:t>
            </a:r>
            <a:endParaRPr lang="en-US" sz="1100" dirty="0"/>
          </a:p>
        </p:txBody>
      </p:sp>
      <p:sp>
        <p:nvSpPr>
          <p:cNvPr id="13" name="Text 11"/>
          <p:cNvSpPr txBox="1"/>
          <p:nvPr/>
        </p:nvSpPr>
        <p:spPr>
          <a:xfrm>
            <a:off x="4306824" y="4681728"/>
            <a:ext cx="1691640" cy="475488"/>
          </a:xfrm>
          <a:prstGeom prst="rect">
            <a:avLst/>
          </a:prstGeom>
          <a:noFill/>
          <a:ln/>
        </p:spPr>
        <p:txBody>
          <a:bodyPr wrap="square" lIns="0" tIns="0" rIns="0" bIns="0" rtlCol="0" anchor="ctr"/>
          <a:lstStyle/>
          <a:p>
            <a:pPr indent="0" marL="0">
              <a:buNone/>
            </a:pPr>
            <a:r>
              <a:rPr lang="en-US" sz="2800" b="1" dirty="0">
                <a:solidFill>
                  <a:schemeClr val="bg2"/>
                </a:solidFill>
                <a:latin typeface="+mj-lt" pitchFamily="34" charset="0"/>
                <a:ea typeface="+mj-lt" pitchFamily="34" charset="-122"/>
                <a:cs typeface="+mj-lt" pitchFamily="34" charset="-120"/>
              </a:rPr>
              <a:t>10 of 11</a:t>
            </a:r>
            <a:endParaRPr lang="en-US" sz="2800" dirty="0"/>
          </a:p>
        </p:txBody>
      </p:sp>
      <p:sp>
        <p:nvSpPr>
          <p:cNvPr id="14" name="Text 12"/>
          <p:cNvSpPr txBox="1"/>
          <p:nvPr/>
        </p:nvSpPr>
        <p:spPr>
          <a:xfrm>
            <a:off x="4306824" y="5175504"/>
            <a:ext cx="1737360" cy="502920"/>
          </a:xfrm>
          <a:prstGeom prst="rect">
            <a:avLst/>
          </a:prstGeom>
          <a:noFill/>
          <a:ln/>
        </p:spPr>
        <p:txBody>
          <a:bodyPr wrap="square" lIns="0" tIns="0" rIns="0" bIns="0" rtlCol="0" anchor="t"/>
          <a:lstStyle/>
          <a:p>
            <a:pPr indent="0" marL="0">
              <a:buNone/>
            </a:pPr>
            <a:r>
              <a:rPr lang="en-US" sz="1100" dirty="0">
                <a:solidFill>
                  <a:schemeClr val="accent6"/>
                </a:solidFill>
              </a:rPr>
              <a:t>T+7 Launch calls</a:t>
            </a:r>
            <a:endParaRPr lang="en-US" sz="1100" dirty="0"/>
          </a:p>
          <a:p>
            <a:pPr indent="0" marL="0">
              <a:buNone/>
            </a:pPr>
            <a:r>
              <a:rPr lang="en-US" sz="1100" dirty="0">
                <a:solidFill>
                  <a:schemeClr val="accent6"/>
                </a:solidFill>
              </a:rPr>
              <a:t>were real hits</a:t>
            </a:r>
            <a:endParaRPr lang="en-US" sz="1100" dirty="0"/>
          </a:p>
        </p:txBody>
      </p:sp>
      <p:sp>
        <p:nvSpPr>
          <p:cNvPr id="15" name="Text 13"/>
          <p:cNvSpPr txBox="1"/>
          <p:nvPr/>
        </p:nvSpPr>
        <p:spPr>
          <a:xfrm>
            <a:off x="6117336" y="4681728"/>
            <a:ext cx="1691640" cy="475488"/>
          </a:xfrm>
          <a:prstGeom prst="rect">
            <a:avLst/>
          </a:prstGeom>
          <a:noFill/>
          <a:ln/>
        </p:spPr>
        <p:txBody>
          <a:bodyPr wrap="square" lIns="0" tIns="0" rIns="0" bIns="0" rtlCol="0" anchor="ctr"/>
          <a:lstStyle/>
          <a:p>
            <a:pPr indent="0" marL="0">
              <a:buNone/>
            </a:pPr>
            <a:r>
              <a:rPr lang="en-US" sz="2800" b="1" dirty="0">
                <a:solidFill>
                  <a:schemeClr val="bg2"/>
                </a:solidFill>
                <a:latin typeface="+mj-lt" pitchFamily="34" charset="0"/>
                <a:ea typeface="+mj-lt" pitchFamily="34" charset="-122"/>
                <a:cs typeface="+mj-lt" pitchFamily="34" charset="-120"/>
              </a:rPr>
              <a:t>50</a:t>
            </a:r>
            <a:endParaRPr lang="en-US" sz="2800" dirty="0"/>
          </a:p>
        </p:txBody>
      </p:sp>
      <p:sp>
        <p:nvSpPr>
          <p:cNvPr id="16" name="Text 14"/>
          <p:cNvSpPr txBox="1"/>
          <p:nvPr/>
        </p:nvSpPr>
        <p:spPr>
          <a:xfrm>
            <a:off x="6117336" y="5175504"/>
            <a:ext cx="1737360" cy="502920"/>
          </a:xfrm>
          <a:prstGeom prst="rect">
            <a:avLst/>
          </a:prstGeom>
          <a:noFill/>
          <a:ln/>
        </p:spPr>
        <p:txBody>
          <a:bodyPr wrap="square" lIns="0" tIns="0" rIns="0" bIns="0" rtlCol="0" anchor="t"/>
          <a:lstStyle/>
          <a:p>
            <a:pPr indent="0" marL="0">
              <a:buNone/>
            </a:pPr>
            <a:r>
              <a:rPr lang="en-US" sz="1100" dirty="0">
                <a:solidFill>
                  <a:schemeClr val="accent6"/>
                </a:solidFill>
              </a:rPr>
              <a:t>Winter 2027 forecasts</a:t>
            </a:r>
            <a:endParaRPr lang="en-US" sz="1100" dirty="0"/>
          </a:p>
          <a:p>
            <a:pPr indent="0" marL="0">
              <a:buNone/>
            </a:pPr>
            <a:r>
              <a:rPr lang="en-US" sz="1100" dirty="0">
                <a:solidFill>
                  <a:schemeClr val="accent6"/>
                </a:solidFill>
              </a:rPr>
              <a:t>sealed before airing</a:t>
            </a:r>
            <a:endParaRPr lang="en-US" sz="1100" dirty="0"/>
          </a:p>
        </p:txBody>
      </p:sp>
      <p:sp>
        <p:nvSpPr>
          <p:cNvPr id="17" name="scallop-rim-0"/>
          <p:cNvSpPr/>
          <p:nvPr/>
        </p:nvSpPr>
        <p:spPr>
          <a:xfrm>
            <a:off x="-292608" y="5879592"/>
            <a:ext cx="585216" cy="585216"/>
          </a:xfrm>
          <a:prstGeom prst="ellipse">
            <a:avLst/>
          </a:prstGeom>
          <a:solidFill>
            <a:schemeClr val="accent1"/>
          </a:solidFill>
          <a:ln/>
        </p:spPr>
      </p:sp>
      <p:sp>
        <p:nvSpPr>
          <p:cNvPr id="18" name="scallop-rim-1"/>
          <p:cNvSpPr/>
          <p:nvPr/>
        </p:nvSpPr>
        <p:spPr>
          <a:xfrm>
            <a:off x="274320" y="5879592"/>
            <a:ext cx="585216" cy="585216"/>
          </a:xfrm>
          <a:prstGeom prst="ellipse">
            <a:avLst/>
          </a:prstGeom>
          <a:solidFill>
            <a:schemeClr val="accent1"/>
          </a:solidFill>
          <a:ln/>
        </p:spPr>
      </p:sp>
      <p:sp>
        <p:nvSpPr>
          <p:cNvPr id="19" name="scallop-rim-2"/>
          <p:cNvSpPr/>
          <p:nvPr/>
        </p:nvSpPr>
        <p:spPr>
          <a:xfrm>
            <a:off x="841248" y="5879592"/>
            <a:ext cx="585216" cy="585216"/>
          </a:xfrm>
          <a:prstGeom prst="ellipse">
            <a:avLst/>
          </a:prstGeom>
          <a:solidFill>
            <a:schemeClr val="accent1"/>
          </a:solidFill>
          <a:ln/>
        </p:spPr>
      </p:sp>
      <p:sp>
        <p:nvSpPr>
          <p:cNvPr id="20" name="scallop-rim-3"/>
          <p:cNvSpPr/>
          <p:nvPr/>
        </p:nvSpPr>
        <p:spPr>
          <a:xfrm>
            <a:off x="1408176" y="5879592"/>
            <a:ext cx="585216" cy="585216"/>
          </a:xfrm>
          <a:prstGeom prst="ellipse">
            <a:avLst/>
          </a:prstGeom>
          <a:solidFill>
            <a:schemeClr val="accent1"/>
          </a:solidFill>
          <a:ln/>
        </p:spPr>
      </p:sp>
      <p:sp>
        <p:nvSpPr>
          <p:cNvPr id="21" name="scallop-rim-4"/>
          <p:cNvSpPr/>
          <p:nvPr/>
        </p:nvSpPr>
        <p:spPr>
          <a:xfrm>
            <a:off x="1975104" y="5879592"/>
            <a:ext cx="585216" cy="585216"/>
          </a:xfrm>
          <a:prstGeom prst="ellipse">
            <a:avLst/>
          </a:prstGeom>
          <a:solidFill>
            <a:schemeClr val="accent1"/>
          </a:solidFill>
          <a:ln/>
        </p:spPr>
      </p:sp>
      <p:sp>
        <p:nvSpPr>
          <p:cNvPr id="22" name="scallop-rim-5"/>
          <p:cNvSpPr/>
          <p:nvPr/>
        </p:nvSpPr>
        <p:spPr>
          <a:xfrm>
            <a:off x="2542032" y="5879592"/>
            <a:ext cx="585216" cy="585216"/>
          </a:xfrm>
          <a:prstGeom prst="ellipse">
            <a:avLst/>
          </a:prstGeom>
          <a:solidFill>
            <a:schemeClr val="accent1"/>
          </a:solidFill>
          <a:ln/>
        </p:spPr>
      </p:sp>
      <p:sp>
        <p:nvSpPr>
          <p:cNvPr id="23" name="scallop-rim-6"/>
          <p:cNvSpPr/>
          <p:nvPr/>
        </p:nvSpPr>
        <p:spPr>
          <a:xfrm>
            <a:off x="3108960" y="5879592"/>
            <a:ext cx="585216" cy="585216"/>
          </a:xfrm>
          <a:prstGeom prst="ellipse">
            <a:avLst/>
          </a:prstGeom>
          <a:solidFill>
            <a:schemeClr val="accent1"/>
          </a:solidFill>
          <a:ln/>
        </p:spPr>
      </p:sp>
      <p:sp>
        <p:nvSpPr>
          <p:cNvPr id="24" name="scallop-rim-7"/>
          <p:cNvSpPr/>
          <p:nvPr/>
        </p:nvSpPr>
        <p:spPr>
          <a:xfrm>
            <a:off x="3675888" y="5879592"/>
            <a:ext cx="585216" cy="585216"/>
          </a:xfrm>
          <a:prstGeom prst="ellipse">
            <a:avLst/>
          </a:prstGeom>
          <a:solidFill>
            <a:schemeClr val="accent1"/>
          </a:solidFill>
          <a:ln/>
        </p:spPr>
      </p:sp>
      <p:sp>
        <p:nvSpPr>
          <p:cNvPr id="25" name="scallop-rim-8"/>
          <p:cNvSpPr/>
          <p:nvPr/>
        </p:nvSpPr>
        <p:spPr>
          <a:xfrm>
            <a:off x="4242816" y="5879592"/>
            <a:ext cx="585216" cy="585216"/>
          </a:xfrm>
          <a:prstGeom prst="ellipse">
            <a:avLst/>
          </a:prstGeom>
          <a:solidFill>
            <a:schemeClr val="accent1"/>
          </a:solidFill>
          <a:ln/>
        </p:spPr>
      </p:sp>
      <p:sp>
        <p:nvSpPr>
          <p:cNvPr id="26" name="scallop-rim-9"/>
          <p:cNvSpPr/>
          <p:nvPr/>
        </p:nvSpPr>
        <p:spPr>
          <a:xfrm>
            <a:off x="4809744" y="5879592"/>
            <a:ext cx="585216" cy="585216"/>
          </a:xfrm>
          <a:prstGeom prst="ellipse">
            <a:avLst/>
          </a:prstGeom>
          <a:solidFill>
            <a:schemeClr val="accent1"/>
          </a:solidFill>
          <a:ln/>
        </p:spPr>
      </p:sp>
      <p:sp>
        <p:nvSpPr>
          <p:cNvPr id="27" name="scallop-rim-10"/>
          <p:cNvSpPr/>
          <p:nvPr/>
        </p:nvSpPr>
        <p:spPr>
          <a:xfrm>
            <a:off x="5376672" y="5879592"/>
            <a:ext cx="585216" cy="585216"/>
          </a:xfrm>
          <a:prstGeom prst="ellipse">
            <a:avLst/>
          </a:prstGeom>
          <a:solidFill>
            <a:schemeClr val="accent1"/>
          </a:solidFill>
          <a:ln/>
        </p:spPr>
      </p:sp>
      <p:sp>
        <p:nvSpPr>
          <p:cNvPr id="28" name="scallop-rim-11"/>
          <p:cNvSpPr/>
          <p:nvPr/>
        </p:nvSpPr>
        <p:spPr>
          <a:xfrm>
            <a:off x="5943600" y="5879592"/>
            <a:ext cx="585216" cy="585216"/>
          </a:xfrm>
          <a:prstGeom prst="ellipse">
            <a:avLst/>
          </a:prstGeom>
          <a:solidFill>
            <a:schemeClr val="accent1"/>
          </a:solidFill>
          <a:ln/>
        </p:spPr>
      </p:sp>
      <p:sp>
        <p:nvSpPr>
          <p:cNvPr id="29" name="scallop-rim-12"/>
          <p:cNvSpPr/>
          <p:nvPr/>
        </p:nvSpPr>
        <p:spPr>
          <a:xfrm>
            <a:off x="6510528" y="5879592"/>
            <a:ext cx="585216" cy="585216"/>
          </a:xfrm>
          <a:prstGeom prst="ellipse">
            <a:avLst/>
          </a:prstGeom>
          <a:solidFill>
            <a:schemeClr val="accent1"/>
          </a:solidFill>
          <a:ln/>
        </p:spPr>
      </p:sp>
      <p:sp>
        <p:nvSpPr>
          <p:cNvPr id="30" name="scallop-rim-13"/>
          <p:cNvSpPr/>
          <p:nvPr/>
        </p:nvSpPr>
        <p:spPr>
          <a:xfrm>
            <a:off x="7077456" y="5879592"/>
            <a:ext cx="585216" cy="585216"/>
          </a:xfrm>
          <a:prstGeom prst="ellipse">
            <a:avLst/>
          </a:prstGeom>
          <a:solidFill>
            <a:schemeClr val="accent1"/>
          </a:solidFill>
          <a:ln/>
        </p:spPr>
      </p:sp>
      <p:sp>
        <p:nvSpPr>
          <p:cNvPr id="31" name="scallop-rim-14"/>
          <p:cNvSpPr/>
          <p:nvPr/>
        </p:nvSpPr>
        <p:spPr>
          <a:xfrm>
            <a:off x="7644384" y="5879592"/>
            <a:ext cx="585216" cy="585216"/>
          </a:xfrm>
          <a:prstGeom prst="ellipse">
            <a:avLst/>
          </a:prstGeom>
          <a:solidFill>
            <a:schemeClr val="accent1"/>
          </a:solidFill>
          <a:ln/>
        </p:spPr>
      </p:sp>
      <p:sp>
        <p:nvSpPr>
          <p:cNvPr id="32" name="scallop-rim-15"/>
          <p:cNvSpPr/>
          <p:nvPr/>
        </p:nvSpPr>
        <p:spPr>
          <a:xfrm>
            <a:off x="8211312" y="5879592"/>
            <a:ext cx="585216" cy="585216"/>
          </a:xfrm>
          <a:prstGeom prst="ellipse">
            <a:avLst/>
          </a:prstGeom>
          <a:solidFill>
            <a:schemeClr val="accent1"/>
          </a:solidFill>
          <a:ln/>
        </p:spPr>
      </p:sp>
      <p:sp>
        <p:nvSpPr>
          <p:cNvPr id="33" name="scallop-rim-16"/>
          <p:cNvSpPr/>
          <p:nvPr/>
        </p:nvSpPr>
        <p:spPr>
          <a:xfrm>
            <a:off x="8778240" y="5879592"/>
            <a:ext cx="585216" cy="585216"/>
          </a:xfrm>
          <a:prstGeom prst="ellipse">
            <a:avLst/>
          </a:prstGeom>
          <a:solidFill>
            <a:schemeClr val="accent1"/>
          </a:solidFill>
          <a:ln/>
        </p:spPr>
      </p:sp>
      <p:sp>
        <p:nvSpPr>
          <p:cNvPr id="34" name="scallop-rim-17"/>
          <p:cNvSpPr/>
          <p:nvPr/>
        </p:nvSpPr>
        <p:spPr>
          <a:xfrm>
            <a:off x="9345168" y="5879592"/>
            <a:ext cx="585216" cy="585216"/>
          </a:xfrm>
          <a:prstGeom prst="ellipse">
            <a:avLst/>
          </a:prstGeom>
          <a:solidFill>
            <a:schemeClr val="accent1"/>
          </a:solidFill>
          <a:ln/>
        </p:spPr>
      </p:sp>
      <p:sp>
        <p:nvSpPr>
          <p:cNvPr id="35" name="scallop-rim-18"/>
          <p:cNvSpPr/>
          <p:nvPr/>
        </p:nvSpPr>
        <p:spPr>
          <a:xfrm>
            <a:off x="9912096" y="5879592"/>
            <a:ext cx="585216" cy="585216"/>
          </a:xfrm>
          <a:prstGeom prst="ellipse">
            <a:avLst/>
          </a:prstGeom>
          <a:solidFill>
            <a:schemeClr val="accent1"/>
          </a:solidFill>
          <a:ln/>
        </p:spPr>
      </p:sp>
      <p:sp>
        <p:nvSpPr>
          <p:cNvPr id="36" name="scallop-rim-19"/>
          <p:cNvSpPr/>
          <p:nvPr/>
        </p:nvSpPr>
        <p:spPr>
          <a:xfrm>
            <a:off x="10479024" y="5879592"/>
            <a:ext cx="585216" cy="585216"/>
          </a:xfrm>
          <a:prstGeom prst="ellipse">
            <a:avLst/>
          </a:prstGeom>
          <a:solidFill>
            <a:schemeClr val="accent1"/>
          </a:solidFill>
          <a:ln/>
        </p:spPr>
      </p:sp>
      <p:sp>
        <p:nvSpPr>
          <p:cNvPr id="37" name="scallop-rim-20"/>
          <p:cNvSpPr/>
          <p:nvPr/>
        </p:nvSpPr>
        <p:spPr>
          <a:xfrm>
            <a:off x="11045952" y="5879592"/>
            <a:ext cx="585216" cy="585216"/>
          </a:xfrm>
          <a:prstGeom prst="ellipse">
            <a:avLst/>
          </a:prstGeom>
          <a:solidFill>
            <a:schemeClr val="accent1"/>
          </a:solidFill>
          <a:ln/>
        </p:spPr>
      </p:sp>
      <p:sp>
        <p:nvSpPr>
          <p:cNvPr id="38" name="scallop-rim-21"/>
          <p:cNvSpPr/>
          <p:nvPr/>
        </p:nvSpPr>
        <p:spPr>
          <a:xfrm>
            <a:off x="11612880" y="5879592"/>
            <a:ext cx="585216" cy="585216"/>
          </a:xfrm>
          <a:prstGeom prst="ellipse">
            <a:avLst/>
          </a:prstGeom>
          <a:solidFill>
            <a:schemeClr val="accent1"/>
          </a:solidFill>
          <a:ln/>
        </p:spPr>
      </p:sp>
      <p:sp>
        <p:nvSpPr>
          <p:cNvPr id="39" name="scallop-rim-22"/>
          <p:cNvSpPr/>
          <p:nvPr/>
        </p:nvSpPr>
        <p:spPr>
          <a:xfrm>
            <a:off x="12179808" y="5879592"/>
            <a:ext cx="585216" cy="585216"/>
          </a:xfrm>
          <a:prstGeom prst="ellipse">
            <a:avLst/>
          </a:prstGeom>
          <a:solidFill>
            <a:schemeClr val="accent1"/>
          </a:solidFill>
          <a:ln/>
        </p:spPr>
      </p:sp>
      <p:sp>
        <p:nvSpPr>
          <p:cNvPr id="40" name="scallop-0"/>
          <p:cNvSpPr/>
          <p:nvPr/>
        </p:nvSpPr>
        <p:spPr>
          <a:xfrm>
            <a:off x="-274320" y="5925312"/>
            <a:ext cx="548640" cy="548640"/>
          </a:xfrm>
          <a:prstGeom prst="ellipse">
            <a:avLst/>
          </a:prstGeom>
          <a:solidFill>
            <a:schemeClr val="bg2"/>
          </a:solidFill>
          <a:ln/>
        </p:spPr>
      </p:sp>
      <p:sp>
        <p:nvSpPr>
          <p:cNvPr id="41" name="scallop-1"/>
          <p:cNvSpPr/>
          <p:nvPr/>
        </p:nvSpPr>
        <p:spPr>
          <a:xfrm>
            <a:off x="292608" y="5925312"/>
            <a:ext cx="548640" cy="548640"/>
          </a:xfrm>
          <a:prstGeom prst="ellipse">
            <a:avLst/>
          </a:prstGeom>
          <a:solidFill>
            <a:schemeClr val="bg2"/>
          </a:solidFill>
          <a:ln/>
        </p:spPr>
      </p:sp>
      <p:sp>
        <p:nvSpPr>
          <p:cNvPr id="42" name="scallop-2"/>
          <p:cNvSpPr/>
          <p:nvPr/>
        </p:nvSpPr>
        <p:spPr>
          <a:xfrm>
            <a:off x="859536" y="5925312"/>
            <a:ext cx="548640" cy="548640"/>
          </a:xfrm>
          <a:prstGeom prst="ellipse">
            <a:avLst/>
          </a:prstGeom>
          <a:solidFill>
            <a:schemeClr val="bg2"/>
          </a:solidFill>
          <a:ln/>
        </p:spPr>
      </p:sp>
      <p:sp>
        <p:nvSpPr>
          <p:cNvPr id="43" name="scallop-3"/>
          <p:cNvSpPr/>
          <p:nvPr/>
        </p:nvSpPr>
        <p:spPr>
          <a:xfrm>
            <a:off x="1426464" y="5925312"/>
            <a:ext cx="548640" cy="548640"/>
          </a:xfrm>
          <a:prstGeom prst="ellipse">
            <a:avLst/>
          </a:prstGeom>
          <a:solidFill>
            <a:schemeClr val="bg2"/>
          </a:solidFill>
          <a:ln/>
        </p:spPr>
      </p:sp>
      <p:sp>
        <p:nvSpPr>
          <p:cNvPr id="44" name="scallop-4"/>
          <p:cNvSpPr/>
          <p:nvPr/>
        </p:nvSpPr>
        <p:spPr>
          <a:xfrm>
            <a:off x="1993392" y="5925312"/>
            <a:ext cx="548640" cy="548640"/>
          </a:xfrm>
          <a:prstGeom prst="ellipse">
            <a:avLst/>
          </a:prstGeom>
          <a:solidFill>
            <a:schemeClr val="bg2"/>
          </a:solidFill>
          <a:ln/>
        </p:spPr>
      </p:sp>
      <p:sp>
        <p:nvSpPr>
          <p:cNvPr id="45" name="scallop-5"/>
          <p:cNvSpPr/>
          <p:nvPr/>
        </p:nvSpPr>
        <p:spPr>
          <a:xfrm>
            <a:off x="2560320" y="5925312"/>
            <a:ext cx="548640" cy="548640"/>
          </a:xfrm>
          <a:prstGeom prst="ellipse">
            <a:avLst/>
          </a:prstGeom>
          <a:solidFill>
            <a:schemeClr val="bg2"/>
          </a:solidFill>
          <a:ln/>
        </p:spPr>
      </p:sp>
      <p:sp>
        <p:nvSpPr>
          <p:cNvPr id="46" name="scallop-6"/>
          <p:cNvSpPr/>
          <p:nvPr/>
        </p:nvSpPr>
        <p:spPr>
          <a:xfrm>
            <a:off x="3127248" y="5925312"/>
            <a:ext cx="548640" cy="548640"/>
          </a:xfrm>
          <a:prstGeom prst="ellipse">
            <a:avLst/>
          </a:prstGeom>
          <a:solidFill>
            <a:schemeClr val="bg2"/>
          </a:solidFill>
          <a:ln/>
        </p:spPr>
      </p:sp>
      <p:sp>
        <p:nvSpPr>
          <p:cNvPr id="47" name="scallop-7"/>
          <p:cNvSpPr/>
          <p:nvPr/>
        </p:nvSpPr>
        <p:spPr>
          <a:xfrm>
            <a:off x="3694176" y="5925312"/>
            <a:ext cx="548640" cy="548640"/>
          </a:xfrm>
          <a:prstGeom prst="ellipse">
            <a:avLst/>
          </a:prstGeom>
          <a:solidFill>
            <a:schemeClr val="bg2"/>
          </a:solidFill>
          <a:ln/>
        </p:spPr>
      </p:sp>
      <p:sp>
        <p:nvSpPr>
          <p:cNvPr id="48" name="scallop-8"/>
          <p:cNvSpPr/>
          <p:nvPr/>
        </p:nvSpPr>
        <p:spPr>
          <a:xfrm>
            <a:off x="4261104" y="5925312"/>
            <a:ext cx="548640" cy="548640"/>
          </a:xfrm>
          <a:prstGeom prst="ellipse">
            <a:avLst/>
          </a:prstGeom>
          <a:solidFill>
            <a:schemeClr val="bg2"/>
          </a:solidFill>
          <a:ln/>
        </p:spPr>
      </p:sp>
      <p:sp>
        <p:nvSpPr>
          <p:cNvPr id="49" name="scallop-9"/>
          <p:cNvSpPr/>
          <p:nvPr/>
        </p:nvSpPr>
        <p:spPr>
          <a:xfrm>
            <a:off x="4828032" y="5925312"/>
            <a:ext cx="548640" cy="548640"/>
          </a:xfrm>
          <a:prstGeom prst="ellipse">
            <a:avLst/>
          </a:prstGeom>
          <a:solidFill>
            <a:schemeClr val="bg2"/>
          </a:solidFill>
          <a:ln/>
        </p:spPr>
      </p:sp>
      <p:sp>
        <p:nvSpPr>
          <p:cNvPr id="50" name="scallop-10"/>
          <p:cNvSpPr/>
          <p:nvPr/>
        </p:nvSpPr>
        <p:spPr>
          <a:xfrm>
            <a:off x="5394960" y="5925312"/>
            <a:ext cx="548640" cy="548640"/>
          </a:xfrm>
          <a:prstGeom prst="ellipse">
            <a:avLst/>
          </a:prstGeom>
          <a:solidFill>
            <a:schemeClr val="bg2"/>
          </a:solidFill>
          <a:ln/>
        </p:spPr>
      </p:sp>
      <p:sp>
        <p:nvSpPr>
          <p:cNvPr id="51" name="scallop-11"/>
          <p:cNvSpPr/>
          <p:nvPr/>
        </p:nvSpPr>
        <p:spPr>
          <a:xfrm>
            <a:off x="5961888" y="5925312"/>
            <a:ext cx="548640" cy="548640"/>
          </a:xfrm>
          <a:prstGeom prst="ellipse">
            <a:avLst/>
          </a:prstGeom>
          <a:solidFill>
            <a:schemeClr val="bg2"/>
          </a:solidFill>
          <a:ln/>
        </p:spPr>
      </p:sp>
      <p:sp>
        <p:nvSpPr>
          <p:cNvPr id="52" name="scallop-12"/>
          <p:cNvSpPr/>
          <p:nvPr/>
        </p:nvSpPr>
        <p:spPr>
          <a:xfrm>
            <a:off x="6528816" y="5925312"/>
            <a:ext cx="548640" cy="548640"/>
          </a:xfrm>
          <a:prstGeom prst="ellipse">
            <a:avLst/>
          </a:prstGeom>
          <a:solidFill>
            <a:schemeClr val="bg2"/>
          </a:solidFill>
          <a:ln/>
        </p:spPr>
      </p:sp>
      <p:sp>
        <p:nvSpPr>
          <p:cNvPr id="53" name="scallop-13"/>
          <p:cNvSpPr/>
          <p:nvPr/>
        </p:nvSpPr>
        <p:spPr>
          <a:xfrm>
            <a:off x="7095744" y="5925312"/>
            <a:ext cx="548640" cy="548640"/>
          </a:xfrm>
          <a:prstGeom prst="ellipse">
            <a:avLst/>
          </a:prstGeom>
          <a:solidFill>
            <a:schemeClr val="bg2"/>
          </a:solidFill>
          <a:ln/>
        </p:spPr>
      </p:sp>
      <p:sp>
        <p:nvSpPr>
          <p:cNvPr id="54" name="scallop-14"/>
          <p:cNvSpPr/>
          <p:nvPr/>
        </p:nvSpPr>
        <p:spPr>
          <a:xfrm>
            <a:off x="7662672" y="5925312"/>
            <a:ext cx="548640" cy="548640"/>
          </a:xfrm>
          <a:prstGeom prst="ellipse">
            <a:avLst/>
          </a:prstGeom>
          <a:solidFill>
            <a:schemeClr val="bg2"/>
          </a:solidFill>
          <a:ln/>
        </p:spPr>
      </p:sp>
      <p:sp>
        <p:nvSpPr>
          <p:cNvPr id="55" name="scallop-15"/>
          <p:cNvSpPr/>
          <p:nvPr/>
        </p:nvSpPr>
        <p:spPr>
          <a:xfrm>
            <a:off x="8229600" y="5925312"/>
            <a:ext cx="548640" cy="548640"/>
          </a:xfrm>
          <a:prstGeom prst="ellipse">
            <a:avLst/>
          </a:prstGeom>
          <a:solidFill>
            <a:schemeClr val="bg2"/>
          </a:solidFill>
          <a:ln/>
        </p:spPr>
      </p:sp>
      <p:sp>
        <p:nvSpPr>
          <p:cNvPr id="56" name="scallop-16"/>
          <p:cNvSpPr/>
          <p:nvPr/>
        </p:nvSpPr>
        <p:spPr>
          <a:xfrm>
            <a:off x="8796528" y="5925312"/>
            <a:ext cx="548640" cy="548640"/>
          </a:xfrm>
          <a:prstGeom prst="ellipse">
            <a:avLst/>
          </a:prstGeom>
          <a:solidFill>
            <a:schemeClr val="bg2"/>
          </a:solidFill>
          <a:ln/>
        </p:spPr>
      </p:sp>
      <p:sp>
        <p:nvSpPr>
          <p:cNvPr id="57" name="scallop-17"/>
          <p:cNvSpPr/>
          <p:nvPr/>
        </p:nvSpPr>
        <p:spPr>
          <a:xfrm>
            <a:off x="9363456" y="5925312"/>
            <a:ext cx="548640" cy="548640"/>
          </a:xfrm>
          <a:prstGeom prst="ellipse">
            <a:avLst/>
          </a:prstGeom>
          <a:solidFill>
            <a:schemeClr val="bg2"/>
          </a:solidFill>
          <a:ln/>
        </p:spPr>
      </p:sp>
      <p:sp>
        <p:nvSpPr>
          <p:cNvPr id="58" name="scallop-18"/>
          <p:cNvSpPr/>
          <p:nvPr/>
        </p:nvSpPr>
        <p:spPr>
          <a:xfrm>
            <a:off x="9930384" y="5925312"/>
            <a:ext cx="548640" cy="548640"/>
          </a:xfrm>
          <a:prstGeom prst="ellipse">
            <a:avLst/>
          </a:prstGeom>
          <a:solidFill>
            <a:schemeClr val="bg2"/>
          </a:solidFill>
          <a:ln/>
        </p:spPr>
      </p:sp>
      <p:sp>
        <p:nvSpPr>
          <p:cNvPr id="59" name="scallop-19"/>
          <p:cNvSpPr/>
          <p:nvPr/>
        </p:nvSpPr>
        <p:spPr>
          <a:xfrm>
            <a:off x="10497312" y="5925312"/>
            <a:ext cx="548640" cy="548640"/>
          </a:xfrm>
          <a:prstGeom prst="ellipse">
            <a:avLst/>
          </a:prstGeom>
          <a:solidFill>
            <a:schemeClr val="bg2"/>
          </a:solidFill>
          <a:ln/>
        </p:spPr>
      </p:sp>
      <p:sp>
        <p:nvSpPr>
          <p:cNvPr id="60" name="scallop-20"/>
          <p:cNvSpPr/>
          <p:nvPr/>
        </p:nvSpPr>
        <p:spPr>
          <a:xfrm>
            <a:off x="11064240" y="5925312"/>
            <a:ext cx="548640" cy="548640"/>
          </a:xfrm>
          <a:prstGeom prst="ellipse">
            <a:avLst/>
          </a:prstGeom>
          <a:solidFill>
            <a:schemeClr val="bg2"/>
          </a:solidFill>
          <a:ln/>
        </p:spPr>
      </p:sp>
      <p:sp>
        <p:nvSpPr>
          <p:cNvPr id="61" name="scallop-21"/>
          <p:cNvSpPr/>
          <p:nvPr/>
        </p:nvSpPr>
        <p:spPr>
          <a:xfrm>
            <a:off x="11631168" y="5925312"/>
            <a:ext cx="548640" cy="548640"/>
          </a:xfrm>
          <a:prstGeom prst="ellipse">
            <a:avLst/>
          </a:prstGeom>
          <a:solidFill>
            <a:schemeClr val="bg2"/>
          </a:solidFill>
          <a:ln/>
        </p:spPr>
      </p:sp>
      <p:sp>
        <p:nvSpPr>
          <p:cNvPr id="62" name="scallop-22"/>
          <p:cNvSpPr/>
          <p:nvPr/>
        </p:nvSpPr>
        <p:spPr>
          <a:xfrm>
            <a:off x="12198096" y="5925312"/>
            <a:ext cx="548640" cy="548640"/>
          </a:xfrm>
          <a:prstGeom prst="ellipse">
            <a:avLst/>
          </a:prstGeom>
          <a:solidFill>
            <a:schemeClr val="bg2"/>
          </a:solidFill>
          <a:ln/>
        </p:spPr>
      </p:sp>
      <p:sp>
        <p:nvSpPr>
          <p:cNvPr id="63" name="scallop-base"/>
          <p:cNvSpPr/>
          <p:nvPr/>
        </p:nvSpPr>
        <p:spPr>
          <a:xfrm>
            <a:off x="0" y="6199632"/>
            <a:ext cx="12191695" cy="658368"/>
          </a:xfrm>
          <a:prstGeom prst="rect">
            <a:avLst/>
          </a:prstGeom>
          <a:solidFill>
            <a:schemeClr val="bg2"/>
          </a:solidFill>
          <a:ln/>
        </p:spPr>
      </p:sp>
      <p:sp>
        <p:nvSpPr>
          <p:cNvPr id="64" name="Text 62"/>
          <p:cNvSpPr txBox="1"/>
          <p:nvPr/>
        </p:nvSpPr>
        <p:spPr>
          <a:xfrm>
            <a:off x="685800" y="6327648"/>
            <a:ext cx="5486400" cy="329184"/>
          </a:xfrm>
          <a:prstGeom prst="rect">
            <a:avLst/>
          </a:prstGeom>
          <a:noFill/>
          <a:ln/>
        </p:spPr>
        <p:txBody>
          <a:bodyPr wrap="square" lIns="0" tIns="0" rIns="0" bIns="0" rtlCol="0" anchor="ctr"/>
          <a:lstStyle/>
          <a:p>
            <a:pPr indent="0" marL="0">
              <a:buNone/>
            </a:pPr>
            <a:r>
              <a:rPr lang="en-US" sz="1300" b="1" dirty="0">
                <a:solidFill>
                  <a:schemeClr val="tx1"/>
                </a:solidFill>
              </a:rPr>
              <a:t>Thapar Japan Hackathon  ·  GEEK-PS-01</a:t>
            </a:r>
            <a:endParaRPr lang="en-US" sz="1300" dirty="0"/>
          </a:p>
        </p:txBody>
      </p:sp>
      <p:sp>
        <p:nvSpPr>
          <p:cNvPr id="65" name="Text 63"/>
          <p:cNvSpPr txBox="1"/>
          <p:nvPr/>
        </p:nvSpPr>
        <p:spPr>
          <a:xfrm>
            <a:off x="6035040" y="6327648"/>
            <a:ext cx="5486400" cy="329184"/>
          </a:xfrm>
          <a:prstGeom prst="rect">
            <a:avLst/>
          </a:prstGeom>
          <a:noFill/>
          <a:ln/>
        </p:spPr>
        <p:txBody>
          <a:bodyPr wrap="square" lIns="0" tIns="0" rIns="0" bIns="0" rtlCol="0" anchor="ctr"/>
          <a:lstStyle/>
          <a:p>
            <a:pPr algn="r" indent="0" marL="0">
              <a:buNone/>
            </a:pPr>
            <a:r>
              <a:rPr lang="en-US" sz="1300" dirty="0">
                <a:solidFill>
                  <a:schemeClr val="accent5"/>
                </a:solidFill>
              </a:rPr>
              <a:t>Japanese anime  ×  India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01 — THE PROBLEM</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Crore-sized bets, made almost blind</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Platforms, licensors, cinema chains and dubbing studios choose which anime to bring to India with little India-specific evidence.</a:t>
            </a:r>
            <a:endParaRPr lang="en-US" sz="1500" dirty="0"/>
          </a:p>
        </p:txBody>
      </p:sp>
      <p:sp>
        <p:nvSpPr>
          <p:cNvPr id="5" name="Text 3"/>
          <p:cNvSpPr txBox="1"/>
          <p:nvPr/>
        </p:nvSpPr>
        <p:spPr>
          <a:xfrm>
            <a:off x="548640" y="2011680"/>
            <a:ext cx="5486400" cy="36576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Three questions every India launch must answer</a:t>
            </a:r>
            <a:endParaRPr lang="en-US" sz="1800" dirty="0"/>
          </a:p>
        </p:txBody>
      </p:sp>
      <p:sp>
        <p:nvSpPr>
          <p:cNvPr id="6" name="question-1"/>
          <p:cNvSpPr/>
          <p:nvPr/>
        </p:nvSpPr>
        <p:spPr>
          <a:xfrm>
            <a:off x="548640" y="2514600"/>
            <a:ext cx="5486400" cy="987552"/>
          </a:xfrm>
          <a:prstGeom prst="roundRect">
            <a:avLst>
              <a:gd name="adj" fmla="val 7407"/>
            </a:avLst>
          </a:prstGeom>
          <a:solidFill>
            <a:schemeClr val="bg1"/>
          </a:solidFill>
          <a:ln/>
          <a:effectLst>
            <a:outerShdw sx="100000" sy="100000" kx="0" ky="0" algn="bl" rotWithShape="0" blurRad="114300" dist="25400" dir="5400000">
              <a:srgbClr val="141A33">
                <a:alpha val="13000"/>
              </a:srgbClr>
            </a:outerShdw>
          </a:effectLst>
        </p:spPr>
      </p:sp>
      <p:sp>
        <p:nvSpPr>
          <p:cNvPr id="7" name="icon-FaFileContract"/>
          <p:cNvSpPr/>
          <p:nvPr/>
        </p:nvSpPr>
        <p:spPr>
          <a:xfrm>
            <a:off x="777240" y="2697480"/>
            <a:ext cx="621792" cy="621792"/>
          </a:xfrm>
          <a:prstGeom prst="ellipse">
            <a:avLst/>
          </a:prstGeom>
          <a:solidFill>
            <a:schemeClr val="accent1"/>
          </a:solidFill>
          <a:ln/>
        </p:spPr>
      </p:sp>
      <p:pic>
        <p:nvPicPr>
          <p:cNvPr id="8" name="Image 0" descr="FileContract icon">    </p:cNvPr>
          <p:cNvPicPr>
            <a:picLocks noChangeAspect="1"/>
          </p:cNvPicPr>
          <p:nvPr/>
        </p:nvPicPr>
        <p:blipFill>
          <a:blip r:embed="rId1"/>
          <a:stretch>
            <a:fillRect/>
          </a:stretch>
        </p:blipFill>
        <p:spPr>
          <a:xfrm>
            <a:off x="932688" y="2852928"/>
            <a:ext cx="310896" cy="310896"/>
          </a:xfrm>
          <a:prstGeom prst="rect">
            <a:avLst/>
          </a:prstGeom>
        </p:spPr>
      </p:pic>
      <p:sp>
        <p:nvSpPr>
          <p:cNvPr id="9" name="Text 6"/>
          <p:cNvSpPr txBox="1"/>
          <p:nvPr/>
        </p:nvSpPr>
        <p:spPr>
          <a:xfrm>
            <a:off x="1627632" y="2670048"/>
            <a:ext cx="4206240" cy="347472"/>
          </a:xfrm>
          <a:prstGeom prst="rect">
            <a:avLst/>
          </a:prstGeom>
          <a:noFill/>
          <a:ln/>
        </p:spPr>
        <p:txBody>
          <a:bodyPr wrap="square" lIns="0" tIns="0" rIns="0" bIns="0" rtlCol="0" anchor="ctr"/>
          <a:lstStyle/>
          <a:p>
            <a:pPr indent="0" marL="0">
              <a:buNone/>
            </a:pPr>
            <a:r>
              <a:rPr lang="en-US" sz="1700" b="1" dirty="0">
                <a:solidFill>
                  <a:schemeClr val="tx1"/>
                </a:solidFill>
              </a:rPr>
              <a:t>What should we license?</a:t>
            </a:r>
            <a:endParaRPr lang="en-US" sz="1700" dirty="0"/>
          </a:p>
        </p:txBody>
      </p:sp>
      <p:sp>
        <p:nvSpPr>
          <p:cNvPr id="10" name="Text 7"/>
          <p:cNvSpPr txBox="1"/>
          <p:nvPr/>
        </p:nvSpPr>
        <p:spPr>
          <a:xfrm>
            <a:off x="1627632" y="3026664"/>
            <a:ext cx="4251960" cy="347472"/>
          </a:xfrm>
          <a:prstGeom prst="rect">
            <a:avLst/>
          </a:prstGeom>
          <a:noFill/>
          <a:ln/>
        </p:spPr>
        <p:txBody>
          <a:bodyPr wrap="square" lIns="0" tIns="0" rIns="0" bIns="0" rtlCol="0" anchor="t"/>
          <a:lstStyle/>
          <a:p>
            <a:pPr indent="0" marL="0">
              <a:buNone/>
            </a:pPr>
            <a:r>
              <a:rPr lang="en-US" sz="1350" dirty="0">
                <a:solidFill>
                  <a:schemeClr val="accent5"/>
                </a:solidFill>
              </a:rPr>
              <a:t>Which of ~50 new titles a season will actually travel to India?</a:t>
            </a:r>
            <a:endParaRPr lang="en-US" sz="1350" dirty="0"/>
          </a:p>
        </p:txBody>
      </p:sp>
      <p:sp>
        <p:nvSpPr>
          <p:cNvPr id="11" name="question-2"/>
          <p:cNvSpPr/>
          <p:nvPr/>
        </p:nvSpPr>
        <p:spPr>
          <a:xfrm>
            <a:off x="548640" y="3657600"/>
            <a:ext cx="5486400" cy="987552"/>
          </a:xfrm>
          <a:prstGeom prst="roundRect">
            <a:avLst>
              <a:gd name="adj" fmla="val 7407"/>
            </a:avLst>
          </a:prstGeom>
          <a:solidFill>
            <a:schemeClr val="bg1"/>
          </a:solidFill>
          <a:ln/>
          <a:effectLst>
            <a:outerShdw sx="100000" sy="100000" kx="0" ky="0" algn="bl" rotWithShape="0" blurRad="114300" dist="25400" dir="5400000">
              <a:srgbClr val="141A33">
                <a:alpha val="13000"/>
              </a:srgbClr>
            </a:outerShdw>
          </a:effectLst>
        </p:spPr>
      </p:sp>
      <p:sp>
        <p:nvSpPr>
          <p:cNvPr id="12" name="icon-FaHourglassHalf"/>
          <p:cNvSpPr/>
          <p:nvPr/>
        </p:nvSpPr>
        <p:spPr>
          <a:xfrm>
            <a:off x="777240" y="3840480"/>
            <a:ext cx="621792" cy="621792"/>
          </a:xfrm>
          <a:prstGeom prst="ellipse">
            <a:avLst/>
          </a:prstGeom>
          <a:solidFill>
            <a:schemeClr val="accent1"/>
          </a:solidFill>
          <a:ln/>
        </p:spPr>
      </p:sp>
      <p:pic>
        <p:nvPicPr>
          <p:cNvPr id="13" name="Image 1" descr="HourglassHalf icon">    </p:cNvPr>
          <p:cNvPicPr>
            <a:picLocks noChangeAspect="1"/>
          </p:cNvPicPr>
          <p:nvPr/>
        </p:nvPicPr>
        <p:blipFill>
          <a:blip r:embed="rId2"/>
          <a:stretch>
            <a:fillRect/>
          </a:stretch>
        </p:blipFill>
        <p:spPr>
          <a:xfrm>
            <a:off x="932688" y="3995928"/>
            <a:ext cx="310896" cy="310896"/>
          </a:xfrm>
          <a:prstGeom prst="rect">
            <a:avLst/>
          </a:prstGeom>
        </p:spPr>
      </p:pic>
      <p:sp>
        <p:nvSpPr>
          <p:cNvPr id="14" name="Text 10"/>
          <p:cNvSpPr txBox="1"/>
          <p:nvPr/>
        </p:nvSpPr>
        <p:spPr>
          <a:xfrm>
            <a:off x="1627632" y="3813048"/>
            <a:ext cx="4206240" cy="347472"/>
          </a:xfrm>
          <a:prstGeom prst="rect">
            <a:avLst/>
          </a:prstGeom>
          <a:noFill/>
          <a:ln/>
        </p:spPr>
        <p:txBody>
          <a:bodyPr wrap="square" lIns="0" tIns="0" rIns="0" bIns="0" rtlCol="0" anchor="ctr"/>
          <a:lstStyle/>
          <a:p>
            <a:pPr indent="0" marL="0">
              <a:buNone/>
            </a:pPr>
            <a:r>
              <a:rPr lang="en-US" sz="1700" b="1" dirty="0">
                <a:solidFill>
                  <a:schemeClr val="tx1"/>
                </a:solidFill>
              </a:rPr>
              <a:t>When should we commit?</a:t>
            </a:r>
            <a:endParaRPr lang="en-US" sz="1700" dirty="0"/>
          </a:p>
        </p:txBody>
      </p:sp>
      <p:sp>
        <p:nvSpPr>
          <p:cNvPr id="15" name="Text 11"/>
          <p:cNvSpPr txBox="1"/>
          <p:nvPr/>
        </p:nvSpPr>
        <p:spPr>
          <a:xfrm>
            <a:off x="1627632" y="4169664"/>
            <a:ext cx="4251960" cy="347472"/>
          </a:xfrm>
          <a:prstGeom prst="rect">
            <a:avLst/>
          </a:prstGeom>
          <a:noFill/>
          <a:ln/>
        </p:spPr>
        <p:txBody>
          <a:bodyPr wrap="square" lIns="0" tIns="0" rIns="0" bIns="0" rtlCol="0" anchor="t"/>
          <a:lstStyle/>
          <a:p>
            <a:pPr indent="0" marL="0">
              <a:buNone/>
            </a:pPr>
            <a:r>
              <a:rPr lang="en-US" sz="1350" dirty="0">
                <a:solidFill>
                  <a:schemeClr val="accent5"/>
                </a:solidFill>
              </a:rPr>
              <a:t>Months before the premiere, or after launch-week buzz?</a:t>
            </a:r>
            <a:endParaRPr lang="en-US" sz="1350" dirty="0"/>
          </a:p>
        </p:txBody>
      </p:sp>
      <p:sp>
        <p:nvSpPr>
          <p:cNvPr id="16" name="question-3"/>
          <p:cNvSpPr/>
          <p:nvPr/>
        </p:nvSpPr>
        <p:spPr>
          <a:xfrm>
            <a:off x="548640" y="4800600"/>
            <a:ext cx="5486400" cy="987552"/>
          </a:xfrm>
          <a:prstGeom prst="roundRect">
            <a:avLst>
              <a:gd name="adj" fmla="val 7407"/>
            </a:avLst>
          </a:prstGeom>
          <a:solidFill>
            <a:schemeClr val="bg1"/>
          </a:solidFill>
          <a:ln/>
          <a:effectLst>
            <a:outerShdw sx="100000" sy="100000" kx="0" ky="0" algn="bl" rotWithShape="0" blurRad="114300" dist="25400" dir="5400000">
              <a:srgbClr val="141A33">
                <a:alpha val="13000"/>
              </a:srgbClr>
            </a:outerShdw>
          </a:effectLst>
        </p:spPr>
      </p:sp>
      <p:sp>
        <p:nvSpPr>
          <p:cNvPr id="17" name="icon-FaLanguage"/>
          <p:cNvSpPr/>
          <p:nvPr/>
        </p:nvSpPr>
        <p:spPr>
          <a:xfrm>
            <a:off x="777240" y="4983480"/>
            <a:ext cx="621792" cy="621792"/>
          </a:xfrm>
          <a:prstGeom prst="ellipse">
            <a:avLst/>
          </a:prstGeom>
          <a:solidFill>
            <a:schemeClr val="accent1"/>
          </a:solidFill>
          <a:ln/>
        </p:spPr>
      </p:sp>
      <p:pic>
        <p:nvPicPr>
          <p:cNvPr id="18" name="Image 2" descr="Language icon">    </p:cNvPr>
          <p:cNvPicPr>
            <a:picLocks noChangeAspect="1"/>
          </p:cNvPicPr>
          <p:nvPr/>
        </p:nvPicPr>
        <p:blipFill>
          <a:blip r:embed="rId3"/>
          <a:stretch>
            <a:fillRect/>
          </a:stretch>
        </p:blipFill>
        <p:spPr>
          <a:xfrm>
            <a:off x="932688" y="5138928"/>
            <a:ext cx="310896" cy="310896"/>
          </a:xfrm>
          <a:prstGeom prst="rect">
            <a:avLst/>
          </a:prstGeom>
        </p:spPr>
      </p:pic>
      <p:sp>
        <p:nvSpPr>
          <p:cNvPr id="19" name="Text 14"/>
          <p:cNvSpPr txBox="1"/>
          <p:nvPr/>
        </p:nvSpPr>
        <p:spPr>
          <a:xfrm>
            <a:off x="1627632" y="4956048"/>
            <a:ext cx="4206240" cy="347472"/>
          </a:xfrm>
          <a:prstGeom prst="rect">
            <a:avLst/>
          </a:prstGeom>
          <a:noFill/>
          <a:ln/>
        </p:spPr>
        <p:txBody>
          <a:bodyPr wrap="square" lIns="0" tIns="0" rIns="0" bIns="0" rtlCol="0" anchor="ctr"/>
          <a:lstStyle/>
          <a:p>
            <a:pPr indent="0" marL="0">
              <a:buNone/>
            </a:pPr>
            <a:r>
              <a:rPr lang="en-US" sz="1700" b="1" dirty="0">
                <a:solidFill>
                  <a:schemeClr val="tx1"/>
                </a:solidFill>
              </a:rPr>
              <a:t>Which language do we dub first?</a:t>
            </a:r>
            <a:endParaRPr lang="en-US" sz="1700" dirty="0"/>
          </a:p>
        </p:txBody>
      </p:sp>
      <p:sp>
        <p:nvSpPr>
          <p:cNvPr id="20" name="Text 15"/>
          <p:cNvSpPr txBox="1"/>
          <p:nvPr/>
        </p:nvSpPr>
        <p:spPr>
          <a:xfrm>
            <a:off x="1627632" y="5312664"/>
            <a:ext cx="4251960" cy="347472"/>
          </a:xfrm>
          <a:prstGeom prst="rect">
            <a:avLst/>
          </a:prstGeom>
          <a:noFill/>
          <a:ln/>
        </p:spPr>
        <p:txBody>
          <a:bodyPr wrap="square" lIns="0" tIns="0" rIns="0" bIns="0" rtlCol="0" anchor="t"/>
          <a:lstStyle/>
          <a:p>
            <a:pPr indent="0" marL="0">
              <a:buNone/>
            </a:pPr>
            <a:r>
              <a:rPr lang="en-US" sz="1350" dirty="0">
                <a:solidFill>
                  <a:schemeClr val="accent5"/>
                </a:solidFill>
              </a:rPr>
              <a:t>Hindi, Tamil, Telugu, or subtitles only?</a:t>
            </a:r>
            <a:endParaRPr lang="en-US" sz="1350" dirty="0"/>
          </a:p>
        </p:txBody>
      </p:sp>
      <p:sp>
        <p:nvSpPr>
          <p:cNvPr id="21" name="stat-₹66 Cr"/>
          <p:cNvSpPr/>
          <p:nvPr/>
        </p:nvSpPr>
        <p:spPr>
          <a:xfrm>
            <a:off x="6355080" y="2011680"/>
            <a:ext cx="2505456" cy="1773936"/>
          </a:xfrm>
          <a:prstGeom prst="roundRect">
            <a:avLst>
              <a:gd name="adj" fmla="val 4124"/>
            </a:avLst>
          </a:prstGeom>
          <a:solidFill>
            <a:schemeClr val="tx2"/>
          </a:solidFill>
          <a:ln/>
          <a:effectLst>
            <a:outerShdw sx="100000" sy="100000" kx="0" ky="0" algn="bl" rotWithShape="0" blurRad="114300" dist="25400" dir="5400000">
              <a:srgbClr val="141A33">
                <a:alpha val="13000"/>
              </a:srgbClr>
            </a:outerShdw>
          </a:effectLst>
        </p:spPr>
      </p:sp>
      <p:sp>
        <p:nvSpPr>
          <p:cNvPr id="22" name="Text 17"/>
          <p:cNvSpPr txBox="1"/>
          <p:nvPr/>
        </p:nvSpPr>
        <p:spPr>
          <a:xfrm>
            <a:off x="6556248" y="2240280"/>
            <a:ext cx="2103120" cy="594360"/>
          </a:xfrm>
          <a:prstGeom prst="rect">
            <a:avLst/>
          </a:prstGeom>
          <a:noFill/>
          <a:ln/>
        </p:spPr>
        <p:txBody>
          <a:bodyPr wrap="square" lIns="0" tIns="0" rIns="0" bIns="0" rtlCol="0" anchor="ctr"/>
          <a:lstStyle/>
          <a:p>
            <a:pPr indent="0" marL="0">
              <a:buNone/>
            </a:pPr>
            <a:r>
              <a:rPr lang="en-US" sz="3200" b="1" dirty="0">
                <a:solidFill>
                  <a:schemeClr val="bg2"/>
                </a:solidFill>
                <a:latin typeface="+mj-lt" pitchFamily="34" charset="0"/>
                <a:ea typeface="+mj-lt" pitchFamily="34" charset="-122"/>
                <a:cs typeface="+mj-lt" pitchFamily="34" charset="-120"/>
              </a:rPr>
              <a:t>₹66 Cr</a:t>
            </a:r>
            <a:endParaRPr lang="en-US" sz="3200" dirty="0"/>
          </a:p>
        </p:txBody>
      </p:sp>
      <p:sp>
        <p:nvSpPr>
          <p:cNvPr id="23" name="Text 18"/>
          <p:cNvSpPr txBox="1"/>
          <p:nvPr/>
        </p:nvSpPr>
        <p:spPr>
          <a:xfrm>
            <a:off x="6556248" y="2926080"/>
            <a:ext cx="2103120" cy="768096"/>
          </a:xfrm>
          <a:prstGeom prst="rect">
            <a:avLst/>
          </a:prstGeom>
          <a:noFill/>
          <a:ln/>
        </p:spPr>
        <p:txBody>
          <a:bodyPr wrap="square" lIns="0" tIns="0" rIns="0" bIns="0" rtlCol="0" anchor="t"/>
          <a:lstStyle/>
          <a:p>
            <a:pPr indent="0" marL="0">
              <a:buNone/>
            </a:pPr>
            <a:r>
              <a:rPr lang="en-US" sz="1250" dirty="0">
                <a:solidFill>
                  <a:schemeClr val="accent6"/>
                </a:solidFill>
              </a:rPr>
              <a:t>Demon Slayer: Infinity Castle, net, in Indian cinemas in about two weeks</a:t>
            </a:r>
            <a:endParaRPr lang="en-US" sz="1250" dirty="0"/>
          </a:p>
        </p:txBody>
      </p:sp>
      <p:sp>
        <p:nvSpPr>
          <p:cNvPr id="24" name="stat-¥20 T"/>
          <p:cNvSpPr/>
          <p:nvPr/>
        </p:nvSpPr>
        <p:spPr>
          <a:xfrm>
            <a:off x="9134856" y="2011680"/>
            <a:ext cx="2505456" cy="1773936"/>
          </a:xfrm>
          <a:prstGeom prst="roundRect">
            <a:avLst>
              <a:gd name="adj" fmla="val 4124"/>
            </a:avLst>
          </a:prstGeom>
          <a:solidFill>
            <a:schemeClr val="bg1"/>
          </a:solidFill>
          <a:ln/>
          <a:effectLst>
            <a:outerShdw sx="100000" sy="100000" kx="0" ky="0" algn="bl" rotWithShape="0" blurRad="114300" dist="25400" dir="5400000">
              <a:srgbClr val="141A33">
                <a:alpha val="13000"/>
              </a:srgbClr>
            </a:outerShdw>
          </a:effectLst>
        </p:spPr>
      </p:sp>
      <p:sp>
        <p:nvSpPr>
          <p:cNvPr id="25" name="Text 20"/>
          <p:cNvSpPr txBox="1"/>
          <p:nvPr/>
        </p:nvSpPr>
        <p:spPr>
          <a:xfrm>
            <a:off x="9336024" y="2240280"/>
            <a:ext cx="2103120" cy="59436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¥20 T</a:t>
            </a:r>
            <a:endParaRPr lang="en-US" sz="3200" dirty="0"/>
          </a:p>
        </p:txBody>
      </p:sp>
      <p:sp>
        <p:nvSpPr>
          <p:cNvPr id="26" name="Text 21"/>
          <p:cNvSpPr txBox="1"/>
          <p:nvPr/>
        </p:nvSpPr>
        <p:spPr>
          <a:xfrm>
            <a:off x="9336024" y="2926080"/>
            <a:ext cx="2103120" cy="768096"/>
          </a:xfrm>
          <a:prstGeom prst="rect">
            <a:avLst/>
          </a:prstGeom>
          <a:noFill/>
          <a:ln/>
        </p:spPr>
        <p:txBody>
          <a:bodyPr wrap="square" lIns="0" tIns="0" rIns="0" bIns="0" rtlCol="0" anchor="t"/>
          <a:lstStyle/>
          <a:p>
            <a:pPr indent="0" marL="0">
              <a:buNone/>
            </a:pPr>
            <a:r>
              <a:rPr lang="en-US" sz="1250" dirty="0">
                <a:solidFill>
                  <a:schemeClr val="accent5"/>
                </a:solidFill>
              </a:rPr>
              <a:t>Japan's 2033 target for overseas content sales, up from ¥5.8 T in 2023</a:t>
            </a:r>
            <a:endParaRPr lang="en-US" sz="1250" dirty="0"/>
          </a:p>
        </p:txBody>
      </p:sp>
      <p:sp>
        <p:nvSpPr>
          <p:cNvPr id="27" name="stat-&lt;1 in 2,000"/>
          <p:cNvSpPr/>
          <p:nvPr/>
        </p:nvSpPr>
        <p:spPr>
          <a:xfrm>
            <a:off x="6355080" y="4014216"/>
            <a:ext cx="2505456" cy="1773936"/>
          </a:xfrm>
          <a:prstGeom prst="roundRect">
            <a:avLst>
              <a:gd name="adj" fmla="val 4124"/>
            </a:avLst>
          </a:prstGeom>
          <a:solidFill>
            <a:schemeClr val="bg1"/>
          </a:solidFill>
          <a:ln/>
          <a:effectLst>
            <a:outerShdw sx="100000" sy="100000" kx="0" ky="0" algn="bl" rotWithShape="0" blurRad="114300" dist="25400" dir="5400000">
              <a:srgbClr val="141A33">
                <a:alpha val="13000"/>
              </a:srgbClr>
            </a:outerShdw>
          </a:effectLst>
        </p:spPr>
      </p:sp>
      <p:sp>
        <p:nvSpPr>
          <p:cNvPr id="28" name="Text 23"/>
          <p:cNvSpPr txBox="1"/>
          <p:nvPr/>
        </p:nvSpPr>
        <p:spPr>
          <a:xfrm>
            <a:off x="6556248" y="4242816"/>
            <a:ext cx="2103120" cy="59436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&lt;1 in 2,000</a:t>
            </a:r>
            <a:endParaRPr lang="en-US" sz="3200" dirty="0"/>
          </a:p>
        </p:txBody>
      </p:sp>
      <p:sp>
        <p:nvSpPr>
          <p:cNvPr id="29" name="Text 24"/>
          <p:cNvSpPr txBox="1"/>
          <p:nvPr/>
        </p:nvSpPr>
        <p:spPr>
          <a:xfrm>
            <a:off x="6556248" y="4928616"/>
            <a:ext cx="2103120" cy="768096"/>
          </a:xfrm>
          <a:prstGeom prst="rect">
            <a:avLst/>
          </a:prstGeom>
          <a:noFill/>
          <a:ln/>
        </p:spPr>
        <p:txBody>
          <a:bodyPr wrap="square" lIns="0" tIns="0" rIns="0" bIns="0" rtlCol="0" anchor="t"/>
          <a:lstStyle/>
          <a:p>
            <a:pPr indent="0" marL="0">
              <a:buNone/>
            </a:pPr>
            <a:r>
              <a:rPr lang="en-US" sz="1250" dirty="0">
                <a:solidFill>
                  <a:schemeClr val="accent5"/>
                </a:solidFill>
              </a:rPr>
              <a:t>trailer comments use an Indian script. Indian fans type Hinglish.</a:t>
            </a:r>
            <a:endParaRPr lang="en-US" sz="1250" dirty="0"/>
          </a:p>
        </p:txBody>
      </p:sp>
      <p:sp>
        <p:nvSpPr>
          <p:cNvPr id="30" name="stat-15"/>
          <p:cNvSpPr/>
          <p:nvPr/>
        </p:nvSpPr>
        <p:spPr>
          <a:xfrm>
            <a:off x="9134856" y="4014216"/>
            <a:ext cx="2505456" cy="1773936"/>
          </a:xfrm>
          <a:prstGeom prst="roundRect">
            <a:avLst>
              <a:gd name="adj" fmla="val 4124"/>
            </a:avLst>
          </a:prstGeom>
          <a:solidFill>
            <a:schemeClr val="bg1"/>
          </a:solidFill>
          <a:ln/>
          <a:effectLst>
            <a:outerShdw sx="100000" sy="100000" kx="0" ky="0" algn="bl" rotWithShape="0" blurRad="114300" dist="25400" dir="5400000">
              <a:srgbClr val="141A33">
                <a:alpha val="13000"/>
              </a:srgbClr>
            </a:outerShdw>
          </a:effectLst>
        </p:spPr>
      </p:sp>
      <p:sp>
        <p:nvSpPr>
          <p:cNvPr id="31" name="Text 26"/>
          <p:cNvSpPr txBox="1"/>
          <p:nvPr/>
        </p:nvSpPr>
        <p:spPr>
          <a:xfrm>
            <a:off x="9336024" y="4242816"/>
            <a:ext cx="2103120" cy="59436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15</a:t>
            </a:r>
            <a:endParaRPr lang="en-US" sz="3200" dirty="0"/>
          </a:p>
        </p:txBody>
      </p:sp>
      <p:sp>
        <p:nvSpPr>
          <p:cNvPr id="32" name="Text 27"/>
          <p:cNvSpPr txBox="1"/>
          <p:nvPr/>
        </p:nvSpPr>
        <p:spPr>
          <a:xfrm>
            <a:off x="9336024" y="4928616"/>
            <a:ext cx="2103120" cy="768096"/>
          </a:xfrm>
          <a:prstGeom prst="rect">
            <a:avLst/>
          </a:prstGeom>
          <a:noFill/>
          <a:ln/>
        </p:spPr>
        <p:txBody>
          <a:bodyPr wrap="square" lIns="0" tIns="0" rIns="0" bIns="0" rtlCol="0" anchor="t"/>
          <a:lstStyle/>
          <a:p>
            <a:pPr indent="0" marL="0">
              <a:buNone/>
            </a:pPr>
            <a:r>
              <a:rPr lang="en-US" sz="1250" dirty="0">
                <a:solidFill>
                  <a:schemeClr val="accent5"/>
                </a:solidFill>
              </a:rPr>
              <a:t>anime reached Netflix India's weekly Top 10 since July 2021: hits are rare</a:t>
            </a:r>
            <a:endParaRPr lang="en-US" sz="1250" dirty="0"/>
          </a:p>
        </p:txBody>
      </p:sp>
      <p:sp>
        <p:nvSpPr>
          <p:cNvPr id="33" name="Text 28"/>
          <p:cNvSpPr txBox="1"/>
          <p:nvPr/>
        </p:nvSpPr>
        <p:spPr>
          <a:xfrm>
            <a:off x="6355080" y="5897880"/>
            <a:ext cx="5285232" cy="384048"/>
          </a:xfrm>
          <a:prstGeom prst="rect">
            <a:avLst/>
          </a:prstGeom>
          <a:noFill/>
          <a:ln/>
        </p:spPr>
        <p:txBody>
          <a:bodyPr wrap="square" lIns="0" tIns="0" rIns="0" bIns="0" rtlCol="0" anchor="t"/>
          <a:lstStyle/>
          <a:p>
            <a:pPr indent="0" marL="0">
              <a:buNone/>
            </a:pPr>
            <a:r>
              <a:rPr lang="en-US" sz="950" dirty="0">
                <a:solidFill>
                  <a:schemeClr val="accent5"/>
                </a:solidFill>
              </a:rPr>
              <a:t>Sources: box office, Outlook India Respawn (net, run still going); target, Japan's Cool Japan Strategy 2024; comment and chart figures, Yosoku's own data.</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02 — AT A GLANCE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What makes Yosoku stand out</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A verdict with its reasons for every title, built on signals that actually come from India.</a:t>
            </a:r>
            <a:endParaRPr lang="en-US" sz="1500" dirty="0"/>
          </a:p>
        </p:txBody>
      </p:sp>
      <p:sp>
        <p:nvSpPr>
          <p:cNvPr id="5" name="usp-1"/>
          <p:cNvSpPr/>
          <p:nvPr/>
        </p:nvSpPr>
        <p:spPr>
          <a:xfrm>
            <a:off x="548640" y="2011680"/>
            <a:ext cx="2601468" cy="1965960"/>
          </a:xfrm>
          <a:prstGeom prst="roundRect">
            <a:avLst>
              <a:gd name="adj" fmla="val 3721"/>
            </a:avLst>
          </a:prstGeom>
          <a:solidFill>
            <a:schemeClr val="tx2"/>
          </a:solidFill>
          <a:ln/>
          <a:effectLst>
            <a:outerShdw sx="100000" sy="100000" kx="0" ky="0" algn="bl" rotWithShape="0" blurRad="114300" dist="25400" dir="5400000">
              <a:srgbClr val="141A33">
                <a:alpha val="13000"/>
              </a:srgbClr>
            </a:outerShdw>
          </a:effectLst>
        </p:spPr>
      </p:sp>
      <p:sp>
        <p:nvSpPr>
          <p:cNvPr id="6" name="Text 4"/>
          <p:cNvSpPr txBox="1"/>
          <p:nvPr/>
        </p:nvSpPr>
        <p:spPr>
          <a:xfrm>
            <a:off x="777240" y="2121408"/>
            <a:ext cx="2144268" cy="73152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20×</a:t>
            </a:r>
            <a:endParaRPr lang="en-US" sz="4400" dirty="0"/>
          </a:p>
        </p:txBody>
      </p:sp>
      <p:sp>
        <p:nvSpPr>
          <p:cNvPr id="7" name="Text 5"/>
          <p:cNvSpPr txBox="1"/>
          <p:nvPr/>
        </p:nvSpPr>
        <p:spPr>
          <a:xfrm>
            <a:off x="777240" y="2926080"/>
            <a:ext cx="2144268" cy="347472"/>
          </a:xfrm>
          <a:prstGeom prst="rect">
            <a:avLst/>
          </a:prstGeom>
          <a:noFill/>
          <a:ln/>
        </p:spPr>
        <p:txBody>
          <a:bodyPr wrap="square" lIns="0" tIns="0" rIns="0" bIns="0" rtlCol="0" anchor="ctr"/>
          <a:lstStyle/>
          <a:p>
            <a:pPr indent="0" marL="0">
              <a:buNone/>
            </a:pPr>
            <a:r>
              <a:rPr lang="en-US" sz="1500" b="1" dirty="0">
                <a:solidFill>
                  <a:schemeClr val="bg2"/>
                </a:solidFill>
                <a:latin typeface="+mj-lt" pitchFamily="34" charset="0"/>
                <a:ea typeface="+mj-lt" pitchFamily="34" charset="-122"/>
                <a:cs typeface="+mj-lt" pitchFamily="34" charset="-120"/>
              </a:rPr>
              <a:t>Hinglish-aware AI</a:t>
            </a:r>
            <a:endParaRPr lang="en-US" sz="1500" dirty="0"/>
          </a:p>
        </p:txBody>
      </p:sp>
      <p:sp>
        <p:nvSpPr>
          <p:cNvPr id="8" name="Text 6"/>
          <p:cNvSpPr txBox="1"/>
          <p:nvPr/>
        </p:nvSpPr>
        <p:spPr>
          <a:xfrm>
            <a:off x="777240" y="3310128"/>
            <a:ext cx="2144268" cy="603504"/>
          </a:xfrm>
          <a:prstGeom prst="rect">
            <a:avLst/>
          </a:prstGeom>
          <a:noFill/>
          <a:ln/>
        </p:spPr>
        <p:txBody>
          <a:bodyPr wrap="square" lIns="0" tIns="0" rIns="0" bIns="0" rtlCol="0" anchor="t"/>
          <a:lstStyle/>
          <a:p>
            <a:pPr indent="0" marL="0">
              <a:buNone/>
            </a:pPr>
            <a:r>
              <a:rPr lang="en-US" sz="1250" dirty="0">
                <a:solidFill>
                  <a:schemeClr val="accent6"/>
                </a:solidFill>
              </a:rPr>
              <a:t>AI4Bharat's IndicLID plus our Hindi word rules find 20× more Indian fan comments.</a:t>
            </a:r>
            <a:endParaRPr lang="en-US" sz="1250" dirty="0"/>
          </a:p>
        </p:txBody>
      </p:sp>
      <p:sp>
        <p:nvSpPr>
          <p:cNvPr id="9" name="usp-2"/>
          <p:cNvSpPr/>
          <p:nvPr/>
        </p:nvSpPr>
        <p:spPr>
          <a:xfrm>
            <a:off x="3378708" y="2011680"/>
            <a:ext cx="2601468" cy="196596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10" name="icon-FaChartLine"/>
          <p:cNvSpPr/>
          <p:nvPr/>
        </p:nvSpPr>
        <p:spPr>
          <a:xfrm>
            <a:off x="3607308" y="2240280"/>
            <a:ext cx="566928" cy="566928"/>
          </a:xfrm>
          <a:prstGeom prst="ellipse">
            <a:avLst/>
          </a:prstGeom>
          <a:solidFill>
            <a:schemeClr val="accent1"/>
          </a:solidFill>
          <a:ln/>
        </p:spPr>
      </p:sp>
      <p:pic>
        <p:nvPicPr>
          <p:cNvPr id="11" name="Image 0" descr="ChartLine icon">    </p:cNvPr>
          <p:cNvPicPr>
            <a:picLocks noChangeAspect="1"/>
          </p:cNvPicPr>
          <p:nvPr/>
        </p:nvPicPr>
        <p:blipFill>
          <a:blip r:embed="rId1"/>
          <a:stretch>
            <a:fillRect/>
          </a:stretch>
        </p:blipFill>
        <p:spPr>
          <a:xfrm>
            <a:off x="3749040" y="2382012"/>
            <a:ext cx="283464" cy="283464"/>
          </a:xfrm>
          <a:prstGeom prst="rect">
            <a:avLst/>
          </a:prstGeom>
        </p:spPr>
      </p:pic>
      <p:sp>
        <p:nvSpPr>
          <p:cNvPr id="12" name="Text 9"/>
          <p:cNvSpPr txBox="1"/>
          <p:nvPr/>
        </p:nvSpPr>
        <p:spPr>
          <a:xfrm>
            <a:off x="3607308" y="2926080"/>
            <a:ext cx="2144268" cy="3474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Three-stage forecast</a:t>
            </a:r>
            <a:endParaRPr lang="en-US" sz="1500" dirty="0"/>
          </a:p>
        </p:txBody>
      </p:sp>
      <p:sp>
        <p:nvSpPr>
          <p:cNvPr id="13" name="Text 10"/>
          <p:cNvSpPr txBox="1"/>
          <p:nvPr/>
        </p:nvSpPr>
        <p:spPr>
          <a:xfrm>
            <a:off x="3607308" y="3310128"/>
            <a:ext cx="2144268" cy="603504"/>
          </a:xfrm>
          <a:prstGeom prst="rect">
            <a:avLst/>
          </a:prstGeom>
          <a:noFill/>
          <a:ln/>
        </p:spPr>
        <p:txBody>
          <a:bodyPr wrap="square" lIns="0" tIns="0" rIns="0" bIns="0" rtlCol="0" anchor="t"/>
          <a:lstStyle/>
          <a:p>
            <a:pPr indent="0" marL="0">
              <a:buNone/>
            </a:pPr>
            <a:r>
              <a:rPr lang="en-US" sz="1250" dirty="0">
                <a:solidFill>
                  <a:schemeClr val="accent5"/>
                </a:solidFill>
              </a:rPr>
              <a:t>Cold, T−28 and T+7 verdicts: Launch, Test-market or Hold, each with an 80% range.</a:t>
            </a:r>
            <a:endParaRPr lang="en-US" sz="1250" dirty="0"/>
          </a:p>
        </p:txBody>
      </p:sp>
      <p:sp>
        <p:nvSpPr>
          <p:cNvPr id="14" name="usp-3"/>
          <p:cNvSpPr/>
          <p:nvPr/>
        </p:nvSpPr>
        <p:spPr>
          <a:xfrm>
            <a:off x="6208776" y="2011680"/>
            <a:ext cx="2601468" cy="196596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15" name="icon-FaListCheck"/>
          <p:cNvSpPr/>
          <p:nvPr/>
        </p:nvSpPr>
        <p:spPr>
          <a:xfrm>
            <a:off x="6437376" y="2240280"/>
            <a:ext cx="566928" cy="566928"/>
          </a:xfrm>
          <a:prstGeom prst="ellipse">
            <a:avLst/>
          </a:prstGeom>
          <a:solidFill>
            <a:schemeClr val="accent1"/>
          </a:solidFill>
          <a:ln/>
        </p:spPr>
      </p:sp>
      <p:pic>
        <p:nvPicPr>
          <p:cNvPr id="16" name="Image 1" descr="ListCheck icon">    </p:cNvPr>
          <p:cNvPicPr>
            <a:picLocks noChangeAspect="1"/>
          </p:cNvPicPr>
          <p:nvPr/>
        </p:nvPicPr>
        <p:blipFill>
          <a:blip r:embed="rId2"/>
          <a:stretch>
            <a:fillRect/>
          </a:stretch>
        </p:blipFill>
        <p:spPr>
          <a:xfrm>
            <a:off x="6579108" y="2382012"/>
            <a:ext cx="283464" cy="283464"/>
          </a:xfrm>
          <a:prstGeom prst="rect">
            <a:avLst/>
          </a:prstGeom>
        </p:spPr>
      </p:pic>
      <p:sp>
        <p:nvSpPr>
          <p:cNvPr id="17" name="Text 13"/>
          <p:cNvSpPr txBox="1"/>
          <p:nvPr/>
        </p:nvSpPr>
        <p:spPr>
          <a:xfrm>
            <a:off x="6437376" y="2926080"/>
            <a:ext cx="2144268" cy="3474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Launch plan per title</a:t>
            </a:r>
            <a:endParaRPr lang="en-US" sz="1500" dirty="0"/>
          </a:p>
        </p:txBody>
      </p:sp>
      <p:sp>
        <p:nvSpPr>
          <p:cNvPr id="18" name="Text 14"/>
          <p:cNvSpPr txBox="1"/>
          <p:nvPr/>
        </p:nvSpPr>
        <p:spPr>
          <a:xfrm>
            <a:off x="6437376" y="3310128"/>
            <a:ext cx="2144268" cy="603504"/>
          </a:xfrm>
          <a:prstGeom prst="rect">
            <a:avLst/>
          </a:prstGeom>
          <a:noFill/>
          <a:ln/>
        </p:spPr>
        <p:txBody>
          <a:bodyPr wrap="square" lIns="0" tIns="0" rIns="0" bIns="0" rtlCol="0" anchor="t"/>
          <a:lstStyle/>
          <a:p>
            <a:pPr indent="0" marL="0">
              <a:buNone/>
            </a:pPr>
            <a:r>
              <a:rPr lang="en-US" sz="1250" dirty="0">
                <a:solidFill>
                  <a:schemeClr val="accent5"/>
                </a:solidFill>
              </a:rPr>
              <a:t>Commit or test small, when to decide again, which dub first, keep or move the date.</a:t>
            </a:r>
            <a:endParaRPr lang="en-US" sz="1250" dirty="0"/>
          </a:p>
        </p:txBody>
      </p:sp>
      <p:sp>
        <p:nvSpPr>
          <p:cNvPr id="19" name="usp-4"/>
          <p:cNvSpPr/>
          <p:nvPr/>
        </p:nvSpPr>
        <p:spPr>
          <a:xfrm>
            <a:off x="9038844" y="2011680"/>
            <a:ext cx="2601468" cy="196596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20" name="icon-FaMapLocationDot"/>
          <p:cNvSpPr/>
          <p:nvPr/>
        </p:nvSpPr>
        <p:spPr>
          <a:xfrm>
            <a:off x="9267444" y="2240280"/>
            <a:ext cx="566928" cy="566928"/>
          </a:xfrm>
          <a:prstGeom prst="ellipse">
            <a:avLst/>
          </a:prstGeom>
          <a:solidFill>
            <a:schemeClr val="accent1"/>
          </a:solidFill>
          <a:ln/>
        </p:spPr>
      </p:sp>
      <p:pic>
        <p:nvPicPr>
          <p:cNvPr id="21" name="Image 2" descr="MapLocationDot icon">    </p:cNvPr>
          <p:cNvPicPr>
            <a:picLocks noChangeAspect="1"/>
          </p:cNvPicPr>
          <p:nvPr/>
        </p:nvPicPr>
        <p:blipFill>
          <a:blip r:embed="rId3"/>
          <a:stretch>
            <a:fillRect/>
          </a:stretch>
        </p:blipFill>
        <p:spPr>
          <a:xfrm>
            <a:off x="9409176" y="2382012"/>
            <a:ext cx="283464" cy="283464"/>
          </a:xfrm>
          <a:prstGeom prst="rect">
            <a:avLst/>
          </a:prstGeom>
        </p:spPr>
      </p:pic>
      <p:sp>
        <p:nvSpPr>
          <p:cNvPr id="22" name="Text 17"/>
          <p:cNvSpPr txBox="1"/>
          <p:nvPr/>
        </p:nvSpPr>
        <p:spPr>
          <a:xfrm>
            <a:off x="9267444" y="2926080"/>
            <a:ext cx="2144268" cy="3474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Region &amp; language hubs</a:t>
            </a:r>
            <a:endParaRPr lang="en-US" sz="1500" dirty="0"/>
          </a:p>
        </p:txBody>
      </p:sp>
      <p:sp>
        <p:nvSpPr>
          <p:cNvPr id="23" name="Text 18"/>
          <p:cNvSpPr txBox="1"/>
          <p:nvPr/>
        </p:nvSpPr>
        <p:spPr>
          <a:xfrm>
            <a:off x="9267444" y="3310128"/>
            <a:ext cx="2144268" cy="603504"/>
          </a:xfrm>
          <a:prstGeom prst="rect">
            <a:avLst/>
          </a:prstGeom>
          <a:noFill/>
          <a:ln/>
        </p:spPr>
        <p:txBody>
          <a:bodyPr wrap="square" lIns="0" tIns="0" rIns="0" bIns="0" rtlCol="0" anchor="t"/>
          <a:lstStyle/>
          <a:p>
            <a:pPr indent="0" marL="0">
              <a:buNone/>
            </a:pPr>
            <a:r>
              <a:rPr lang="en-US" sz="1250" dirty="0">
                <a:solidFill>
                  <a:schemeClr val="accent5"/>
                </a:solidFill>
              </a:rPr>
              <a:t>Which Indian language hub a title pulls, and dub demand against a typical title.</a:t>
            </a:r>
            <a:endParaRPr lang="en-US" sz="1250" dirty="0"/>
          </a:p>
        </p:txBody>
      </p:sp>
      <p:sp>
        <p:nvSpPr>
          <p:cNvPr id="24" name="usp-5"/>
          <p:cNvSpPr/>
          <p:nvPr/>
        </p:nvSpPr>
        <p:spPr>
          <a:xfrm>
            <a:off x="548640" y="4206240"/>
            <a:ext cx="2601468" cy="196596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25" name="icon-FaFileArrowDown"/>
          <p:cNvSpPr/>
          <p:nvPr/>
        </p:nvSpPr>
        <p:spPr>
          <a:xfrm>
            <a:off x="777240" y="4434840"/>
            <a:ext cx="566928" cy="566928"/>
          </a:xfrm>
          <a:prstGeom prst="ellipse">
            <a:avLst/>
          </a:prstGeom>
          <a:solidFill>
            <a:schemeClr val="accent1"/>
          </a:solidFill>
          <a:ln/>
        </p:spPr>
      </p:sp>
      <p:pic>
        <p:nvPicPr>
          <p:cNvPr id="26" name="Image 3" descr="FileArrowDown icon">    </p:cNvPr>
          <p:cNvPicPr>
            <a:picLocks noChangeAspect="1"/>
          </p:cNvPicPr>
          <p:nvPr/>
        </p:nvPicPr>
        <p:blipFill>
          <a:blip r:embed="rId4"/>
          <a:stretch>
            <a:fillRect/>
          </a:stretch>
        </p:blipFill>
        <p:spPr>
          <a:xfrm>
            <a:off x="918972" y="4576572"/>
            <a:ext cx="283464" cy="283464"/>
          </a:xfrm>
          <a:prstGeom prst="rect">
            <a:avLst/>
          </a:prstGeom>
        </p:spPr>
      </p:pic>
      <p:sp>
        <p:nvSpPr>
          <p:cNvPr id="27" name="Text 21"/>
          <p:cNvSpPr txBox="1"/>
          <p:nvPr/>
        </p:nvSpPr>
        <p:spPr>
          <a:xfrm>
            <a:off x="777240" y="5120640"/>
            <a:ext cx="2144268" cy="3474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Downloadable overview</a:t>
            </a:r>
            <a:endParaRPr lang="en-US" sz="1500" dirty="0"/>
          </a:p>
        </p:txBody>
      </p:sp>
      <p:sp>
        <p:nvSpPr>
          <p:cNvPr id="28" name="Text 22"/>
          <p:cNvSpPr txBox="1"/>
          <p:nvPr/>
        </p:nvSpPr>
        <p:spPr>
          <a:xfrm>
            <a:off x="777240" y="5504688"/>
            <a:ext cx="2144268" cy="603504"/>
          </a:xfrm>
          <a:prstGeom prst="rect">
            <a:avLst/>
          </a:prstGeom>
          <a:noFill/>
          <a:ln/>
        </p:spPr>
        <p:txBody>
          <a:bodyPr wrap="square" lIns="0" tIns="0" rIns="0" bIns="0" rtlCol="0" anchor="t"/>
          <a:lstStyle/>
          <a:p>
            <a:pPr indent="0" marL="0">
              <a:buNone/>
            </a:pPr>
            <a:r>
              <a:rPr lang="en-US" sz="1250" dirty="0">
                <a:solidFill>
                  <a:schemeClr val="accent5"/>
                </a:solidFill>
              </a:rPr>
              <a:t>One-click one-page brief in English, or a Japanese 稟議書 ready for approval.</a:t>
            </a:r>
            <a:endParaRPr lang="en-US" sz="1250" dirty="0"/>
          </a:p>
        </p:txBody>
      </p:sp>
      <p:sp>
        <p:nvSpPr>
          <p:cNvPr id="29" name="usp-6"/>
          <p:cNvSpPr/>
          <p:nvPr/>
        </p:nvSpPr>
        <p:spPr>
          <a:xfrm>
            <a:off x="3378708" y="4206240"/>
            <a:ext cx="2601468" cy="196596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30" name="icon-FaMagnifyingGlassChart"/>
          <p:cNvSpPr/>
          <p:nvPr/>
        </p:nvSpPr>
        <p:spPr>
          <a:xfrm>
            <a:off x="3607308" y="4434840"/>
            <a:ext cx="566928" cy="566928"/>
          </a:xfrm>
          <a:prstGeom prst="ellipse">
            <a:avLst/>
          </a:prstGeom>
          <a:solidFill>
            <a:schemeClr val="accent1"/>
          </a:solidFill>
          <a:ln/>
        </p:spPr>
      </p:sp>
      <p:pic>
        <p:nvPicPr>
          <p:cNvPr id="31" name="Image 4" descr="MagnifyingGlassChart icon">    </p:cNvPr>
          <p:cNvPicPr>
            <a:picLocks noChangeAspect="1"/>
          </p:cNvPicPr>
          <p:nvPr/>
        </p:nvPicPr>
        <p:blipFill>
          <a:blip r:embed="rId5"/>
          <a:stretch>
            <a:fillRect/>
          </a:stretch>
        </p:blipFill>
        <p:spPr>
          <a:xfrm>
            <a:off x="3749040" y="4576572"/>
            <a:ext cx="283464" cy="283464"/>
          </a:xfrm>
          <a:prstGeom prst="rect">
            <a:avLst/>
          </a:prstGeom>
        </p:spPr>
      </p:pic>
      <p:sp>
        <p:nvSpPr>
          <p:cNvPr id="32" name="Text 25"/>
          <p:cNvSpPr txBox="1"/>
          <p:nvPr/>
        </p:nvSpPr>
        <p:spPr>
          <a:xfrm>
            <a:off x="3607308" y="5120640"/>
            <a:ext cx="2144268" cy="3474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Check your title</a:t>
            </a:r>
            <a:endParaRPr lang="en-US" sz="1500" dirty="0"/>
          </a:p>
        </p:txBody>
      </p:sp>
      <p:sp>
        <p:nvSpPr>
          <p:cNvPr id="33" name="Text 26"/>
          <p:cNvSpPr txBox="1"/>
          <p:nvPr/>
        </p:nvSpPr>
        <p:spPr>
          <a:xfrm>
            <a:off x="3607308" y="5504688"/>
            <a:ext cx="2144268" cy="603504"/>
          </a:xfrm>
          <a:prstGeom prst="rect">
            <a:avLst/>
          </a:prstGeom>
          <a:noFill/>
          <a:ln/>
        </p:spPr>
        <p:txBody>
          <a:bodyPr wrap="square" lIns="0" tIns="0" rIns="0" bIns="0" rtlCol="0" anchor="t"/>
          <a:lstStyle/>
          <a:p>
            <a:pPr indent="0" marL="0">
              <a:buNone/>
            </a:pPr>
            <a:r>
              <a:rPr lang="en-US" sz="1250" dirty="0">
                <a:solidFill>
                  <a:schemeClr val="accent5"/>
                </a:solidFill>
              </a:rPr>
              <a:t>Describe any title and see how similar anime fared in India, with what-ifs.</a:t>
            </a:r>
            <a:endParaRPr lang="en-US" sz="1250" dirty="0"/>
          </a:p>
        </p:txBody>
      </p:sp>
      <p:sp>
        <p:nvSpPr>
          <p:cNvPr id="34" name="usp-7"/>
          <p:cNvSpPr/>
          <p:nvPr/>
        </p:nvSpPr>
        <p:spPr>
          <a:xfrm>
            <a:off x="6208776" y="4206240"/>
            <a:ext cx="2601468" cy="196596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35" name="icon-FaPuzzlePiece"/>
          <p:cNvSpPr/>
          <p:nvPr/>
        </p:nvSpPr>
        <p:spPr>
          <a:xfrm>
            <a:off x="6437376" y="4434840"/>
            <a:ext cx="566928" cy="566928"/>
          </a:xfrm>
          <a:prstGeom prst="ellipse">
            <a:avLst/>
          </a:prstGeom>
          <a:solidFill>
            <a:schemeClr val="accent1"/>
          </a:solidFill>
          <a:ln/>
        </p:spPr>
      </p:sp>
      <p:pic>
        <p:nvPicPr>
          <p:cNvPr id="36" name="Image 5" descr="PuzzlePiece icon">    </p:cNvPr>
          <p:cNvPicPr>
            <a:picLocks noChangeAspect="1"/>
          </p:cNvPicPr>
          <p:nvPr/>
        </p:nvPicPr>
        <p:blipFill>
          <a:blip r:embed="rId6"/>
          <a:stretch>
            <a:fillRect/>
          </a:stretch>
        </p:blipFill>
        <p:spPr>
          <a:xfrm>
            <a:off x="6579108" y="4576572"/>
            <a:ext cx="283464" cy="283464"/>
          </a:xfrm>
          <a:prstGeom prst="rect">
            <a:avLst/>
          </a:prstGeom>
        </p:spPr>
      </p:pic>
      <p:sp>
        <p:nvSpPr>
          <p:cNvPr id="37" name="Text 29"/>
          <p:cNvSpPr txBox="1"/>
          <p:nvPr/>
        </p:nvSpPr>
        <p:spPr>
          <a:xfrm>
            <a:off x="6437376" y="5120640"/>
            <a:ext cx="2144268" cy="3474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Demand Guide service</a:t>
            </a:r>
            <a:endParaRPr lang="en-US" sz="1500" dirty="0"/>
          </a:p>
        </p:txBody>
      </p:sp>
      <p:sp>
        <p:nvSpPr>
          <p:cNvPr id="38" name="Text 30"/>
          <p:cNvSpPr txBox="1"/>
          <p:nvPr/>
        </p:nvSpPr>
        <p:spPr>
          <a:xfrm>
            <a:off x="6437376" y="5504688"/>
            <a:ext cx="2144268" cy="603504"/>
          </a:xfrm>
          <a:prstGeom prst="rect">
            <a:avLst/>
          </a:prstGeom>
          <a:noFill/>
          <a:ln/>
        </p:spPr>
        <p:txBody>
          <a:bodyPr wrap="square" lIns="0" tIns="0" rIns="0" bIns="0" rtlCol="0" anchor="t"/>
          <a:lstStyle/>
          <a:p>
            <a:pPr indent="0" marL="0">
              <a:buNone/>
            </a:pPr>
            <a:r>
              <a:rPr lang="en-US" sz="1250" dirty="0">
                <a:solidFill>
                  <a:schemeClr val="accent5"/>
                </a:solidFill>
              </a:rPr>
              <a:t>Extensible: new markets, signals and content plug into the same engine.</a:t>
            </a:r>
            <a:endParaRPr lang="en-US" sz="1250" dirty="0"/>
          </a:p>
        </p:txBody>
      </p:sp>
      <p:sp>
        <p:nvSpPr>
          <p:cNvPr id="39" name="usp-8"/>
          <p:cNvSpPr/>
          <p:nvPr/>
        </p:nvSpPr>
        <p:spPr>
          <a:xfrm>
            <a:off x="9038844" y="4206240"/>
            <a:ext cx="2601468" cy="196596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40" name="icon-FaFingerprint"/>
          <p:cNvSpPr/>
          <p:nvPr/>
        </p:nvSpPr>
        <p:spPr>
          <a:xfrm>
            <a:off x="9267444" y="4434840"/>
            <a:ext cx="566928" cy="566928"/>
          </a:xfrm>
          <a:prstGeom prst="ellipse">
            <a:avLst/>
          </a:prstGeom>
          <a:solidFill>
            <a:schemeClr val="accent1"/>
          </a:solidFill>
          <a:ln/>
        </p:spPr>
      </p:sp>
      <p:pic>
        <p:nvPicPr>
          <p:cNvPr id="41" name="Image 6" descr="Fingerprint icon">    </p:cNvPr>
          <p:cNvPicPr>
            <a:picLocks noChangeAspect="1"/>
          </p:cNvPicPr>
          <p:nvPr/>
        </p:nvPicPr>
        <p:blipFill>
          <a:blip r:embed="rId7"/>
          <a:stretch>
            <a:fillRect/>
          </a:stretch>
        </p:blipFill>
        <p:spPr>
          <a:xfrm>
            <a:off x="9409176" y="4576572"/>
            <a:ext cx="283464" cy="283464"/>
          </a:xfrm>
          <a:prstGeom prst="rect">
            <a:avLst/>
          </a:prstGeom>
        </p:spPr>
      </p:pic>
      <p:sp>
        <p:nvSpPr>
          <p:cNvPr id="42" name="Text 33"/>
          <p:cNvSpPr txBox="1"/>
          <p:nvPr/>
        </p:nvSpPr>
        <p:spPr>
          <a:xfrm>
            <a:off x="9267444" y="5120640"/>
            <a:ext cx="2144268" cy="347472"/>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Sealed &amp; honest</a:t>
            </a:r>
            <a:endParaRPr lang="en-US" sz="1500" dirty="0"/>
          </a:p>
        </p:txBody>
      </p:sp>
      <p:sp>
        <p:nvSpPr>
          <p:cNvPr id="43" name="Text 34"/>
          <p:cNvSpPr txBox="1"/>
          <p:nvPr/>
        </p:nvSpPr>
        <p:spPr>
          <a:xfrm>
            <a:off x="9267444" y="5504688"/>
            <a:ext cx="2144268" cy="603504"/>
          </a:xfrm>
          <a:prstGeom prst="rect">
            <a:avLst/>
          </a:prstGeom>
          <a:noFill/>
          <a:ln/>
        </p:spPr>
        <p:txBody>
          <a:bodyPr wrap="square" lIns="0" tIns="0" rIns="0" bIns="0" rtlCol="0" anchor="t"/>
          <a:lstStyle/>
          <a:p>
            <a:pPr indent="0" marL="0">
              <a:buNone/>
            </a:pPr>
            <a:r>
              <a:rPr lang="en-US" sz="1250" dirty="0">
                <a:solidFill>
                  <a:schemeClr val="accent5"/>
                </a:solidFill>
              </a:rPr>
              <a:t>Forecasts sealed with SHA-256 before airing. If a simple rule wins, the rule ships.</a:t>
            </a:r>
            <a:endParaRPr lang="en-US" sz="12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03 — HOW IT WORKS</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From public signals to a launch verdict</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Public data only, collected every day for the titles still in play. The model reruns all 1,400 titles in about 30 seconds.</a:t>
            </a:r>
            <a:endParaRPr lang="en-US" sz="1500" dirty="0"/>
          </a:p>
        </p:txBody>
      </p:sp>
      <p:sp>
        <p:nvSpPr>
          <p:cNvPr id="5" name="step-1"/>
          <p:cNvSpPr/>
          <p:nvPr/>
        </p:nvSpPr>
        <p:spPr>
          <a:xfrm>
            <a:off x="548640" y="2011680"/>
            <a:ext cx="402336" cy="402336"/>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51560" y="2011680"/>
            <a:ext cx="1463040" cy="402336"/>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Collect</a:t>
            </a:r>
            <a:endParaRPr lang="en-US" sz="1600" dirty="0"/>
          </a:p>
        </p:txBody>
      </p:sp>
      <p:sp>
        <p:nvSpPr>
          <p:cNvPr id="7" name="stage-Collect"/>
          <p:cNvSpPr/>
          <p:nvPr/>
        </p:nvSpPr>
        <p:spPr>
          <a:xfrm>
            <a:off x="548640" y="2560320"/>
            <a:ext cx="1965960" cy="274320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8" name="arrow-1"/>
          <p:cNvSpPr/>
          <p:nvPr/>
        </p:nvSpPr>
        <p:spPr>
          <a:xfrm>
            <a:off x="2578608" y="3749040"/>
            <a:ext cx="182880" cy="365760"/>
          </a:xfrm>
          <a:prstGeom prst="chevron">
            <a:avLst/>
          </a:prstGeom>
          <a:solidFill>
            <a:schemeClr val="accent1"/>
          </a:solidFill>
          <a:ln/>
        </p:spPr>
      </p:sp>
      <p:sp>
        <p:nvSpPr>
          <p:cNvPr id="9" name="step-2"/>
          <p:cNvSpPr/>
          <p:nvPr/>
        </p:nvSpPr>
        <p:spPr>
          <a:xfrm>
            <a:off x="2830068" y="2011680"/>
            <a:ext cx="402336" cy="402336"/>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3332988" y="2011680"/>
            <a:ext cx="1463040" cy="402336"/>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Understand</a:t>
            </a:r>
            <a:endParaRPr lang="en-US" sz="1600" dirty="0"/>
          </a:p>
        </p:txBody>
      </p:sp>
      <p:sp>
        <p:nvSpPr>
          <p:cNvPr id="11" name="stage-Understand"/>
          <p:cNvSpPr/>
          <p:nvPr/>
        </p:nvSpPr>
        <p:spPr>
          <a:xfrm>
            <a:off x="2830068" y="2560320"/>
            <a:ext cx="1965960" cy="274320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12" name="arrow-2"/>
          <p:cNvSpPr/>
          <p:nvPr/>
        </p:nvSpPr>
        <p:spPr>
          <a:xfrm>
            <a:off x="4860036" y="3749040"/>
            <a:ext cx="182880" cy="365760"/>
          </a:xfrm>
          <a:prstGeom prst="chevron">
            <a:avLst/>
          </a:prstGeom>
          <a:solidFill>
            <a:schemeClr val="accent1"/>
          </a:solidFill>
          <a:ln/>
        </p:spPr>
      </p:sp>
      <p:sp>
        <p:nvSpPr>
          <p:cNvPr id="13" name="step-3"/>
          <p:cNvSpPr/>
          <p:nvPr/>
        </p:nvSpPr>
        <p:spPr>
          <a:xfrm>
            <a:off x="5111496" y="2011680"/>
            <a:ext cx="402336" cy="402336"/>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5614416" y="2011680"/>
            <a:ext cx="1463040" cy="402336"/>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Measure</a:t>
            </a:r>
            <a:endParaRPr lang="en-US" sz="1600" dirty="0"/>
          </a:p>
        </p:txBody>
      </p:sp>
      <p:sp>
        <p:nvSpPr>
          <p:cNvPr id="15" name="stage-Measure"/>
          <p:cNvSpPr/>
          <p:nvPr/>
        </p:nvSpPr>
        <p:spPr>
          <a:xfrm>
            <a:off x="5111496" y="2560320"/>
            <a:ext cx="1965960" cy="274320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16" name="arrow-3"/>
          <p:cNvSpPr/>
          <p:nvPr/>
        </p:nvSpPr>
        <p:spPr>
          <a:xfrm>
            <a:off x="7141464" y="3749040"/>
            <a:ext cx="182880" cy="365760"/>
          </a:xfrm>
          <a:prstGeom prst="chevron">
            <a:avLst/>
          </a:prstGeom>
          <a:solidFill>
            <a:schemeClr val="accent1"/>
          </a:solidFill>
          <a:ln/>
        </p:spPr>
      </p:sp>
      <p:sp>
        <p:nvSpPr>
          <p:cNvPr id="17" name="step-4"/>
          <p:cNvSpPr/>
          <p:nvPr/>
        </p:nvSpPr>
        <p:spPr>
          <a:xfrm>
            <a:off x="7392924" y="2011680"/>
            <a:ext cx="402336" cy="402336"/>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7895844" y="2011680"/>
            <a:ext cx="1463040" cy="402336"/>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Forecast</a:t>
            </a:r>
            <a:endParaRPr lang="en-US" sz="1600" dirty="0"/>
          </a:p>
        </p:txBody>
      </p:sp>
      <p:sp>
        <p:nvSpPr>
          <p:cNvPr id="19" name="stage-Forecast"/>
          <p:cNvSpPr/>
          <p:nvPr/>
        </p:nvSpPr>
        <p:spPr>
          <a:xfrm>
            <a:off x="7392924" y="2560320"/>
            <a:ext cx="1965960" cy="2743200"/>
          </a:xfrm>
          <a:prstGeom prst="roundRect">
            <a:avLst>
              <a:gd name="adj" fmla="val 3721"/>
            </a:avLst>
          </a:prstGeom>
          <a:solidFill>
            <a:schemeClr val="bg1"/>
          </a:solidFill>
          <a:ln/>
          <a:effectLst>
            <a:outerShdw sx="100000" sy="100000" kx="0" ky="0" algn="bl" rotWithShape="0" blurRad="114300" dist="25400" dir="5400000">
              <a:srgbClr val="141A33">
                <a:alpha val="13000"/>
              </a:srgbClr>
            </a:outerShdw>
          </a:effectLst>
        </p:spPr>
      </p:sp>
      <p:sp>
        <p:nvSpPr>
          <p:cNvPr id="20" name="arrow-4"/>
          <p:cNvSpPr/>
          <p:nvPr/>
        </p:nvSpPr>
        <p:spPr>
          <a:xfrm>
            <a:off x="9422892" y="3749040"/>
            <a:ext cx="182880" cy="365760"/>
          </a:xfrm>
          <a:prstGeom prst="chevron">
            <a:avLst/>
          </a:prstGeom>
          <a:solidFill>
            <a:schemeClr val="accent1"/>
          </a:solidFill>
          <a:ln/>
        </p:spPr>
      </p:sp>
      <p:sp>
        <p:nvSpPr>
          <p:cNvPr id="21" name="step-5"/>
          <p:cNvSpPr/>
          <p:nvPr/>
        </p:nvSpPr>
        <p:spPr>
          <a:xfrm>
            <a:off x="9674352" y="2011680"/>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20"/>
          <p:cNvSpPr txBox="1"/>
          <p:nvPr/>
        </p:nvSpPr>
        <p:spPr>
          <a:xfrm>
            <a:off x="10177272" y="2011680"/>
            <a:ext cx="1463040" cy="402336"/>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Deliver</a:t>
            </a:r>
            <a:endParaRPr lang="en-US" sz="1600" dirty="0"/>
          </a:p>
        </p:txBody>
      </p:sp>
      <p:sp>
        <p:nvSpPr>
          <p:cNvPr id="23" name="stage-Deliver"/>
          <p:cNvSpPr/>
          <p:nvPr/>
        </p:nvSpPr>
        <p:spPr>
          <a:xfrm>
            <a:off x="9674352" y="2560320"/>
            <a:ext cx="1965960" cy="2743200"/>
          </a:xfrm>
          <a:prstGeom prst="roundRect">
            <a:avLst>
              <a:gd name="adj" fmla="val 3721"/>
            </a:avLst>
          </a:prstGeom>
          <a:solidFill>
            <a:schemeClr val="tx2"/>
          </a:solidFill>
          <a:ln/>
          <a:effectLst>
            <a:outerShdw sx="100000" sy="100000" kx="0" ky="0" algn="bl" rotWithShape="0" blurRad="114300" dist="25400" dir="5400000">
              <a:srgbClr val="141A33">
                <a:alpha val="13000"/>
              </a:srgbClr>
            </a:outerShdw>
          </a:effectLst>
        </p:spPr>
      </p:sp>
      <p:sp>
        <p:nvSpPr>
          <p:cNvPr id="24" name="icon-FaTags"/>
          <p:cNvSpPr/>
          <p:nvPr/>
        </p:nvSpPr>
        <p:spPr>
          <a:xfrm>
            <a:off x="676656" y="2761488"/>
            <a:ext cx="365760" cy="365760"/>
          </a:xfrm>
          <a:prstGeom prst="ellipse">
            <a:avLst/>
          </a:prstGeom>
          <a:solidFill>
            <a:schemeClr val="tx2"/>
          </a:solidFill>
          <a:ln/>
        </p:spPr>
      </p:sp>
      <p:pic>
        <p:nvPicPr>
          <p:cNvPr id="25" name="Image 0" descr="Tags icon">    </p:cNvPr>
          <p:cNvPicPr>
            <a:picLocks noChangeAspect="1"/>
          </p:cNvPicPr>
          <p:nvPr/>
        </p:nvPicPr>
        <p:blipFill>
          <a:blip r:embed="rId1"/>
          <a:stretch>
            <a:fillRect/>
          </a:stretch>
        </p:blipFill>
        <p:spPr>
          <a:xfrm>
            <a:off x="764438" y="2849270"/>
            <a:ext cx="190195" cy="190195"/>
          </a:xfrm>
          <a:prstGeom prst="rect">
            <a:avLst/>
          </a:prstGeom>
        </p:spPr>
      </p:pic>
      <p:sp>
        <p:nvSpPr>
          <p:cNvPr id="26" name="Text 23"/>
          <p:cNvSpPr txBox="1"/>
          <p:nvPr/>
        </p:nvSpPr>
        <p:spPr>
          <a:xfrm>
            <a:off x="1133856" y="2688336"/>
            <a:ext cx="1325880" cy="256032"/>
          </a:xfrm>
          <a:prstGeom prst="rect">
            <a:avLst/>
          </a:prstGeom>
          <a:noFill/>
          <a:ln/>
        </p:spPr>
        <p:txBody>
          <a:bodyPr wrap="square" lIns="0" tIns="0" rIns="0" bIns="0" rtlCol="0" anchor="ctr"/>
          <a:lstStyle/>
          <a:p>
            <a:pPr indent="0" marL="0">
              <a:buNone/>
            </a:pPr>
            <a:r>
              <a:rPr lang="en-US" sz="1250" b="1" dirty="0">
                <a:solidFill>
                  <a:schemeClr val="tx1"/>
                </a:solidFill>
              </a:rPr>
              <a:t>AniList</a:t>
            </a:r>
            <a:endParaRPr lang="en-US" sz="1250" dirty="0"/>
          </a:p>
        </p:txBody>
      </p:sp>
      <p:sp>
        <p:nvSpPr>
          <p:cNvPr id="27" name="Text 24"/>
          <p:cNvSpPr txBox="1"/>
          <p:nvPr/>
        </p:nvSpPr>
        <p:spPr>
          <a:xfrm>
            <a:off x="1133856" y="2944368"/>
            <a:ext cx="1325880" cy="329184"/>
          </a:xfrm>
          <a:prstGeom prst="rect">
            <a:avLst/>
          </a:prstGeom>
          <a:noFill/>
          <a:ln/>
        </p:spPr>
        <p:txBody>
          <a:bodyPr wrap="square" lIns="0" tIns="0" rIns="0" bIns="0" rtlCol="0" anchor="t"/>
          <a:lstStyle/>
          <a:p>
            <a:pPr indent="0" marL="0">
              <a:buNone/>
            </a:pPr>
            <a:r>
              <a:rPr lang="en-US" sz="1050" dirty="0">
                <a:solidFill>
                  <a:schemeClr val="accent5"/>
                </a:solidFill>
              </a:rPr>
              <a:t>genre, studio, source, tags</a:t>
            </a:r>
            <a:endParaRPr lang="en-US" sz="1050" dirty="0"/>
          </a:p>
        </p:txBody>
      </p:sp>
      <p:sp>
        <p:nvSpPr>
          <p:cNvPr id="28" name="icon-FaCommentDots"/>
          <p:cNvSpPr/>
          <p:nvPr/>
        </p:nvSpPr>
        <p:spPr>
          <a:xfrm>
            <a:off x="676656" y="3401568"/>
            <a:ext cx="365760" cy="365760"/>
          </a:xfrm>
          <a:prstGeom prst="ellipse">
            <a:avLst/>
          </a:prstGeom>
          <a:solidFill>
            <a:schemeClr val="tx2"/>
          </a:solidFill>
          <a:ln/>
        </p:spPr>
      </p:sp>
      <p:pic>
        <p:nvPicPr>
          <p:cNvPr id="29" name="Image 1" descr="CommentDots icon">    </p:cNvPr>
          <p:cNvPicPr>
            <a:picLocks noChangeAspect="1"/>
          </p:cNvPicPr>
          <p:nvPr/>
        </p:nvPicPr>
        <p:blipFill>
          <a:blip r:embed="rId2"/>
          <a:stretch>
            <a:fillRect/>
          </a:stretch>
        </p:blipFill>
        <p:spPr>
          <a:xfrm>
            <a:off x="764438" y="3489350"/>
            <a:ext cx="190195" cy="190195"/>
          </a:xfrm>
          <a:prstGeom prst="rect">
            <a:avLst/>
          </a:prstGeom>
        </p:spPr>
      </p:pic>
      <p:sp>
        <p:nvSpPr>
          <p:cNvPr id="30" name="Text 26"/>
          <p:cNvSpPr txBox="1"/>
          <p:nvPr/>
        </p:nvSpPr>
        <p:spPr>
          <a:xfrm>
            <a:off x="1133856" y="3328416"/>
            <a:ext cx="1325880" cy="256032"/>
          </a:xfrm>
          <a:prstGeom prst="rect">
            <a:avLst/>
          </a:prstGeom>
          <a:noFill/>
          <a:ln/>
        </p:spPr>
        <p:txBody>
          <a:bodyPr wrap="square" lIns="0" tIns="0" rIns="0" bIns="0" rtlCol="0" anchor="ctr"/>
          <a:lstStyle/>
          <a:p>
            <a:pPr indent="0" marL="0">
              <a:buNone/>
            </a:pPr>
            <a:r>
              <a:rPr lang="en-US" sz="1250" b="1" dirty="0">
                <a:solidFill>
                  <a:schemeClr val="tx1"/>
                </a:solidFill>
              </a:rPr>
              <a:t>YouTube trailers</a:t>
            </a:r>
            <a:endParaRPr lang="en-US" sz="1250" dirty="0"/>
          </a:p>
        </p:txBody>
      </p:sp>
      <p:sp>
        <p:nvSpPr>
          <p:cNvPr id="31" name="Text 27"/>
          <p:cNvSpPr txBox="1"/>
          <p:nvPr/>
        </p:nvSpPr>
        <p:spPr>
          <a:xfrm>
            <a:off x="1133856" y="3584448"/>
            <a:ext cx="1325880" cy="329184"/>
          </a:xfrm>
          <a:prstGeom prst="rect">
            <a:avLst/>
          </a:prstGeom>
          <a:noFill/>
          <a:ln/>
        </p:spPr>
        <p:txBody>
          <a:bodyPr wrap="square" lIns="0" tIns="0" rIns="0" bIns="0" rtlCol="0" anchor="t"/>
          <a:lstStyle/>
          <a:p>
            <a:pPr indent="0" marL="0">
              <a:buNone/>
            </a:pPr>
            <a:r>
              <a:rPr lang="en-US" sz="1050" dirty="0">
                <a:solidFill>
                  <a:schemeClr val="accent5"/>
                </a:solidFill>
              </a:rPr>
              <a:t>comments, day by day</a:t>
            </a:r>
            <a:endParaRPr lang="en-US" sz="1050" dirty="0"/>
          </a:p>
        </p:txBody>
      </p:sp>
      <p:sp>
        <p:nvSpPr>
          <p:cNvPr id="32" name="icon-FaBookOpen"/>
          <p:cNvSpPr/>
          <p:nvPr/>
        </p:nvSpPr>
        <p:spPr>
          <a:xfrm>
            <a:off x="676656" y="4041648"/>
            <a:ext cx="365760" cy="365760"/>
          </a:xfrm>
          <a:prstGeom prst="ellipse">
            <a:avLst/>
          </a:prstGeom>
          <a:solidFill>
            <a:schemeClr val="tx2"/>
          </a:solidFill>
          <a:ln/>
        </p:spPr>
      </p:sp>
      <p:pic>
        <p:nvPicPr>
          <p:cNvPr id="33" name="Image 2" descr="BookOpen icon">    </p:cNvPr>
          <p:cNvPicPr>
            <a:picLocks noChangeAspect="1"/>
          </p:cNvPicPr>
          <p:nvPr/>
        </p:nvPicPr>
        <p:blipFill>
          <a:blip r:embed="rId3"/>
          <a:stretch>
            <a:fillRect/>
          </a:stretch>
        </p:blipFill>
        <p:spPr>
          <a:xfrm>
            <a:off x="764438" y="4129430"/>
            <a:ext cx="190195" cy="190195"/>
          </a:xfrm>
          <a:prstGeom prst="rect">
            <a:avLst/>
          </a:prstGeom>
        </p:spPr>
      </p:pic>
      <p:sp>
        <p:nvSpPr>
          <p:cNvPr id="34" name="Text 29"/>
          <p:cNvSpPr txBox="1"/>
          <p:nvPr/>
        </p:nvSpPr>
        <p:spPr>
          <a:xfrm>
            <a:off x="1133856" y="3968496"/>
            <a:ext cx="1325880" cy="256032"/>
          </a:xfrm>
          <a:prstGeom prst="rect">
            <a:avLst/>
          </a:prstGeom>
          <a:noFill/>
          <a:ln/>
        </p:spPr>
        <p:txBody>
          <a:bodyPr wrap="square" lIns="0" tIns="0" rIns="0" bIns="0" rtlCol="0" anchor="ctr"/>
          <a:lstStyle/>
          <a:p>
            <a:pPr indent="0" marL="0">
              <a:buNone/>
            </a:pPr>
            <a:r>
              <a:rPr lang="en-US" sz="1250" b="1" dirty="0">
                <a:solidFill>
                  <a:schemeClr val="tx1"/>
                </a:solidFill>
              </a:rPr>
              <a:t>Wikipedia</a:t>
            </a:r>
            <a:endParaRPr lang="en-US" sz="1250" dirty="0"/>
          </a:p>
        </p:txBody>
      </p:sp>
      <p:sp>
        <p:nvSpPr>
          <p:cNvPr id="35" name="Text 30"/>
          <p:cNvSpPr txBox="1"/>
          <p:nvPr/>
        </p:nvSpPr>
        <p:spPr>
          <a:xfrm>
            <a:off x="1133856" y="4224528"/>
            <a:ext cx="1325880" cy="329184"/>
          </a:xfrm>
          <a:prstGeom prst="rect">
            <a:avLst/>
          </a:prstGeom>
          <a:noFill/>
          <a:ln/>
        </p:spPr>
        <p:txBody>
          <a:bodyPr wrap="square" lIns="0" tIns="0" rIns="0" bIns="0" rtlCol="0" anchor="t"/>
          <a:lstStyle/>
          <a:p>
            <a:pPr indent="0" marL="0">
              <a:buNone/>
            </a:pPr>
            <a:r>
              <a:rPr lang="en-US" sz="1050" dirty="0">
                <a:solidFill>
                  <a:schemeClr val="accent5"/>
                </a:solidFill>
              </a:rPr>
              <a:t>views: en · ja · hi · ta · te</a:t>
            </a:r>
            <a:endParaRPr lang="en-US" sz="1050" dirty="0"/>
          </a:p>
        </p:txBody>
      </p:sp>
      <p:sp>
        <p:nvSpPr>
          <p:cNvPr id="36" name="icon-FaTv"/>
          <p:cNvSpPr/>
          <p:nvPr/>
        </p:nvSpPr>
        <p:spPr>
          <a:xfrm>
            <a:off x="676656" y="4681728"/>
            <a:ext cx="365760" cy="365760"/>
          </a:xfrm>
          <a:prstGeom prst="ellipse">
            <a:avLst/>
          </a:prstGeom>
          <a:solidFill>
            <a:schemeClr val="tx2"/>
          </a:solidFill>
          <a:ln/>
        </p:spPr>
      </p:sp>
      <p:pic>
        <p:nvPicPr>
          <p:cNvPr id="37" name="Image 3" descr="Tv icon">    </p:cNvPr>
          <p:cNvPicPr>
            <a:picLocks noChangeAspect="1"/>
          </p:cNvPicPr>
          <p:nvPr/>
        </p:nvPicPr>
        <p:blipFill>
          <a:blip r:embed="rId4"/>
          <a:stretch>
            <a:fillRect/>
          </a:stretch>
        </p:blipFill>
        <p:spPr>
          <a:xfrm>
            <a:off x="764438" y="4769510"/>
            <a:ext cx="190195" cy="190195"/>
          </a:xfrm>
          <a:prstGeom prst="rect">
            <a:avLst/>
          </a:prstGeom>
        </p:spPr>
      </p:pic>
      <p:sp>
        <p:nvSpPr>
          <p:cNvPr id="38" name="Text 32"/>
          <p:cNvSpPr txBox="1"/>
          <p:nvPr/>
        </p:nvSpPr>
        <p:spPr>
          <a:xfrm>
            <a:off x="1133856" y="4608576"/>
            <a:ext cx="1325880" cy="256032"/>
          </a:xfrm>
          <a:prstGeom prst="rect">
            <a:avLst/>
          </a:prstGeom>
          <a:noFill/>
          <a:ln/>
        </p:spPr>
        <p:txBody>
          <a:bodyPr wrap="square" lIns="0" tIns="0" rIns="0" bIns="0" rtlCol="0" anchor="ctr"/>
          <a:lstStyle/>
          <a:p>
            <a:pPr indent="0" marL="0">
              <a:buNone/>
            </a:pPr>
            <a:r>
              <a:rPr lang="en-US" sz="1250" b="1" dirty="0">
                <a:solidFill>
                  <a:schemeClr val="tx1"/>
                </a:solidFill>
              </a:rPr>
              <a:t>Netflix India</a:t>
            </a:r>
            <a:endParaRPr lang="en-US" sz="1250" dirty="0"/>
          </a:p>
        </p:txBody>
      </p:sp>
      <p:sp>
        <p:nvSpPr>
          <p:cNvPr id="39" name="Text 33"/>
          <p:cNvSpPr txBox="1"/>
          <p:nvPr/>
        </p:nvSpPr>
        <p:spPr>
          <a:xfrm>
            <a:off x="1133856" y="4864608"/>
            <a:ext cx="1325880" cy="329184"/>
          </a:xfrm>
          <a:prstGeom prst="rect">
            <a:avLst/>
          </a:prstGeom>
          <a:noFill/>
          <a:ln/>
        </p:spPr>
        <p:txBody>
          <a:bodyPr wrap="square" lIns="0" tIns="0" rIns="0" bIns="0" rtlCol="0" anchor="t"/>
          <a:lstStyle/>
          <a:p>
            <a:pPr indent="0" marL="0">
              <a:buNone/>
            </a:pPr>
            <a:r>
              <a:rPr lang="en-US" sz="1050" dirty="0">
                <a:solidFill>
                  <a:schemeClr val="accent5"/>
                </a:solidFill>
              </a:rPr>
              <a:t>weekly Top 10 chart</a:t>
            </a:r>
            <a:endParaRPr lang="en-US" sz="1050" dirty="0"/>
          </a:p>
        </p:txBody>
      </p:sp>
      <p:sp>
        <p:nvSpPr>
          <p:cNvPr id="40" name="Text 34"/>
          <p:cNvSpPr txBox="1"/>
          <p:nvPr/>
        </p:nvSpPr>
        <p:spPr>
          <a:xfrm>
            <a:off x="2967228" y="2688336"/>
            <a:ext cx="1691640" cy="274320"/>
          </a:xfrm>
          <a:prstGeom prst="rect">
            <a:avLst/>
          </a:prstGeom>
          <a:noFill/>
          <a:ln/>
        </p:spPr>
        <p:txBody>
          <a:bodyPr wrap="square" lIns="0" tIns="0" rIns="0" bIns="0" rtlCol="0" anchor="ctr"/>
          <a:lstStyle/>
          <a:p>
            <a:pPr indent="0" marL="0">
              <a:buNone/>
            </a:pPr>
            <a:r>
              <a:rPr lang="en-US" sz="1250" b="1" dirty="0">
                <a:solidFill>
                  <a:schemeClr val="tx1"/>
                </a:solidFill>
              </a:rPr>
              <a:t>Hinglish &amp; language AI</a:t>
            </a:r>
            <a:endParaRPr lang="en-US" sz="1250" dirty="0"/>
          </a:p>
        </p:txBody>
      </p:sp>
      <p:sp>
        <p:nvSpPr>
          <p:cNvPr id="41" name="understand-1"/>
          <p:cNvSpPr/>
          <p:nvPr/>
        </p:nvSpPr>
        <p:spPr>
          <a:xfrm>
            <a:off x="2967228" y="3063240"/>
            <a:ext cx="1691640" cy="786384"/>
          </a:xfrm>
          <a:prstGeom prst="roundRect">
            <a:avLst>
              <a:gd name="adj" fmla="val 9302"/>
            </a:avLst>
          </a:prstGeom>
          <a:solidFill>
            <a:schemeClr val="accent1">
              <a:alpha val="12000"/>
            </a:schemeClr>
          </a:solidFill>
          <a:ln/>
        </p:spPr>
      </p:sp>
      <p:sp>
        <p:nvSpPr>
          <p:cNvPr id="42" name="Text 36"/>
          <p:cNvSpPr txBox="1"/>
          <p:nvPr/>
        </p:nvSpPr>
        <p:spPr>
          <a:xfrm>
            <a:off x="3076956" y="3136392"/>
            <a:ext cx="1508760" cy="256032"/>
          </a:xfrm>
          <a:prstGeom prst="rect">
            <a:avLst/>
          </a:prstGeom>
          <a:noFill/>
          <a:ln/>
        </p:spPr>
        <p:txBody>
          <a:bodyPr wrap="square" lIns="0" tIns="0" rIns="0" bIns="0" rtlCol="0" anchor="ctr"/>
          <a:lstStyle/>
          <a:p>
            <a:pPr indent="0" marL="0">
              <a:buNone/>
            </a:pPr>
            <a:r>
              <a:rPr lang="en-US" sz="1200" b="1" dirty="0">
                <a:solidFill>
                  <a:schemeClr val="accent1"/>
                </a:solidFill>
              </a:rPr>
              <a:t>Word rules</a:t>
            </a:r>
            <a:endParaRPr lang="en-US" sz="1200" dirty="0"/>
          </a:p>
        </p:txBody>
      </p:sp>
      <p:sp>
        <p:nvSpPr>
          <p:cNvPr id="43" name="Text 37"/>
          <p:cNvSpPr txBox="1"/>
          <p:nvPr/>
        </p:nvSpPr>
        <p:spPr>
          <a:xfrm>
            <a:off x="3076956" y="3401568"/>
            <a:ext cx="1508760" cy="411480"/>
          </a:xfrm>
          <a:prstGeom prst="rect">
            <a:avLst/>
          </a:prstGeom>
          <a:noFill/>
          <a:ln/>
        </p:spPr>
        <p:txBody>
          <a:bodyPr wrap="square" lIns="0" tIns="0" rIns="0" bIns="0" rtlCol="0" anchor="t"/>
          <a:lstStyle/>
          <a:p>
            <a:pPr indent="0" marL="0">
              <a:buNone/>
            </a:pPr>
            <a:r>
              <a:rPr lang="en-US" sz="1050" dirty="0">
                <a:solidFill>
                  <a:schemeClr val="tx1"/>
                </a:solidFill>
              </a:rPr>
              <a:t>Indian scripts, Hinglish words, India mentions</a:t>
            </a:r>
            <a:endParaRPr lang="en-US" sz="1050" dirty="0"/>
          </a:p>
        </p:txBody>
      </p:sp>
      <p:sp>
        <p:nvSpPr>
          <p:cNvPr id="44" name="understand-2"/>
          <p:cNvSpPr/>
          <p:nvPr/>
        </p:nvSpPr>
        <p:spPr>
          <a:xfrm>
            <a:off x="2967228" y="3959352"/>
            <a:ext cx="1691640" cy="786384"/>
          </a:xfrm>
          <a:prstGeom prst="roundRect">
            <a:avLst>
              <a:gd name="adj" fmla="val 9302"/>
            </a:avLst>
          </a:prstGeom>
          <a:solidFill>
            <a:schemeClr val="accent1">
              <a:alpha val="12000"/>
            </a:schemeClr>
          </a:solidFill>
          <a:ln/>
        </p:spPr>
      </p:sp>
      <p:sp>
        <p:nvSpPr>
          <p:cNvPr id="45" name="Text 39"/>
          <p:cNvSpPr txBox="1"/>
          <p:nvPr/>
        </p:nvSpPr>
        <p:spPr>
          <a:xfrm>
            <a:off x="3076956" y="4032504"/>
            <a:ext cx="1508760" cy="256032"/>
          </a:xfrm>
          <a:prstGeom prst="rect">
            <a:avLst/>
          </a:prstGeom>
          <a:noFill/>
          <a:ln/>
        </p:spPr>
        <p:txBody>
          <a:bodyPr wrap="square" lIns="0" tIns="0" rIns="0" bIns="0" rtlCol="0" anchor="ctr"/>
          <a:lstStyle/>
          <a:p>
            <a:pPr indent="0" marL="0">
              <a:buNone/>
            </a:pPr>
            <a:r>
              <a:rPr lang="en-US" sz="1200" b="1" dirty="0">
                <a:solidFill>
                  <a:schemeClr val="accent1"/>
                </a:solidFill>
              </a:rPr>
              <a:t>AI4Bharat IndicLID</a:t>
            </a:r>
            <a:endParaRPr lang="en-US" sz="1200" dirty="0"/>
          </a:p>
        </p:txBody>
      </p:sp>
      <p:sp>
        <p:nvSpPr>
          <p:cNvPr id="46" name="Text 40"/>
          <p:cNvSpPr txBox="1"/>
          <p:nvPr/>
        </p:nvSpPr>
        <p:spPr>
          <a:xfrm>
            <a:off x="3076956" y="4297680"/>
            <a:ext cx="1508760" cy="411480"/>
          </a:xfrm>
          <a:prstGeom prst="rect">
            <a:avLst/>
          </a:prstGeom>
          <a:noFill/>
          <a:ln/>
        </p:spPr>
        <p:txBody>
          <a:bodyPr wrap="square" lIns="0" tIns="0" rIns="0" bIns="0" rtlCol="0" anchor="t"/>
          <a:lstStyle/>
          <a:p>
            <a:pPr indent="0" marL="0">
              <a:buNone/>
            </a:pPr>
            <a:r>
              <a:rPr lang="en-US" sz="1050" dirty="0">
                <a:solidFill>
                  <a:schemeClr val="tx1"/>
                </a:solidFill>
              </a:rPr>
              <a:t>confirms short Hinglish the rules miss</a:t>
            </a:r>
            <a:endParaRPr lang="en-US" sz="1050" dirty="0"/>
          </a:p>
        </p:txBody>
      </p:sp>
      <p:sp>
        <p:nvSpPr>
          <p:cNvPr id="47" name="Text 41"/>
          <p:cNvSpPr txBox="1"/>
          <p:nvPr/>
        </p:nvSpPr>
        <p:spPr>
          <a:xfrm>
            <a:off x="2967228" y="4864608"/>
            <a:ext cx="1691640" cy="365760"/>
          </a:xfrm>
          <a:prstGeom prst="rect">
            <a:avLst/>
          </a:prstGeom>
          <a:noFill/>
          <a:ln/>
        </p:spPr>
        <p:txBody>
          <a:bodyPr wrap="square" lIns="0" tIns="0" rIns="0" bIns="0" rtlCol="0" anchor="t"/>
          <a:lstStyle/>
          <a:p>
            <a:pPr indent="0" marL="0">
              <a:buNone/>
            </a:pPr>
            <a:r>
              <a:rPr lang="en-US" sz="1050" b="1" dirty="0">
                <a:solidFill>
                  <a:schemeClr val="accent5"/>
                </a:solidFill>
              </a:rPr>
              <a:t>Out: </a:t>
            </a:r>
            <a:pPr indent="0" marL="0">
              <a:buNone/>
            </a:pPr>
            <a:r>
              <a:rPr lang="en-US" sz="1050" dirty="0">
                <a:solidFill>
                  <a:schemeClr val="accent5"/>
                </a:solidFill>
              </a:rPr>
              <a:t>India-fan flag, language hub, dub ask</a:t>
            </a:r>
            <a:endParaRPr lang="en-US" sz="1050" dirty="0"/>
          </a:p>
        </p:txBody>
      </p:sp>
      <p:sp>
        <p:nvSpPr>
          <p:cNvPr id="48" name="Text 42"/>
          <p:cNvSpPr txBox="1"/>
          <p:nvPr/>
        </p:nvSpPr>
        <p:spPr>
          <a:xfrm>
            <a:off x="5248656" y="2688336"/>
            <a:ext cx="1691640" cy="274320"/>
          </a:xfrm>
          <a:prstGeom prst="rect">
            <a:avLst/>
          </a:prstGeom>
          <a:noFill/>
          <a:ln/>
        </p:spPr>
        <p:txBody>
          <a:bodyPr wrap="square" lIns="0" tIns="0" rIns="0" bIns="0" rtlCol="0" anchor="ctr"/>
          <a:lstStyle/>
          <a:p>
            <a:pPr indent="0" marL="0">
              <a:buNone/>
            </a:pPr>
            <a:r>
              <a:rPr lang="en-US" sz="1250" b="1" dirty="0">
                <a:solidFill>
                  <a:schemeClr val="tx1"/>
                </a:solidFill>
              </a:rPr>
              <a:t>India Demand Index</a:t>
            </a:r>
            <a:endParaRPr lang="en-US" sz="1250" dirty="0"/>
          </a:p>
        </p:txBody>
      </p:sp>
      <p:sp>
        <p:nvSpPr>
          <p:cNvPr id="49" name="Text 43"/>
          <p:cNvSpPr txBox="1"/>
          <p:nvPr/>
        </p:nvSpPr>
        <p:spPr>
          <a:xfrm>
            <a:off x="5248656" y="2962656"/>
            <a:ext cx="1691640" cy="365760"/>
          </a:xfrm>
          <a:prstGeom prst="rect">
            <a:avLst/>
          </a:prstGeom>
          <a:noFill/>
          <a:ln/>
        </p:spPr>
        <p:txBody>
          <a:bodyPr wrap="square" lIns="0" tIns="0" rIns="0" bIns="0" rtlCol="0" anchor="t"/>
          <a:lstStyle/>
          <a:p>
            <a:pPr indent="0" marL="0">
              <a:buNone/>
            </a:pPr>
            <a:r>
              <a:rPr lang="en-US" sz="1050" dirty="0">
                <a:solidFill>
                  <a:schemeClr val="accent5"/>
                </a:solidFill>
              </a:rPr>
              <a:t>0–100 for every title, from its first 28 days</a:t>
            </a:r>
            <a:endParaRPr lang="en-US" sz="1050" dirty="0"/>
          </a:p>
        </p:txBody>
      </p:sp>
      <p:sp>
        <p:nvSpPr>
          <p:cNvPr id="50" name="index-part"/>
          <p:cNvSpPr/>
          <p:nvPr/>
        </p:nvSpPr>
        <p:spPr>
          <a:xfrm>
            <a:off x="5248656" y="3456432"/>
            <a:ext cx="845820" cy="310896"/>
          </a:xfrm>
          <a:prstGeom prst="rect">
            <a:avLst/>
          </a:prstGeom>
          <a:solidFill>
            <a:schemeClr val="accent1"/>
          </a:solidFill>
          <a:ln w="12700">
            <a:solidFill>
              <a:schemeClr val="bg1"/>
            </a:solidFill>
            <a:prstDash val="solid"/>
          </a:ln>
        </p:spPr>
      </p:sp>
      <p:sp>
        <p:nvSpPr>
          <p:cNvPr id="51" name="index-part"/>
          <p:cNvSpPr/>
          <p:nvPr/>
        </p:nvSpPr>
        <p:spPr>
          <a:xfrm>
            <a:off x="6094476" y="3456432"/>
            <a:ext cx="558241" cy="310896"/>
          </a:xfrm>
          <a:prstGeom prst="rect">
            <a:avLst/>
          </a:prstGeom>
          <a:solidFill>
            <a:schemeClr val="accent4"/>
          </a:solidFill>
          <a:ln w="12700">
            <a:solidFill>
              <a:schemeClr val="bg1"/>
            </a:solidFill>
            <a:prstDash val="solid"/>
          </a:ln>
        </p:spPr>
      </p:sp>
      <p:sp>
        <p:nvSpPr>
          <p:cNvPr id="52" name="index-part"/>
          <p:cNvSpPr/>
          <p:nvPr/>
        </p:nvSpPr>
        <p:spPr>
          <a:xfrm>
            <a:off x="6652717" y="3456432"/>
            <a:ext cx="287579" cy="310896"/>
          </a:xfrm>
          <a:prstGeom prst="rect">
            <a:avLst/>
          </a:prstGeom>
          <a:solidFill>
            <a:schemeClr val="accent3"/>
          </a:solidFill>
          <a:ln w="12700">
            <a:solidFill>
              <a:schemeClr val="bg1"/>
            </a:solidFill>
            <a:prstDash val="solid"/>
          </a:ln>
        </p:spPr>
      </p:sp>
      <p:sp>
        <p:nvSpPr>
          <p:cNvPr id="53" name="Shape 47"/>
          <p:cNvSpPr/>
          <p:nvPr/>
        </p:nvSpPr>
        <p:spPr>
          <a:xfrm>
            <a:off x="5248656" y="3986784"/>
            <a:ext cx="128016" cy="128016"/>
          </a:xfrm>
          <a:prstGeom prst="rect">
            <a:avLst/>
          </a:prstGeom>
          <a:solidFill>
            <a:schemeClr val="accent1"/>
          </a:solidFill>
          <a:ln/>
        </p:spPr>
      </p:sp>
      <p:sp>
        <p:nvSpPr>
          <p:cNvPr id="54" name="Text 48"/>
          <p:cNvSpPr txBox="1"/>
          <p:nvPr/>
        </p:nvSpPr>
        <p:spPr>
          <a:xfrm>
            <a:off x="5440680" y="3913632"/>
            <a:ext cx="1554480" cy="274320"/>
          </a:xfrm>
          <a:prstGeom prst="rect">
            <a:avLst/>
          </a:prstGeom>
          <a:noFill/>
          <a:ln/>
        </p:spPr>
        <p:txBody>
          <a:bodyPr wrap="square" lIns="0" tIns="0" rIns="0" bIns="0" rtlCol="0" anchor="ctr"/>
          <a:lstStyle/>
          <a:p>
            <a:pPr indent="0" marL="0">
              <a:buNone/>
            </a:pPr>
            <a:r>
              <a:rPr lang="en-US" sz="1050" b="1" dirty="0">
                <a:solidFill>
                  <a:schemeClr val="tx1"/>
                </a:solidFill>
              </a:rPr>
              <a:t>50%  </a:t>
            </a:r>
            <a:pPr indent="0" marL="0">
              <a:buNone/>
            </a:pPr>
            <a:r>
              <a:rPr lang="en-US" sz="1050" dirty="0">
                <a:solidFill>
                  <a:schemeClr val="tx1"/>
                </a:solidFill>
              </a:rPr>
              <a:t>YouTube India comments</a:t>
            </a:r>
            <a:endParaRPr lang="en-US" sz="1050" dirty="0"/>
          </a:p>
        </p:txBody>
      </p:sp>
      <p:sp>
        <p:nvSpPr>
          <p:cNvPr id="55" name="Shape 49"/>
          <p:cNvSpPr/>
          <p:nvPr/>
        </p:nvSpPr>
        <p:spPr>
          <a:xfrm>
            <a:off x="5248656" y="4297680"/>
            <a:ext cx="128016" cy="128016"/>
          </a:xfrm>
          <a:prstGeom prst="rect">
            <a:avLst/>
          </a:prstGeom>
          <a:solidFill>
            <a:schemeClr val="accent4"/>
          </a:solidFill>
          <a:ln/>
        </p:spPr>
      </p:sp>
      <p:sp>
        <p:nvSpPr>
          <p:cNvPr id="56" name="Text 50"/>
          <p:cNvSpPr txBox="1"/>
          <p:nvPr/>
        </p:nvSpPr>
        <p:spPr>
          <a:xfrm>
            <a:off x="5440680" y="4224528"/>
            <a:ext cx="1554480" cy="274320"/>
          </a:xfrm>
          <a:prstGeom prst="rect">
            <a:avLst/>
          </a:prstGeom>
          <a:noFill/>
          <a:ln/>
        </p:spPr>
        <p:txBody>
          <a:bodyPr wrap="square" lIns="0" tIns="0" rIns="0" bIns="0" rtlCol="0" anchor="ctr"/>
          <a:lstStyle/>
          <a:p>
            <a:pPr indent="0" marL="0">
              <a:buNone/>
            </a:pPr>
            <a:r>
              <a:rPr lang="en-US" sz="1050" b="1" dirty="0">
                <a:solidFill>
                  <a:schemeClr val="tx1"/>
                </a:solidFill>
              </a:rPr>
              <a:t>33%  </a:t>
            </a:r>
            <a:pPr indent="0" marL="0">
              <a:buNone/>
            </a:pPr>
            <a:r>
              <a:rPr lang="en-US" sz="1050" dirty="0">
                <a:solidFill>
                  <a:schemeClr val="tx1"/>
                </a:solidFill>
              </a:rPr>
              <a:t>Netflix India Top 10</a:t>
            </a:r>
            <a:endParaRPr lang="en-US" sz="1050" dirty="0"/>
          </a:p>
        </p:txBody>
      </p:sp>
      <p:sp>
        <p:nvSpPr>
          <p:cNvPr id="57" name="Shape 51"/>
          <p:cNvSpPr/>
          <p:nvPr/>
        </p:nvSpPr>
        <p:spPr>
          <a:xfrm>
            <a:off x="5248656" y="4608576"/>
            <a:ext cx="128016" cy="128016"/>
          </a:xfrm>
          <a:prstGeom prst="rect">
            <a:avLst/>
          </a:prstGeom>
          <a:solidFill>
            <a:schemeClr val="accent3"/>
          </a:solidFill>
          <a:ln/>
        </p:spPr>
      </p:sp>
      <p:sp>
        <p:nvSpPr>
          <p:cNvPr id="58" name="Text 52"/>
          <p:cNvSpPr txBox="1"/>
          <p:nvPr/>
        </p:nvSpPr>
        <p:spPr>
          <a:xfrm>
            <a:off x="5440680" y="4535424"/>
            <a:ext cx="1554480" cy="274320"/>
          </a:xfrm>
          <a:prstGeom prst="rect">
            <a:avLst/>
          </a:prstGeom>
          <a:noFill/>
          <a:ln/>
        </p:spPr>
        <p:txBody>
          <a:bodyPr wrap="square" lIns="0" tIns="0" rIns="0" bIns="0" rtlCol="0" anchor="ctr"/>
          <a:lstStyle/>
          <a:p>
            <a:pPr indent="0" marL="0">
              <a:buNone/>
            </a:pPr>
            <a:r>
              <a:rPr lang="en-US" sz="1050" b="1" dirty="0">
                <a:solidFill>
                  <a:schemeClr val="tx1"/>
                </a:solidFill>
              </a:rPr>
              <a:t>17%  </a:t>
            </a:r>
            <a:pPr indent="0" marL="0">
              <a:buNone/>
            </a:pPr>
            <a:r>
              <a:rPr lang="en-US" sz="1050" dirty="0">
                <a:solidFill>
                  <a:schemeClr val="tx1"/>
                </a:solidFill>
              </a:rPr>
              <a:t>Wikipedia views</a:t>
            </a:r>
            <a:endParaRPr lang="en-US" sz="1050" dirty="0"/>
          </a:p>
        </p:txBody>
      </p:sp>
      <p:sp>
        <p:nvSpPr>
          <p:cNvPr id="59" name="Text 53"/>
          <p:cNvSpPr txBox="1"/>
          <p:nvPr/>
        </p:nvSpPr>
        <p:spPr>
          <a:xfrm>
            <a:off x="5248656" y="4864608"/>
            <a:ext cx="1691640" cy="365760"/>
          </a:xfrm>
          <a:prstGeom prst="rect">
            <a:avLst/>
          </a:prstGeom>
          <a:noFill/>
          <a:ln/>
        </p:spPr>
        <p:txBody>
          <a:bodyPr wrap="square" lIns="0" tIns="0" rIns="0" bIns="0" rtlCol="0" anchor="t"/>
          <a:lstStyle/>
          <a:p>
            <a:pPr indent="0" marL="0">
              <a:buNone/>
            </a:pPr>
            <a:r>
              <a:rPr lang="en-US" sz="1050" i="1" dirty="0">
                <a:solidFill>
                  <a:schemeClr val="accent5"/>
                </a:solidFill>
              </a:rPr>
              <a:t>Frozen scale: new titles never move old ones.</a:t>
            </a:r>
            <a:endParaRPr lang="en-US" sz="1050" dirty="0"/>
          </a:p>
        </p:txBody>
      </p:sp>
      <p:sp>
        <p:nvSpPr>
          <p:cNvPr id="60" name="Shape 54"/>
          <p:cNvSpPr/>
          <p:nvPr/>
        </p:nvSpPr>
        <p:spPr>
          <a:xfrm>
            <a:off x="7548372" y="2770632"/>
            <a:ext cx="118872" cy="118872"/>
          </a:xfrm>
          <a:prstGeom prst="ellipse">
            <a:avLst/>
          </a:prstGeom>
          <a:solidFill>
            <a:schemeClr val="accent1"/>
          </a:solidFill>
          <a:ln/>
        </p:spPr>
      </p:sp>
      <p:sp>
        <p:nvSpPr>
          <p:cNvPr id="61" name="Text 55"/>
          <p:cNvSpPr txBox="1"/>
          <p:nvPr/>
        </p:nvSpPr>
        <p:spPr>
          <a:xfrm>
            <a:off x="7758684" y="2688336"/>
            <a:ext cx="1508760" cy="256032"/>
          </a:xfrm>
          <a:prstGeom prst="rect">
            <a:avLst/>
          </a:prstGeom>
          <a:noFill/>
          <a:ln/>
        </p:spPr>
        <p:txBody>
          <a:bodyPr wrap="square" lIns="0" tIns="0" rIns="0" bIns="0" rtlCol="0" anchor="ctr"/>
          <a:lstStyle/>
          <a:p>
            <a:pPr indent="0" marL="0">
              <a:buNone/>
            </a:pPr>
            <a:r>
              <a:rPr lang="en-US" sz="1250" b="1" dirty="0">
                <a:solidFill>
                  <a:schemeClr val="tx1"/>
                </a:solidFill>
              </a:rPr>
              <a:t>Lookalike</a:t>
            </a:r>
            <a:endParaRPr lang="en-US" sz="1250" dirty="0"/>
          </a:p>
        </p:txBody>
      </p:sp>
      <p:sp>
        <p:nvSpPr>
          <p:cNvPr id="62" name="Text 56"/>
          <p:cNvSpPr txBox="1"/>
          <p:nvPr/>
        </p:nvSpPr>
        <p:spPr>
          <a:xfrm>
            <a:off x="7758684" y="2944368"/>
            <a:ext cx="1508760" cy="365760"/>
          </a:xfrm>
          <a:prstGeom prst="rect">
            <a:avLst/>
          </a:prstGeom>
          <a:noFill/>
          <a:ln/>
        </p:spPr>
        <p:txBody>
          <a:bodyPr wrap="square" lIns="0" tIns="0" rIns="0" bIns="0" rtlCol="0" anchor="t"/>
          <a:lstStyle/>
          <a:p>
            <a:pPr indent="0" marL="0">
              <a:buNone/>
            </a:pPr>
            <a:r>
              <a:rPr lang="en-US" sz="1050" dirty="0">
                <a:solidFill>
                  <a:schemeClr val="accent5"/>
                </a:solidFill>
              </a:rPr>
              <a:t>the 10 closest past titles</a:t>
            </a:r>
            <a:endParaRPr lang="en-US" sz="1050" dirty="0"/>
          </a:p>
        </p:txBody>
      </p:sp>
      <p:sp>
        <p:nvSpPr>
          <p:cNvPr id="63" name="Shape 57"/>
          <p:cNvSpPr/>
          <p:nvPr/>
        </p:nvSpPr>
        <p:spPr>
          <a:xfrm>
            <a:off x="7548372" y="3401568"/>
            <a:ext cx="118872" cy="118872"/>
          </a:xfrm>
          <a:prstGeom prst="ellipse">
            <a:avLst/>
          </a:prstGeom>
          <a:solidFill>
            <a:schemeClr val="accent1"/>
          </a:solidFill>
          <a:ln/>
        </p:spPr>
      </p:sp>
      <p:sp>
        <p:nvSpPr>
          <p:cNvPr id="64" name="Text 58"/>
          <p:cNvSpPr txBox="1"/>
          <p:nvPr/>
        </p:nvSpPr>
        <p:spPr>
          <a:xfrm>
            <a:off x="7758684" y="3319272"/>
            <a:ext cx="1508760" cy="256032"/>
          </a:xfrm>
          <a:prstGeom prst="rect">
            <a:avLst/>
          </a:prstGeom>
          <a:noFill/>
          <a:ln/>
        </p:spPr>
        <p:txBody>
          <a:bodyPr wrap="square" lIns="0" tIns="0" rIns="0" bIns="0" rtlCol="0" anchor="ctr"/>
          <a:lstStyle/>
          <a:p>
            <a:pPr indent="0" marL="0">
              <a:buNone/>
            </a:pPr>
            <a:r>
              <a:rPr lang="en-US" sz="1250" b="1" dirty="0">
                <a:solidFill>
                  <a:schemeClr val="tx1"/>
                </a:solidFill>
              </a:rPr>
              <a:t>Blend</a:t>
            </a:r>
            <a:endParaRPr lang="en-US" sz="1250" dirty="0"/>
          </a:p>
        </p:txBody>
      </p:sp>
      <p:sp>
        <p:nvSpPr>
          <p:cNvPr id="65" name="Text 59"/>
          <p:cNvSpPr txBox="1"/>
          <p:nvPr/>
        </p:nvSpPr>
        <p:spPr>
          <a:xfrm>
            <a:off x="7758684" y="3575304"/>
            <a:ext cx="1508760" cy="365760"/>
          </a:xfrm>
          <a:prstGeom prst="rect">
            <a:avLst/>
          </a:prstGeom>
          <a:noFill/>
          <a:ln/>
        </p:spPr>
        <p:txBody>
          <a:bodyPr wrap="square" lIns="0" tIns="0" rIns="0" bIns="0" rtlCol="0" anchor="t"/>
          <a:lstStyle/>
          <a:p>
            <a:pPr indent="0" marL="0">
              <a:buNone/>
            </a:pPr>
            <a:r>
              <a:rPr lang="en-US" sz="1050" dirty="0">
                <a:solidFill>
                  <a:schemeClr val="accent5"/>
                </a:solidFill>
              </a:rPr>
              <a:t>metadata + buzz + prequel</a:t>
            </a:r>
            <a:endParaRPr lang="en-US" sz="1050" dirty="0"/>
          </a:p>
        </p:txBody>
      </p:sp>
      <p:sp>
        <p:nvSpPr>
          <p:cNvPr id="66" name="Shape 60"/>
          <p:cNvSpPr/>
          <p:nvPr/>
        </p:nvSpPr>
        <p:spPr>
          <a:xfrm>
            <a:off x="7548372" y="4032504"/>
            <a:ext cx="118872" cy="118872"/>
          </a:xfrm>
          <a:prstGeom prst="ellipse">
            <a:avLst/>
          </a:prstGeom>
          <a:solidFill>
            <a:schemeClr val="accent1"/>
          </a:solidFill>
          <a:ln/>
        </p:spPr>
      </p:sp>
      <p:sp>
        <p:nvSpPr>
          <p:cNvPr id="67" name="Text 61"/>
          <p:cNvSpPr txBox="1"/>
          <p:nvPr/>
        </p:nvSpPr>
        <p:spPr>
          <a:xfrm>
            <a:off x="7758684" y="3950208"/>
            <a:ext cx="1508760" cy="256032"/>
          </a:xfrm>
          <a:prstGeom prst="rect">
            <a:avLst/>
          </a:prstGeom>
          <a:noFill/>
          <a:ln/>
        </p:spPr>
        <p:txBody>
          <a:bodyPr wrap="square" lIns="0" tIns="0" rIns="0" bIns="0" rtlCol="0" anchor="ctr"/>
          <a:lstStyle/>
          <a:p>
            <a:pPr indent="0" marL="0">
              <a:buNone/>
            </a:pPr>
            <a:r>
              <a:rPr lang="en-US" sz="1250" b="1" dirty="0">
                <a:solidFill>
                  <a:schemeClr val="tx1"/>
                </a:solidFill>
              </a:rPr>
              <a:t>The gate</a:t>
            </a:r>
            <a:endParaRPr lang="en-US" sz="1250" dirty="0"/>
          </a:p>
        </p:txBody>
      </p:sp>
      <p:sp>
        <p:nvSpPr>
          <p:cNvPr id="68" name="Text 62"/>
          <p:cNvSpPr txBox="1"/>
          <p:nvPr/>
        </p:nvSpPr>
        <p:spPr>
          <a:xfrm>
            <a:off x="7758684" y="4206240"/>
            <a:ext cx="1508760" cy="365760"/>
          </a:xfrm>
          <a:prstGeom prst="rect">
            <a:avLst/>
          </a:prstGeom>
          <a:noFill/>
          <a:ln/>
        </p:spPr>
        <p:txBody>
          <a:bodyPr wrap="square" lIns="0" tIns="0" rIns="0" bIns="0" rtlCol="0" anchor="t"/>
          <a:lstStyle/>
          <a:p>
            <a:pPr indent="0" marL="0">
              <a:buNone/>
            </a:pPr>
            <a:r>
              <a:rPr lang="en-US" sz="1050" dirty="0">
                <a:solidFill>
                  <a:schemeClr val="accent5"/>
                </a:solidFill>
              </a:rPr>
              <a:t>beat simple rules, or step aside</a:t>
            </a:r>
            <a:endParaRPr lang="en-US" sz="1050" dirty="0"/>
          </a:p>
        </p:txBody>
      </p:sp>
      <p:sp>
        <p:nvSpPr>
          <p:cNvPr id="69" name="Shape 63"/>
          <p:cNvSpPr/>
          <p:nvPr/>
        </p:nvSpPr>
        <p:spPr>
          <a:xfrm>
            <a:off x="7548372" y="4663440"/>
            <a:ext cx="118872" cy="118872"/>
          </a:xfrm>
          <a:prstGeom prst="ellipse">
            <a:avLst/>
          </a:prstGeom>
          <a:solidFill>
            <a:schemeClr val="accent1"/>
          </a:solidFill>
          <a:ln/>
        </p:spPr>
      </p:sp>
      <p:sp>
        <p:nvSpPr>
          <p:cNvPr id="70" name="Text 64"/>
          <p:cNvSpPr txBox="1"/>
          <p:nvPr/>
        </p:nvSpPr>
        <p:spPr>
          <a:xfrm>
            <a:off x="7758684" y="4581144"/>
            <a:ext cx="1508760" cy="256032"/>
          </a:xfrm>
          <a:prstGeom prst="rect">
            <a:avLst/>
          </a:prstGeom>
          <a:noFill/>
          <a:ln/>
        </p:spPr>
        <p:txBody>
          <a:bodyPr wrap="square" lIns="0" tIns="0" rIns="0" bIns="0" rtlCol="0" anchor="ctr"/>
          <a:lstStyle/>
          <a:p>
            <a:pPr indent="0" marL="0">
              <a:buNone/>
            </a:pPr>
            <a:r>
              <a:rPr lang="en-US" sz="1250" b="1" dirty="0">
                <a:solidFill>
                  <a:schemeClr val="tx1"/>
                </a:solidFill>
              </a:rPr>
              <a:t>80% range</a:t>
            </a:r>
            <a:endParaRPr lang="en-US" sz="1250" dirty="0"/>
          </a:p>
        </p:txBody>
      </p:sp>
      <p:sp>
        <p:nvSpPr>
          <p:cNvPr id="71" name="Text 65"/>
          <p:cNvSpPr txBox="1"/>
          <p:nvPr/>
        </p:nvSpPr>
        <p:spPr>
          <a:xfrm>
            <a:off x="7758684" y="4837176"/>
            <a:ext cx="1508760" cy="365760"/>
          </a:xfrm>
          <a:prstGeom prst="rect">
            <a:avLst/>
          </a:prstGeom>
          <a:noFill/>
          <a:ln/>
        </p:spPr>
        <p:txBody>
          <a:bodyPr wrap="square" lIns="0" tIns="0" rIns="0" bIns="0" rtlCol="0" anchor="t"/>
          <a:lstStyle/>
          <a:p>
            <a:pPr indent="0" marL="0">
              <a:buNone/>
            </a:pPr>
            <a:r>
              <a:rPr lang="en-US" sz="1050" dirty="0">
                <a:solidFill>
                  <a:schemeClr val="accent5"/>
                </a:solidFill>
              </a:rPr>
              <a:t>from past seasons' misses</a:t>
            </a:r>
            <a:endParaRPr lang="en-US" sz="1050" dirty="0"/>
          </a:p>
        </p:txBody>
      </p:sp>
      <p:sp>
        <p:nvSpPr>
          <p:cNvPr id="72" name="verdict-Launch"/>
          <p:cNvSpPr/>
          <p:nvPr/>
        </p:nvSpPr>
        <p:spPr>
          <a:xfrm>
            <a:off x="9811512" y="2697480"/>
            <a:ext cx="1691640" cy="292608"/>
          </a:xfrm>
          <a:prstGeom prst="roundRect">
            <a:avLst>
              <a:gd name="adj" fmla="val 25000"/>
            </a:avLst>
          </a:prstGeom>
          <a:solidFill>
            <a:schemeClr val="accent2"/>
          </a:solidFill>
          <a:ln/>
        </p:spPr>
        <p:txBody>
          <a:bodyPr wrap="square" lIns="0" tIns="0" rIns="0" bIns="0" rtlCol="0" anchor="ctr"/>
          <a:lstStyle/>
          <a:p>
            <a:pPr algn="ctr" indent="0" marL="0">
              <a:buNone/>
            </a:pPr>
            <a:r>
              <a:rPr lang="en-US" sz="1200" b="1" dirty="0">
                <a:solidFill>
                  <a:schemeClr val="bg1"/>
                </a:solidFill>
              </a:rPr>
              <a:t>Launch</a:t>
            </a:r>
            <a:endParaRPr lang="en-US" sz="1200" dirty="0"/>
          </a:p>
        </p:txBody>
      </p:sp>
      <p:sp>
        <p:nvSpPr>
          <p:cNvPr id="73" name="verdict-Test-market"/>
          <p:cNvSpPr/>
          <p:nvPr/>
        </p:nvSpPr>
        <p:spPr>
          <a:xfrm>
            <a:off x="9811512" y="3063240"/>
            <a:ext cx="1691640" cy="292608"/>
          </a:xfrm>
          <a:prstGeom prst="roundRect">
            <a:avLst>
              <a:gd name="adj" fmla="val 25000"/>
            </a:avLst>
          </a:prstGeom>
          <a:solidFill>
            <a:schemeClr val="accent3"/>
          </a:solidFill>
          <a:ln/>
        </p:spPr>
        <p:txBody>
          <a:bodyPr wrap="square" lIns="0" tIns="0" rIns="0" bIns="0" rtlCol="0" anchor="ctr"/>
          <a:lstStyle/>
          <a:p>
            <a:pPr algn="ctr" indent="0" marL="0">
              <a:buNone/>
            </a:pPr>
            <a:r>
              <a:rPr lang="en-US" sz="1200" b="1" dirty="0">
                <a:solidFill>
                  <a:schemeClr val="tx1"/>
                </a:solidFill>
              </a:rPr>
              <a:t>Test-market</a:t>
            </a:r>
            <a:endParaRPr lang="en-US" sz="1200" dirty="0"/>
          </a:p>
        </p:txBody>
      </p:sp>
      <p:sp>
        <p:nvSpPr>
          <p:cNvPr id="74" name="verdict-Hold"/>
          <p:cNvSpPr/>
          <p:nvPr/>
        </p:nvSpPr>
        <p:spPr>
          <a:xfrm>
            <a:off x="9811512" y="3429000"/>
            <a:ext cx="1691640"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200" b="1" dirty="0">
                <a:solidFill>
                  <a:schemeClr val="bg1"/>
                </a:solidFill>
              </a:rPr>
              <a:t>Hold</a:t>
            </a:r>
            <a:endParaRPr lang="en-US" sz="1200" dirty="0"/>
          </a:p>
        </p:txBody>
      </p:sp>
      <p:sp>
        <p:nvSpPr>
          <p:cNvPr id="75" name="Text 69"/>
          <p:cNvSpPr txBox="1"/>
          <p:nvPr/>
        </p:nvSpPr>
        <p:spPr>
          <a:xfrm>
            <a:off x="9811512" y="3858768"/>
            <a:ext cx="1691640" cy="237744"/>
          </a:xfrm>
          <a:prstGeom prst="rect">
            <a:avLst/>
          </a:prstGeom>
          <a:noFill/>
          <a:ln/>
        </p:spPr>
        <p:txBody>
          <a:bodyPr wrap="square" lIns="0" tIns="0" rIns="0" bIns="0" rtlCol="0" anchor="ctr"/>
          <a:lstStyle/>
          <a:p>
            <a:pPr indent="0" marL="0">
              <a:buNone/>
            </a:pPr>
            <a:r>
              <a:rPr lang="en-US" sz="1050" dirty="0">
                <a:solidFill>
                  <a:schemeClr val="accent6"/>
                </a:solidFill>
              </a:rPr>
              <a:t>Delivered as</a:t>
            </a:r>
            <a:endParaRPr lang="en-US" sz="1050" dirty="0"/>
          </a:p>
        </p:txBody>
      </p:sp>
      <p:sp>
        <p:nvSpPr>
          <p:cNvPr id="76" name="Text 70"/>
          <p:cNvSpPr txBox="1"/>
          <p:nvPr/>
        </p:nvSpPr>
        <p:spPr>
          <a:xfrm>
            <a:off x="9811512" y="4114800"/>
            <a:ext cx="1737360" cy="1143000"/>
          </a:xfrm>
          <a:prstGeom prst="rect">
            <a:avLst/>
          </a:prstGeom>
          <a:noFill/>
          <a:ln/>
        </p:spPr>
        <p:txBody>
          <a:bodyPr wrap="square" lIns="0" tIns="0" rIns="0" bIns="0" rtlCol="0" anchor="t"/>
          <a:lstStyle/>
          <a:p>
            <a:pPr marL="139700" indent="-139700">
              <a:spcAft>
                <a:spcPts val="200"/>
              </a:spcAft>
              <a:buSzPct val="100000"/>
              <a:buChar char="•"/>
            </a:pPr>
            <a:r>
              <a:rPr lang="en-US" sz="1150" dirty="0">
                <a:solidFill>
                  <a:schemeClr val="bg2"/>
                </a:solidFill>
              </a:rPr>
              <a:t>Launch plan</a:t>
            </a:r>
            <a:endParaRPr lang="en-US" sz="1150" dirty="0"/>
          </a:p>
          <a:p>
            <a:pPr marL="139700" indent="-139700">
              <a:spcAft>
                <a:spcPts val="200"/>
              </a:spcAft>
              <a:buSzPct val="100000"/>
              <a:buChar char="•"/>
            </a:pPr>
            <a:r>
              <a:rPr lang="en-US" sz="1150" dirty="0">
                <a:solidFill>
                  <a:schemeClr val="bg2"/>
                </a:solidFill>
              </a:rPr>
              <a:t>One-page brief · 稟議書</a:t>
            </a:r>
            <a:endParaRPr lang="en-US" sz="1150" dirty="0"/>
          </a:p>
          <a:p>
            <a:pPr marL="139700" indent="-139700">
              <a:spcAft>
                <a:spcPts val="200"/>
              </a:spcAft>
              <a:buSzPct val="100000"/>
              <a:buChar char="•"/>
            </a:pPr>
            <a:r>
              <a:rPr lang="en-US" sz="1150" dirty="0">
                <a:solidFill>
                  <a:schemeClr val="bg2"/>
                </a:solidFill>
              </a:rPr>
              <a:t>Demand Guide</a:t>
            </a:r>
            <a:endParaRPr lang="en-US" sz="1150" dirty="0"/>
          </a:p>
          <a:p>
            <a:pPr marL="139700" indent="-139700">
              <a:spcAft>
                <a:spcPts val="200"/>
              </a:spcAft>
              <a:buSzPct val="100000"/>
              <a:buChar char="•"/>
            </a:pPr>
            <a:r>
              <a:rPr lang="en-US" sz="1150" dirty="0">
                <a:solidFill>
                  <a:schemeClr val="bg2"/>
                </a:solidFill>
              </a:rPr>
              <a:t>Sealed forecasts</a:t>
            </a:r>
            <a:endParaRPr lang="en-US" sz="1150" dirty="0"/>
          </a:p>
          <a:p>
            <a:pPr marL="139700" indent="-139700">
              <a:spcAft>
                <a:spcPts val="200"/>
              </a:spcAft>
              <a:buSzPct val="100000"/>
              <a:buChar char="•"/>
            </a:pPr>
            <a:r>
              <a:rPr lang="en-US" sz="1150" dirty="0">
                <a:solidFill>
                  <a:schemeClr val="bg2"/>
                </a:solidFill>
              </a:rPr>
              <a:t>Daily alerts</a:t>
            </a:r>
            <a:endParaRPr lang="en-US" sz="1150" dirty="0"/>
          </a:p>
        </p:txBody>
      </p:sp>
      <p:sp>
        <p:nvSpPr>
          <p:cNvPr id="77" name="trust-1"/>
          <p:cNvSpPr/>
          <p:nvPr/>
        </p:nvSpPr>
        <p:spPr>
          <a:xfrm>
            <a:off x="548640" y="5532120"/>
            <a:ext cx="3545129" cy="640080"/>
          </a:xfrm>
          <a:prstGeom prst="roundRect">
            <a:avLst>
              <a:gd name="adj" fmla="val 11429"/>
            </a:avLst>
          </a:prstGeom>
          <a:solidFill>
            <a:schemeClr val="bg1"/>
          </a:solidFill>
          <a:ln/>
          <a:effectLst>
            <a:outerShdw sx="100000" sy="100000" kx="0" ky="0" algn="bl" rotWithShape="0" blurRad="114300" dist="25400" dir="5400000">
              <a:srgbClr val="141A33">
                <a:alpha val="13000"/>
              </a:srgbClr>
            </a:outerShdw>
          </a:effectLst>
        </p:spPr>
      </p:sp>
      <p:sp>
        <p:nvSpPr>
          <p:cNvPr id="78" name="icon-FaCalendarCheck"/>
          <p:cNvSpPr/>
          <p:nvPr/>
        </p:nvSpPr>
        <p:spPr>
          <a:xfrm>
            <a:off x="685800" y="5650992"/>
            <a:ext cx="402336" cy="402336"/>
          </a:xfrm>
          <a:prstGeom prst="ellipse">
            <a:avLst/>
          </a:prstGeom>
          <a:solidFill>
            <a:schemeClr val="tx2"/>
          </a:solidFill>
          <a:ln/>
        </p:spPr>
      </p:sp>
      <p:pic>
        <p:nvPicPr>
          <p:cNvPr id="79" name="Image 4" descr="CalendarCheck icon">    </p:cNvPr>
          <p:cNvPicPr>
            <a:picLocks noChangeAspect="1"/>
          </p:cNvPicPr>
          <p:nvPr/>
        </p:nvPicPr>
        <p:blipFill>
          <a:blip r:embed="rId5"/>
          <a:stretch>
            <a:fillRect/>
          </a:stretch>
        </p:blipFill>
        <p:spPr>
          <a:xfrm>
            <a:off x="786384" y="5751576"/>
            <a:ext cx="201168" cy="201168"/>
          </a:xfrm>
          <a:prstGeom prst="rect">
            <a:avLst/>
          </a:prstGeom>
        </p:spPr>
      </p:pic>
      <p:sp>
        <p:nvSpPr>
          <p:cNvPr id="80" name="Text 73"/>
          <p:cNvSpPr txBox="1"/>
          <p:nvPr/>
        </p:nvSpPr>
        <p:spPr>
          <a:xfrm>
            <a:off x="1207008" y="5577840"/>
            <a:ext cx="2767889" cy="548640"/>
          </a:xfrm>
          <a:prstGeom prst="rect">
            <a:avLst/>
          </a:prstGeom>
          <a:noFill/>
          <a:ln/>
        </p:spPr>
        <p:txBody>
          <a:bodyPr wrap="square" lIns="0" tIns="0" rIns="0" bIns="0" rtlCol="0" anchor="ctr"/>
          <a:lstStyle/>
          <a:p>
            <a:pPr indent="0" marL="0">
              <a:buNone/>
            </a:pPr>
            <a:r>
              <a:rPr lang="en-US" sz="1150" dirty="0">
                <a:solidFill>
                  <a:schemeClr val="tx1"/>
                </a:solidFill>
              </a:rPr>
              <a:t>Train 2019–23, check 2024, test 2025 once: always on unseen titles</a:t>
            </a:r>
            <a:endParaRPr lang="en-US" sz="1150" dirty="0"/>
          </a:p>
        </p:txBody>
      </p:sp>
      <p:sp>
        <p:nvSpPr>
          <p:cNvPr id="81" name="trust-2"/>
          <p:cNvSpPr/>
          <p:nvPr/>
        </p:nvSpPr>
        <p:spPr>
          <a:xfrm>
            <a:off x="4322369" y="5532120"/>
            <a:ext cx="3545129" cy="640080"/>
          </a:xfrm>
          <a:prstGeom prst="roundRect">
            <a:avLst>
              <a:gd name="adj" fmla="val 11429"/>
            </a:avLst>
          </a:prstGeom>
          <a:solidFill>
            <a:schemeClr val="bg1"/>
          </a:solidFill>
          <a:ln/>
          <a:effectLst>
            <a:outerShdw sx="100000" sy="100000" kx="0" ky="0" algn="bl" rotWithShape="0" blurRad="114300" dist="25400" dir="5400000">
              <a:srgbClr val="141A33">
                <a:alpha val="13000"/>
              </a:srgbClr>
            </a:outerShdw>
          </a:effectLst>
        </p:spPr>
      </p:sp>
      <p:sp>
        <p:nvSpPr>
          <p:cNvPr id="82" name="icon-FaShieldHalved"/>
          <p:cNvSpPr/>
          <p:nvPr/>
        </p:nvSpPr>
        <p:spPr>
          <a:xfrm>
            <a:off x="4459529" y="5650992"/>
            <a:ext cx="402336" cy="402336"/>
          </a:xfrm>
          <a:prstGeom prst="ellipse">
            <a:avLst/>
          </a:prstGeom>
          <a:solidFill>
            <a:schemeClr val="tx2"/>
          </a:solidFill>
          <a:ln/>
        </p:spPr>
      </p:sp>
      <p:pic>
        <p:nvPicPr>
          <p:cNvPr id="83" name="Image 5" descr="ShieldHalved icon">    </p:cNvPr>
          <p:cNvPicPr>
            <a:picLocks noChangeAspect="1"/>
          </p:cNvPicPr>
          <p:nvPr/>
        </p:nvPicPr>
        <p:blipFill>
          <a:blip r:embed="rId6"/>
          <a:stretch>
            <a:fillRect/>
          </a:stretch>
        </p:blipFill>
        <p:spPr>
          <a:xfrm>
            <a:off x="4560113" y="5751576"/>
            <a:ext cx="201168" cy="201168"/>
          </a:xfrm>
          <a:prstGeom prst="rect">
            <a:avLst/>
          </a:prstGeom>
        </p:spPr>
      </p:pic>
      <p:sp>
        <p:nvSpPr>
          <p:cNvPr id="84" name="Text 76"/>
          <p:cNvSpPr txBox="1"/>
          <p:nvPr/>
        </p:nvSpPr>
        <p:spPr>
          <a:xfrm>
            <a:off x="4980737" y="5577840"/>
            <a:ext cx="2767889" cy="548640"/>
          </a:xfrm>
          <a:prstGeom prst="rect">
            <a:avLst/>
          </a:prstGeom>
          <a:noFill/>
          <a:ln/>
        </p:spPr>
        <p:txBody>
          <a:bodyPr wrap="square" lIns="0" tIns="0" rIns="0" bIns="0" rtlCol="0" anchor="ctr"/>
          <a:lstStyle/>
          <a:p>
            <a:pPr indent="0" marL="0">
              <a:buNone/>
            </a:pPr>
            <a:r>
              <a:rPr lang="en-US" sz="1150" dirty="0">
                <a:solidFill>
                  <a:schemeClr val="tx1"/>
                </a:solidFill>
              </a:rPr>
              <a:t>No hindsight: a test fails the build if any input post-dates its forecast</a:t>
            </a:r>
            <a:endParaRPr lang="en-US" sz="1150" dirty="0"/>
          </a:p>
        </p:txBody>
      </p:sp>
      <p:sp>
        <p:nvSpPr>
          <p:cNvPr id="85" name="trust-3"/>
          <p:cNvSpPr/>
          <p:nvPr/>
        </p:nvSpPr>
        <p:spPr>
          <a:xfrm>
            <a:off x="8096098" y="5532120"/>
            <a:ext cx="3545129" cy="640080"/>
          </a:xfrm>
          <a:prstGeom prst="roundRect">
            <a:avLst>
              <a:gd name="adj" fmla="val 11429"/>
            </a:avLst>
          </a:prstGeom>
          <a:solidFill>
            <a:schemeClr val="bg1"/>
          </a:solidFill>
          <a:ln/>
          <a:effectLst>
            <a:outerShdw sx="100000" sy="100000" kx="0" ky="0" algn="bl" rotWithShape="0" blurRad="114300" dist="25400" dir="5400000">
              <a:srgbClr val="141A33">
                <a:alpha val="13000"/>
              </a:srgbClr>
            </a:outerShdw>
          </a:effectLst>
        </p:spPr>
      </p:sp>
      <p:sp>
        <p:nvSpPr>
          <p:cNvPr id="86" name="icon-FaLock"/>
          <p:cNvSpPr/>
          <p:nvPr/>
        </p:nvSpPr>
        <p:spPr>
          <a:xfrm>
            <a:off x="8233258" y="5650992"/>
            <a:ext cx="402336" cy="402336"/>
          </a:xfrm>
          <a:prstGeom prst="ellipse">
            <a:avLst/>
          </a:prstGeom>
          <a:solidFill>
            <a:schemeClr val="tx2"/>
          </a:solidFill>
          <a:ln/>
        </p:spPr>
      </p:sp>
      <p:pic>
        <p:nvPicPr>
          <p:cNvPr id="87" name="Image 6" descr="Lock icon">    </p:cNvPr>
          <p:cNvPicPr>
            <a:picLocks noChangeAspect="1"/>
          </p:cNvPicPr>
          <p:nvPr/>
        </p:nvPicPr>
        <p:blipFill>
          <a:blip r:embed="rId7"/>
          <a:stretch>
            <a:fillRect/>
          </a:stretch>
        </p:blipFill>
        <p:spPr>
          <a:xfrm>
            <a:off x="8333842" y="5751576"/>
            <a:ext cx="201168" cy="201168"/>
          </a:xfrm>
          <a:prstGeom prst="rect">
            <a:avLst/>
          </a:prstGeom>
        </p:spPr>
      </p:pic>
      <p:sp>
        <p:nvSpPr>
          <p:cNvPr id="88" name="Text 79"/>
          <p:cNvSpPr txBox="1"/>
          <p:nvPr/>
        </p:nvSpPr>
        <p:spPr>
          <a:xfrm>
            <a:off x="8754466" y="5577840"/>
            <a:ext cx="2767889" cy="548640"/>
          </a:xfrm>
          <a:prstGeom prst="rect">
            <a:avLst/>
          </a:prstGeom>
          <a:noFill/>
          <a:ln/>
        </p:spPr>
        <p:txBody>
          <a:bodyPr wrap="square" lIns="0" tIns="0" rIns="0" bIns="0" rtlCol="0" anchor="ctr"/>
          <a:lstStyle/>
          <a:p>
            <a:pPr indent="0" marL="0">
              <a:buNone/>
            </a:pPr>
            <a:r>
              <a:rPr lang="en-US" sz="1150" dirty="0">
                <a:solidFill>
                  <a:schemeClr val="tx1"/>
                </a:solidFill>
              </a:rPr>
              <a:t>Responsible data: official APIs, no usernames, counts instead of text</a:t>
            </a:r>
            <a:endParaRPr lang="en-US" sz="11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04 — OUR HINGLISH MODEL</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We read Hinglish: 20× more Indian signal</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Indian fans comment in Hinglish typed in Latin letters, not in Indian scripts, so script-based detection misses almost all of them.</a:t>
            </a:r>
            <a:endParaRPr lang="en-US" sz="1500" dirty="0"/>
          </a:p>
        </p:txBody>
      </p:sp>
      <p:sp>
        <p:nvSpPr>
          <p:cNvPr id="5" name="hinglish-chart-card"/>
          <p:cNvSpPr/>
          <p:nvPr/>
        </p:nvSpPr>
        <p:spPr>
          <a:xfrm>
            <a:off x="548640" y="2011680"/>
            <a:ext cx="5074920" cy="3108960"/>
          </a:xfrm>
          <a:prstGeom prst="roundRect">
            <a:avLst>
              <a:gd name="adj" fmla="val 2353"/>
            </a:avLst>
          </a:prstGeom>
          <a:solidFill>
            <a:schemeClr val="bg1"/>
          </a:solidFill>
          <a:ln/>
          <a:effectLst>
            <a:outerShdw sx="100000" sy="100000" kx="0" ky="0" algn="bl" rotWithShape="0" blurRad="114300" dist="25400" dir="5400000">
              <a:srgbClr val="141A33">
                <a:alpha val="13000"/>
              </a:srgbClr>
            </a:outerShdw>
          </a:effectLst>
        </p:spPr>
      </p:sp>
      <p:sp>
        <p:nvSpPr>
          <p:cNvPr id="6" name="Text 4"/>
          <p:cNvSpPr txBox="1"/>
          <p:nvPr/>
        </p:nvSpPr>
        <p:spPr>
          <a:xfrm>
            <a:off x="777240" y="2103120"/>
            <a:ext cx="4663440" cy="329184"/>
          </a:xfrm>
          <a:prstGeom prst="rect">
            <a:avLst/>
          </a:prstGeom>
          <a:noFill/>
          <a:ln/>
        </p:spPr>
        <p:txBody>
          <a:bodyPr wrap="square" lIns="0" tIns="0" rIns="0" bIns="0" rtlCol="0" anchor="ctr"/>
          <a:lstStyle/>
          <a:p>
            <a:pPr indent="0" marL="0">
              <a:buNone/>
            </a:pPr>
            <a:r>
              <a:rPr lang="en-US" sz="1300" b="1" dirty="0">
                <a:solidFill>
                  <a:schemeClr val="tx1"/>
                </a:solidFill>
              </a:rPr>
              <a:t>Indian fan comments found, per 10,000 trailer comments</a:t>
            </a:r>
            <a:endParaRPr lang="en-US" sz="1300" dirty="0"/>
          </a:p>
        </p:txBody>
      </p:sp>
      <p:graphicFrame>
        <p:nvGraphicFramePr>
          <p:cNvPr id="7" name="chart-hinglish" descr=""/>
          <p:cNvGraphicFramePr/>
          <p:nvPr/>
        </p:nvGraphicFramePr>
        <p:xfrm>
          <a:off x="685800" y="2514600"/>
          <a:ext cx="4800600" cy="25146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3456432" y="2697480"/>
            <a:ext cx="1463040" cy="347472"/>
          </a:xfrm>
          <a:prstGeom prst="rect">
            <a:avLst/>
          </a:prstGeom>
          <a:noFill/>
          <a:ln/>
        </p:spPr>
        <p:txBody>
          <a:bodyPr wrap="square" lIns="0" tIns="0" rIns="0" bIns="0" rtlCol="0" anchor="ctr"/>
          <a:lstStyle/>
          <a:p>
            <a:pPr algn="ctr" indent="0" marL="0">
              <a:buNone/>
            </a:pPr>
            <a:r>
              <a:rPr lang="en-US" sz="2000" b="1" dirty="0">
                <a:solidFill>
                  <a:schemeClr val="accent1"/>
                </a:solidFill>
                <a:latin typeface="+mj-lt" pitchFamily="34" charset="0"/>
                <a:ea typeface="+mj-lt" pitchFamily="34" charset="-122"/>
                <a:cs typeface="+mj-lt" pitchFamily="34" charset="-120"/>
              </a:rPr>
              <a:t>≈ 100</a:t>
            </a:r>
            <a:endParaRPr lang="en-US" sz="2000" dirty="0"/>
          </a:p>
        </p:txBody>
      </p:sp>
      <p:sp>
        <p:nvSpPr>
          <p:cNvPr id="9" name="Text 6"/>
          <p:cNvSpPr txBox="1"/>
          <p:nvPr/>
        </p:nvSpPr>
        <p:spPr>
          <a:xfrm>
            <a:off x="1252728" y="4114800"/>
            <a:ext cx="1463040" cy="347472"/>
          </a:xfrm>
          <a:prstGeom prst="rect">
            <a:avLst/>
          </a:prstGeom>
          <a:noFill/>
          <a:ln/>
        </p:spPr>
        <p:txBody>
          <a:bodyPr wrap="square" lIns="0" tIns="0" rIns="0" bIns="0" rtlCol="0" anchor="ctr"/>
          <a:lstStyle/>
          <a:p>
            <a:pPr algn="ctr" indent="0" marL="0">
              <a:buNone/>
            </a:pPr>
            <a:r>
              <a:rPr lang="en-US" sz="2000" b="1" dirty="0">
                <a:solidFill>
                  <a:schemeClr val="accent5"/>
                </a:solidFill>
                <a:latin typeface="+mj-lt" pitchFamily="34" charset="0"/>
                <a:ea typeface="+mj-lt" pitchFamily="34" charset="-122"/>
                <a:cs typeface="+mj-lt" pitchFamily="34" charset="-120"/>
              </a:rPr>
              <a:t>&lt; 5</a:t>
            </a:r>
            <a:endParaRPr lang="en-US" sz="2000" dirty="0"/>
          </a:p>
        </p:txBody>
      </p:sp>
      <p:sp>
        <p:nvSpPr>
          <p:cNvPr id="10" name="Text 7"/>
          <p:cNvSpPr txBox="1"/>
          <p:nvPr/>
        </p:nvSpPr>
        <p:spPr>
          <a:xfrm>
            <a:off x="841248" y="2697480"/>
            <a:ext cx="2286000" cy="777240"/>
          </a:xfrm>
          <a:prstGeom prst="rect">
            <a:avLst/>
          </a:prstGeom>
          <a:noFill/>
          <a:ln/>
        </p:spPr>
        <p:txBody>
          <a:bodyPr wrap="square" lIns="0" tIns="0" rIns="0" bIns="0" rtlCol="0" anchor="ctr"/>
          <a:lstStyle/>
          <a:p>
            <a:pPr algn="ctr" indent="0" marL="0">
              <a:buNone/>
            </a:pPr>
            <a:r>
              <a:rPr lang="en-US" sz="5400" b="1" dirty="0">
                <a:solidFill>
                  <a:schemeClr val="accent1"/>
                </a:solidFill>
                <a:latin typeface="+mj-lt" pitchFamily="34" charset="0"/>
                <a:ea typeface="+mj-lt" pitchFamily="34" charset="-122"/>
                <a:cs typeface="+mj-lt" pitchFamily="34" charset="-120"/>
              </a:rPr>
              <a:t>20×</a:t>
            </a:r>
            <a:endParaRPr lang="en-US" sz="5400" dirty="0"/>
          </a:p>
        </p:txBody>
      </p:sp>
      <p:sp>
        <p:nvSpPr>
          <p:cNvPr id="11" name="Text 8"/>
          <p:cNvSpPr txBox="1"/>
          <p:nvPr/>
        </p:nvSpPr>
        <p:spPr>
          <a:xfrm>
            <a:off x="841248" y="3474720"/>
            <a:ext cx="2286000" cy="292608"/>
          </a:xfrm>
          <a:prstGeom prst="rect">
            <a:avLst/>
          </a:prstGeom>
          <a:noFill/>
          <a:ln/>
        </p:spPr>
        <p:txBody>
          <a:bodyPr wrap="square" lIns="0" tIns="0" rIns="0" bIns="0" rtlCol="0" anchor="ctr"/>
          <a:lstStyle/>
          <a:p>
            <a:pPr algn="ctr" indent="0" marL="0">
              <a:buNone/>
            </a:pPr>
            <a:r>
              <a:rPr lang="en-US" sz="1250" dirty="0">
                <a:solidFill>
                  <a:schemeClr val="accent5"/>
                </a:solidFill>
              </a:rPr>
              <a:t>more Indian fan voices found</a:t>
            </a:r>
            <a:endParaRPr lang="en-US" sz="1250" dirty="0"/>
          </a:p>
        </p:txBody>
      </p:sp>
      <p:sp>
        <p:nvSpPr>
          <p:cNvPr id="12" name="Text 9"/>
          <p:cNvSpPr txBox="1"/>
          <p:nvPr/>
        </p:nvSpPr>
        <p:spPr>
          <a:xfrm>
            <a:off x="5897880" y="2011680"/>
            <a:ext cx="5742432" cy="32918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How each comment is read</a:t>
            </a:r>
            <a:endParaRPr lang="en-US" sz="1600" dirty="0"/>
          </a:p>
        </p:txBody>
      </p:sp>
      <p:sp>
        <p:nvSpPr>
          <p:cNvPr id="13" name="steps-connector"/>
          <p:cNvSpPr/>
          <p:nvPr/>
        </p:nvSpPr>
        <p:spPr>
          <a:xfrm>
            <a:off x="6117336" y="2697480"/>
            <a:ext cx="0" cy="1371600"/>
          </a:xfrm>
          <a:prstGeom prst="line">
            <a:avLst/>
          </a:prstGeom>
          <a:noFill/>
          <a:ln w="25400">
            <a:solidFill>
              <a:schemeClr val="accent6"/>
            </a:solidFill>
            <a:prstDash val="solid"/>
          </a:ln>
        </p:spPr>
      </p:sp>
      <p:sp>
        <p:nvSpPr>
          <p:cNvPr id="14" name="read-step-1"/>
          <p:cNvSpPr/>
          <p:nvPr/>
        </p:nvSpPr>
        <p:spPr>
          <a:xfrm>
            <a:off x="5897880" y="2468880"/>
            <a:ext cx="438912" cy="438912"/>
          </a:xfrm>
          <a:prstGeom prst="ellipse">
            <a:avLst/>
          </a:prstGeom>
          <a:solidFill>
            <a:schemeClr val="tx2"/>
          </a:solidFill>
          <a:ln w="25400">
            <a:solidFill>
              <a:schemeClr val="bg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5" name="Text 12"/>
          <p:cNvSpPr txBox="1"/>
          <p:nvPr/>
        </p:nvSpPr>
        <p:spPr>
          <a:xfrm>
            <a:off x="6492240" y="2432304"/>
            <a:ext cx="5120640" cy="256032"/>
          </a:xfrm>
          <a:prstGeom prst="rect">
            <a:avLst/>
          </a:prstGeom>
          <a:noFill/>
          <a:ln/>
        </p:spPr>
        <p:txBody>
          <a:bodyPr wrap="square" lIns="0" tIns="0" rIns="0" bIns="0" rtlCol="0" anchor="ctr"/>
          <a:lstStyle/>
          <a:p>
            <a:pPr indent="0" marL="0">
              <a:buNone/>
            </a:pPr>
            <a:r>
              <a:rPr lang="en-US" sz="1350" b="1" dirty="0">
                <a:solidFill>
                  <a:schemeClr val="tx1"/>
                </a:solidFill>
              </a:rPr>
              <a:t>Word rules</a:t>
            </a:r>
            <a:endParaRPr lang="en-US" sz="1350" dirty="0"/>
          </a:p>
        </p:txBody>
      </p:sp>
      <p:sp>
        <p:nvSpPr>
          <p:cNvPr id="16" name="Text 13"/>
          <p:cNvSpPr txBox="1"/>
          <p:nvPr/>
        </p:nvSpPr>
        <p:spPr>
          <a:xfrm>
            <a:off x="6492240" y="2697480"/>
            <a:ext cx="5148072" cy="402336"/>
          </a:xfrm>
          <a:prstGeom prst="rect">
            <a:avLst/>
          </a:prstGeom>
          <a:noFill/>
          <a:ln/>
        </p:spPr>
        <p:txBody>
          <a:bodyPr wrap="square" lIns="0" tIns="0" rIns="0" bIns="0" rtlCol="0" anchor="t"/>
          <a:lstStyle/>
          <a:p>
            <a:pPr indent="0" marL="0">
              <a:buNone/>
            </a:pPr>
            <a:r>
              <a:rPr lang="en-US" sz="1100" dirty="0">
                <a:solidFill>
                  <a:schemeClr val="accent5"/>
                </a:solidFill>
              </a:rPr>
              <a:t>Indian scripts, Hinglish words (two strong, or one strong plus two common) and India, city or language names</a:t>
            </a:r>
            <a:endParaRPr lang="en-US" sz="1100" dirty="0"/>
          </a:p>
        </p:txBody>
      </p:sp>
      <p:sp>
        <p:nvSpPr>
          <p:cNvPr id="17" name="read-step-2"/>
          <p:cNvSpPr/>
          <p:nvPr/>
        </p:nvSpPr>
        <p:spPr>
          <a:xfrm>
            <a:off x="5897880" y="3145536"/>
            <a:ext cx="438912" cy="438912"/>
          </a:xfrm>
          <a:prstGeom prst="ellipse">
            <a:avLst/>
          </a:prstGeom>
          <a:solidFill>
            <a:schemeClr val="tx2"/>
          </a:solidFill>
          <a:ln w="25400">
            <a:solidFill>
              <a:schemeClr val="bg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8" name="Text 15"/>
          <p:cNvSpPr txBox="1"/>
          <p:nvPr/>
        </p:nvSpPr>
        <p:spPr>
          <a:xfrm>
            <a:off x="6492240" y="3108960"/>
            <a:ext cx="5120640" cy="256032"/>
          </a:xfrm>
          <a:prstGeom prst="rect">
            <a:avLst/>
          </a:prstGeom>
          <a:noFill/>
          <a:ln/>
        </p:spPr>
        <p:txBody>
          <a:bodyPr wrap="square" lIns="0" tIns="0" rIns="0" bIns="0" rtlCol="0" anchor="ctr"/>
          <a:lstStyle/>
          <a:p>
            <a:pPr indent="0" marL="0">
              <a:buNone/>
            </a:pPr>
            <a:r>
              <a:rPr lang="en-US" sz="1350" b="1" dirty="0">
                <a:solidFill>
                  <a:schemeClr val="tx1"/>
                </a:solidFill>
              </a:rPr>
              <a:t>AI4Bharat IndicLID, run on our own machine</a:t>
            </a:r>
            <a:endParaRPr lang="en-US" sz="1350" dirty="0"/>
          </a:p>
        </p:txBody>
      </p:sp>
      <p:sp>
        <p:nvSpPr>
          <p:cNvPr id="19" name="Text 16"/>
          <p:cNvSpPr txBox="1"/>
          <p:nvPr/>
        </p:nvSpPr>
        <p:spPr>
          <a:xfrm>
            <a:off x="6492240" y="3374136"/>
            <a:ext cx="5148072" cy="402336"/>
          </a:xfrm>
          <a:prstGeom prst="rect">
            <a:avLst/>
          </a:prstGeom>
          <a:noFill/>
          <a:ln/>
        </p:spPr>
        <p:txBody>
          <a:bodyPr wrap="square" lIns="0" tIns="0" rIns="0" bIns="0" rtlCol="0" anchor="t"/>
          <a:lstStyle/>
          <a:p>
            <a:pPr indent="0" marL="0">
              <a:buNone/>
            </a:pPr>
            <a:r>
              <a:rPr lang="en-US" sz="1100" dirty="0">
                <a:solidFill>
                  <a:schemeClr val="accent5"/>
                </a:solidFill>
              </a:rPr>
              <a:t>A romanized fastText model confirms short Hinglish the rules miss</a:t>
            </a:r>
            <a:endParaRPr lang="en-US" sz="1100" dirty="0"/>
          </a:p>
          <a:p>
            <a:pPr indent="0" marL="0">
              <a:buNone/>
            </a:pPr>
            <a:r>
              <a:rPr lang="en-US" sz="1100" dirty="0">
                <a:solidFill>
                  <a:schemeClr val="accent5"/>
                </a:solidFill>
              </a:rPr>
              <a:t>(p ≥ 0.5, 3+ words, 2+ Hindi words); no text leaves the machine</a:t>
            </a:r>
            <a:endParaRPr lang="en-US" sz="1100" dirty="0"/>
          </a:p>
        </p:txBody>
      </p:sp>
      <p:sp>
        <p:nvSpPr>
          <p:cNvPr id="20" name="read-step-3"/>
          <p:cNvSpPr/>
          <p:nvPr/>
        </p:nvSpPr>
        <p:spPr>
          <a:xfrm>
            <a:off x="5897880" y="3822192"/>
            <a:ext cx="438912" cy="438912"/>
          </a:xfrm>
          <a:prstGeom prst="ellipse">
            <a:avLst/>
          </a:prstGeom>
          <a:solidFill>
            <a:schemeClr val="tx2"/>
          </a:solidFill>
          <a:ln w="25400">
            <a:solidFill>
              <a:schemeClr val="bg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6492240" y="3785616"/>
            <a:ext cx="5120640" cy="256032"/>
          </a:xfrm>
          <a:prstGeom prst="rect">
            <a:avLst/>
          </a:prstGeom>
          <a:noFill/>
          <a:ln/>
        </p:spPr>
        <p:txBody>
          <a:bodyPr wrap="square" lIns="0" tIns="0" rIns="0" bIns="0" rtlCol="0" anchor="ctr"/>
          <a:lstStyle/>
          <a:p>
            <a:pPr indent="0" marL="0">
              <a:buNone/>
            </a:pPr>
            <a:r>
              <a:rPr lang="en-US" sz="1350" b="1" dirty="0">
                <a:solidFill>
                  <a:schemeClr val="tx1"/>
                </a:solidFill>
              </a:rPr>
              <a:t>Signals out</a:t>
            </a:r>
            <a:endParaRPr lang="en-US" sz="1350" dirty="0"/>
          </a:p>
        </p:txBody>
      </p:sp>
      <p:sp>
        <p:nvSpPr>
          <p:cNvPr id="22" name="Text 19"/>
          <p:cNvSpPr txBox="1"/>
          <p:nvPr/>
        </p:nvSpPr>
        <p:spPr>
          <a:xfrm>
            <a:off x="6492240" y="4050792"/>
            <a:ext cx="5148072" cy="402336"/>
          </a:xfrm>
          <a:prstGeom prst="rect">
            <a:avLst/>
          </a:prstGeom>
          <a:noFill/>
          <a:ln/>
        </p:spPr>
        <p:txBody>
          <a:bodyPr wrap="square" lIns="0" tIns="0" rIns="0" bIns="0" rtlCol="0" anchor="t"/>
          <a:lstStyle/>
          <a:p>
            <a:pPr indent="0" marL="0">
              <a:buNone/>
            </a:pPr>
            <a:r>
              <a:rPr lang="en-US" sz="1100" dirty="0">
                <a:solidFill>
                  <a:schemeClr val="accent5"/>
                </a:solidFill>
              </a:rPr>
              <a:t>India-fan flag → Demand Index  ·  language hub → region map  ·  dub and where-to-watch asks → Demand Guide</a:t>
            </a:r>
            <a:endParaRPr lang="en-US" sz="1100" dirty="0"/>
          </a:p>
        </p:txBody>
      </p:sp>
      <p:sp>
        <p:nvSpPr>
          <p:cNvPr id="23" name="example-1"/>
          <p:cNvSpPr/>
          <p:nvPr/>
        </p:nvSpPr>
        <p:spPr>
          <a:xfrm>
            <a:off x="5897880" y="4507992"/>
            <a:ext cx="2779776" cy="612648"/>
          </a:xfrm>
          <a:prstGeom prst="roundRect">
            <a:avLst>
              <a:gd name="adj" fmla="val 11940"/>
            </a:avLst>
          </a:prstGeom>
          <a:solidFill>
            <a:schemeClr val="accent2">
              <a:alpha val="13000"/>
            </a:schemeClr>
          </a:solidFill>
          <a:ln/>
        </p:spPr>
      </p:sp>
      <p:sp>
        <p:nvSpPr>
          <p:cNvPr id="24" name="Text 21"/>
          <p:cNvSpPr txBox="1"/>
          <p:nvPr/>
        </p:nvSpPr>
        <p:spPr>
          <a:xfrm>
            <a:off x="6035040" y="4544568"/>
            <a:ext cx="2560320" cy="539496"/>
          </a:xfrm>
          <a:prstGeom prst="rect">
            <a:avLst/>
          </a:prstGeom>
          <a:noFill/>
          <a:ln/>
        </p:spPr>
        <p:txBody>
          <a:bodyPr wrap="square" lIns="0" tIns="0" rIns="0" bIns="0" rtlCol="0" anchor="ctr"/>
          <a:lstStyle/>
          <a:p>
            <a:pPr indent="0" marL="0">
              <a:buNone/>
            </a:pPr>
            <a:r>
              <a:rPr lang="en-US" sz="1150" b="1" dirty="0">
                <a:solidFill>
                  <a:schemeClr val="accent2"/>
                </a:solidFill>
              </a:rPr>
              <a:t>✓  “Kab release hogi ye movie”</a:t>
            </a:r>
            <a:endParaRPr lang="en-US" sz="1150" dirty="0"/>
          </a:p>
          <a:p>
            <a:pPr indent="0" marL="0">
              <a:buNone/>
            </a:pPr>
            <a:r>
              <a:rPr lang="en-US" sz="1150" dirty="0">
                <a:solidFill>
                  <a:schemeClr val="tx1"/>
                </a:solidFill>
              </a:rPr>
              <a:t>caught by IndicLID, not by word rules</a:t>
            </a:r>
            <a:endParaRPr lang="en-US" sz="1150" dirty="0"/>
          </a:p>
        </p:txBody>
      </p:sp>
      <p:sp>
        <p:nvSpPr>
          <p:cNvPr id="25" name="example-2"/>
          <p:cNvSpPr/>
          <p:nvPr/>
        </p:nvSpPr>
        <p:spPr>
          <a:xfrm>
            <a:off x="8814816" y="4507992"/>
            <a:ext cx="2779776" cy="612648"/>
          </a:xfrm>
          <a:prstGeom prst="roundRect">
            <a:avLst>
              <a:gd name="adj" fmla="val 11940"/>
            </a:avLst>
          </a:prstGeom>
          <a:solidFill>
            <a:schemeClr val="accent1">
              <a:alpha val="13000"/>
            </a:schemeClr>
          </a:solidFill>
          <a:ln/>
        </p:spPr>
      </p:sp>
      <p:sp>
        <p:nvSpPr>
          <p:cNvPr id="26" name="Text 23"/>
          <p:cNvSpPr txBox="1"/>
          <p:nvPr/>
        </p:nvSpPr>
        <p:spPr>
          <a:xfrm>
            <a:off x="8951976" y="4544568"/>
            <a:ext cx="2560320" cy="539496"/>
          </a:xfrm>
          <a:prstGeom prst="rect">
            <a:avLst/>
          </a:prstGeom>
          <a:noFill/>
          <a:ln/>
        </p:spPr>
        <p:txBody>
          <a:bodyPr wrap="square" lIns="0" tIns="0" rIns="0" bIns="0" rtlCol="0" anchor="ctr"/>
          <a:lstStyle/>
          <a:p>
            <a:pPr indent="0" marL="0">
              <a:buNone/>
            </a:pPr>
            <a:r>
              <a:rPr lang="en-US" sz="1150" b="1" dirty="0">
                <a:solidFill>
                  <a:schemeClr val="accent1"/>
                </a:solidFill>
              </a:rPr>
              <a:t>✕  Spanish, Indonesian, emoji</a:t>
            </a:r>
            <a:endParaRPr lang="en-US" sz="1150" dirty="0"/>
          </a:p>
          <a:p>
            <a:pPr indent="0" marL="0">
              <a:buNone/>
            </a:pPr>
            <a:r>
              <a:rPr lang="en-US" sz="1150" dirty="0">
                <a:solidFill>
                  <a:schemeClr val="tx1"/>
                </a:solidFill>
              </a:rPr>
              <a:t>IndicLID false alarms we filter out</a:t>
            </a:r>
            <a:endParaRPr lang="en-US" sz="1150" dirty="0"/>
          </a:p>
        </p:txBody>
      </p:sp>
      <p:sp>
        <p:nvSpPr>
          <p:cNvPr id="27" name="stat-561 → 858"/>
          <p:cNvSpPr/>
          <p:nvPr/>
        </p:nvSpPr>
        <p:spPr>
          <a:xfrm>
            <a:off x="548640" y="5349240"/>
            <a:ext cx="2601468" cy="822960"/>
          </a:xfrm>
          <a:prstGeom prst="roundRect">
            <a:avLst>
              <a:gd name="adj" fmla="val 8889"/>
            </a:avLst>
          </a:prstGeom>
          <a:solidFill>
            <a:schemeClr val="bg1"/>
          </a:solidFill>
          <a:ln/>
          <a:effectLst>
            <a:outerShdw sx="100000" sy="100000" kx="0" ky="0" algn="bl" rotWithShape="0" blurRad="114300" dist="25400" dir="5400000">
              <a:srgbClr val="141A33">
                <a:alpha val="13000"/>
              </a:srgbClr>
            </a:outerShdw>
          </a:effectLst>
        </p:spPr>
      </p:sp>
      <p:sp>
        <p:nvSpPr>
          <p:cNvPr id="28" name="Text 25"/>
          <p:cNvSpPr txBox="1"/>
          <p:nvPr/>
        </p:nvSpPr>
        <p:spPr>
          <a:xfrm>
            <a:off x="749808" y="5413248"/>
            <a:ext cx="2199132" cy="34747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561 → 858</a:t>
            </a:r>
            <a:endParaRPr lang="en-US" sz="2000" dirty="0"/>
          </a:p>
        </p:txBody>
      </p:sp>
      <p:sp>
        <p:nvSpPr>
          <p:cNvPr id="29" name="Text 26"/>
          <p:cNvSpPr txBox="1"/>
          <p:nvPr/>
        </p:nvSpPr>
        <p:spPr>
          <a:xfrm>
            <a:off x="749808" y="5760720"/>
            <a:ext cx="2199132" cy="320040"/>
          </a:xfrm>
          <a:prstGeom prst="rect">
            <a:avLst/>
          </a:prstGeom>
          <a:noFill/>
          <a:ln/>
        </p:spPr>
        <p:txBody>
          <a:bodyPr wrap="square" lIns="0" tIns="0" rIns="0" bIns="0" rtlCol="0" anchor="t"/>
          <a:lstStyle/>
          <a:p>
            <a:pPr indent="0" marL="0">
              <a:buNone/>
            </a:pPr>
            <a:r>
              <a:rPr lang="en-US" sz="1100" dirty="0">
                <a:solidFill>
                  <a:schemeClr val="accent5"/>
                </a:solidFill>
              </a:rPr>
              <a:t>Hinglish comments found once IndicLID was added (+53%)</a:t>
            </a:r>
            <a:endParaRPr lang="en-US" sz="1100" dirty="0"/>
          </a:p>
        </p:txBody>
      </p:sp>
      <p:sp>
        <p:nvSpPr>
          <p:cNvPr id="30" name="stat-41 → 107"/>
          <p:cNvSpPr/>
          <p:nvPr/>
        </p:nvSpPr>
        <p:spPr>
          <a:xfrm>
            <a:off x="3378708" y="5349240"/>
            <a:ext cx="2601468" cy="822960"/>
          </a:xfrm>
          <a:prstGeom prst="roundRect">
            <a:avLst>
              <a:gd name="adj" fmla="val 8889"/>
            </a:avLst>
          </a:prstGeom>
          <a:solidFill>
            <a:schemeClr val="bg1"/>
          </a:solidFill>
          <a:ln/>
          <a:effectLst>
            <a:outerShdw sx="100000" sy="100000" kx="0" ky="0" algn="bl" rotWithShape="0" blurRad="114300" dist="25400" dir="5400000">
              <a:srgbClr val="141A33">
                <a:alpha val="13000"/>
              </a:srgbClr>
            </a:outerShdw>
          </a:effectLst>
        </p:spPr>
      </p:sp>
      <p:sp>
        <p:nvSpPr>
          <p:cNvPr id="31" name="Text 28"/>
          <p:cNvSpPr txBox="1"/>
          <p:nvPr/>
        </p:nvSpPr>
        <p:spPr>
          <a:xfrm>
            <a:off x="3579876" y="5413248"/>
            <a:ext cx="2199132" cy="34747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41 → 107</a:t>
            </a:r>
            <a:endParaRPr lang="en-US" sz="2000" dirty="0"/>
          </a:p>
        </p:txBody>
      </p:sp>
      <p:sp>
        <p:nvSpPr>
          <p:cNvPr id="32" name="Text 29"/>
          <p:cNvSpPr txBox="1"/>
          <p:nvPr/>
        </p:nvSpPr>
        <p:spPr>
          <a:xfrm>
            <a:off x="3579876" y="5760720"/>
            <a:ext cx="2199132" cy="320040"/>
          </a:xfrm>
          <a:prstGeom prst="rect">
            <a:avLst/>
          </a:prstGeom>
          <a:noFill/>
          <a:ln/>
        </p:spPr>
        <p:txBody>
          <a:bodyPr wrap="square" lIns="0" tIns="0" rIns="0" bIns="0" rtlCol="0" anchor="t"/>
          <a:lstStyle/>
          <a:p>
            <a:pPr indent="0" marL="0">
              <a:buNone/>
            </a:pPr>
            <a:r>
              <a:rPr lang="en-US" sz="1100" dirty="0">
                <a:solidFill>
                  <a:schemeClr val="accent5"/>
                </a:solidFill>
              </a:rPr>
              <a:t>of 200 titles now carry an India signal (2.6×)</a:t>
            </a:r>
            <a:endParaRPr lang="en-US" sz="1100" dirty="0"/>
          </a:p>
        </p:txBody>
      </p:sp>
      <p:sp>
        <p:nvSpPr>
          <p:cNvPr id="33" name="stat-167,323"/>
          <p:cNvSpPr/>
          <p:nvPr/>
        </p:nvSpPr>
        <p:spPr>
          <a:xfrm>
            <a:off x="6208776" y="5349240"/>
            <a:ext cx="2601468" cy="822960"/>
          </a:xfrm>
          <a:prstGeom prst="roundRect">
            <a:avLst>
              <a:gd name="adj" fmla="val 8889"/>
            </a:avLst>
          </a:prstGeom>
          <a:solidFill>
            <a:schemeClr val="bg1"/>
          </a:solidFill>
          <a:ln/>
          <a:effectLst>
            <a:outerShdw sx="100000" sy="100000" kx="0" ky="0" algn="bl" rotWithShape="0" blurRad="114300" dist="25400" dir="5400000">
              <a:srgbClr val="141A33">
                <a:alpha val="13000"/>
              </a:srgbClr>
            </a:outerShdw>
          </a:effectLst>
        </p:spPr>
      </p:sp>
      <p:sp>
        <p:nvSpPr>
          <p:cNvPr id="34" name="Text 31"/>
          <p:cNvSpPr txBox="1"/>
          <p:nvPr/>
        </p:nvSpPr>
        <p:spPr>
          <a:xfrm>
            <a:off x="6409944" y="5413248"/>
            <a:ext cx="2199132" cy="34747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167,323</a:t>
            </a:r>
            <a:endParaRPr lang="en-US" sz="2000" dirty="0"/>
          </a:p>
        </p:txBody>
      </p:sp>
      <p:sp>
        <p:nvSpPr>
          <p:cNvPr id="35" name="Text 32"/>
          <p:cNvSpPr txBox="1"/>
          <p:nvPr/>
        </p:nvSpPr>
        <p:spPr>
          <a:xfrm>
            <a:off x="6409944" y="5760720"/>
            <a:ext cx="2199132" cy="320040"/>
          </a:xfrm>
          <a:prstGeom prst="rect">
            <a:avLst/>
          </a:prstGeom>
          <a:noFill/>
          <a:ln/>
        </p:spPr>
        <p:txBody>
          <a:bodyPr wrap="square" lIns="0" tIns="0" rIns="0" bIns="0" rtlCol="0" anchor="t"/>
          <a:lstStyle/>
          <a:p>
            <a:pPr indent="0" marL="0">
              <a:buNone/>
            </a:pPr>
            <a:r>
              <a:rPr lang="en-US" sz="1100" dirty="0">
                <a:solidFill>
                  <a:schemeClr val="accent5"/>
                </a:solidFill>
              </a:rPr>
              <a:t>Latin-letter comments labelled; new ones every day</a:t>
            </a:r>
            <a:endParaRPr lang="en-US" sz="1100" dirty="0"/>
          </a:p>
        </p:txBody>
      </p:sp>
      <p:sp>
        <p:nvSpPr>
          <p:cNvPr id="36" name="stat-0.66 → 0.32"/>
          <p:cNvSpPr/>
          <p:nvPr/>
        </p:nvSpPr>
        <p:spPr>
          <a:xfrm>
            <a:off x="9038844" y="5349240"/>
            <a:ext cx="2601468" cy="822960"/>
          </a:xfrm>
          <a:prstGeom prst="roundRect">
            <a:avLst>
              <a:gd name="adj" fmla="val 8889"/>
            </a:avLst>
          </a:prstGeom>
          <a:solidFill>
            <a:schemeClr val="bg1"/>
          </a:solidFill>
          <a:ln/>
          <a:effectLst>
            <a:outerShdw sx="100000" sy="100000" kx="0" ky="0" algn="bl" rotWithShape="0" blurRad="114300" dist="25400" dir="5400000">
              <a:srgbClr val="141A33">
                <a:alpha val="13000"/>
              </a:srgbClr>
            </a:outerShdw>
          </a:effectLst>
        </p:spPr>
      </p:sp>
      <p:sp>
        <p:nvSpPr>
          <p:cNvPr id="37" name="Text 34"/>
          <p:cNvSpPr txBox="1"/>
          <p:nvPr/>
        </p:nvSpPr>
        <p:spPr>
          <a:xfrm>
            <a:off x="9240012" y="5413248"/>
            <a:ext cx="2199132" cy="34747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0.66 → 0.32</a:t>
            </a:r>
            <a:endParaRPr lang="en-US" sz="2000" dirty="0"/>
          </a:p>
        </p:txBody>
      </p:sp>
      <p:sp>
        <p:nvSpPr>
          <p:cNvPr id="38" name="Text 35"/>
          <p:cNvSpPr txBox="1"/>
          <p:nvPr/>
        </p:nvSpPr>
        <p:spPr>
          <a:xfrm>
            <a:off x="9240012" y="5760720"/>
            <a:ext cx="2199132" cy="320040"/>
          </a:xfrm>
          <a:prstGeom prst="rect">
            <a:avLst/>
          </a:prstGeom>
          <a:noFill/>
          <a:ln/>
        </p:spPr>
        <p:txBody>
          <a:bodyPr wrap="square" lIns="0" tIns="0" rIns="0" bIns="0" rtlCol="0" anchor="t"/>
          <a:lstStyle/>
          <a:p>
            <a:pPr indent="0" marL="0">
              <a:buNone/>
            </a:pPr>
            <a:r>
              <a:rPr lang="en-US" sz="1100" dirty="0">
                <a:solidFill>
                  <a:schemeClr val="accent5"/>
                </a:solidFill>
              </a:rPr>
              <a:t>T+7 accuracy without trailer comments: our most valuable input</a:t>
            </a:r>
            <a:endParaRPr lang="en-US" sz="11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05 — THE FORECAST</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Every title, one verdict, three moments</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Each title gets a verdict at three points of its release cycle, with an honest range and the evidence behind it.</a:t>
            </a:r>
            <a:endParaRPr lang="en-US" sz="1500" dirty="0"/>
          </a:p>
        </p:txBody>
      </p:sp>
      <p:sp>
        <p:nvSpPr>
          <p:cNvPr id="5" name="screenshot-frame"/>
          <p:cNvSpPr/>
          <p:nvPr/>
        </p:nvSpPr>
        <p:spPr>
          <a:xfrm>
            <a:off x="484632" y="1901952"/>
            <a:ext cx="5041087" cy="4334256"/>
          </a:xfrm>
          <a:prstGeom prst="roundRect">
            <a:avLst>
              <a:gd name="adj" fmla="val 1688"/>
            </a:avLst>
          </a:prstGeom>
          <a:solidFill>
            <a:schemeClr val="bg1"/>
          </a:solidFill>
          <a:ln/>
          <a:effectLst>
            <a:outerShdw sx="100000" sy="100000" kx="0" ky="0" algn="bl" rotWithShape="0" blurRad="114300" dist="25400" dir="5400000">
              <a:srgbClr val="141A33">
                <a:alpha val="13000"/>
              </a:srgbClr>
            </a:outerShdw>
          </a:effectLst>
        </p:spPr>
      </p:sp>
      <p:pic>
        <p:nvPicPr>
          <p:cNvPr id="6" name="screenshot" descr="Prototype screenshot: forecast sheet for Demon Slayer Hashira Training Arc at T+7, verdict Launch, India Demand Index 78 with 80% range 67 to 88; the real result was 91.">    </p:cNvPr>
          <p:cNvPicPr>
            <a:picLocks noChangeAspect="1"/>
          </p:cNvPicPr>
          <p:nvPr/>
        </p:nvPicPr>
        <p:blipFill>
          <a:blip r:embed="rId1"/>
          <a:stretch>
            <a:fillRect/>
          </a:stretch>
        </p:blipFill>
        <p:spPr>
          <a:xfrm>
            <a:off x="548640" y="1965960"/>
            <a:ext cx="4913071" cy="4206240"/>
          </a:xfrm>
          <a:prstGeom prst="rect">
            <a:avLst/>
          </a:prstGeom>
        </p:spPr>
      </p:pic>
      <p:sp>
        <p:nvSpPr>
          <p:cNvPr id="7" name="callout-download"/>
          <p:cNvSpPr/>
          <p:nvPr/>
        </p:nvSpPr>
        <p:spPr>
          <a:xfrm>
            <a:off x="4597537" y="2022987"/>
            <a:ext cx="346547" cy="153533"/>
          </a:xfrm>
          <a:prstGeom prst="roundRect">
            <a:avLst>
              <a:gd name="adj" fmla="val 29779"/>
            </a:avLst>
          </a:prstGeom>
          <a:ln w="25400">
            <a:solidFill>
              <a:schemeClr val="accent1"/>
            </a:solidFill>
            <a:prstDash val="solid"/>
          </a:ln>
        </p:spPr>
      </p:sp>
      <p:sp>
        <p:nvSpPr>
          <p:cNvPr id="8" name="marker-1"/>
          <p:cNvSpPr/>
          <p:nvPr/>
        </p:nvSpPr>
        <p:spPr>
          <a:xfrm>
            <a:off x="4195201" y="1944305"/>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callout-stages"/>
          <p:cNvSpPr/>
          <p:nvPr/>
        </p:nvSpPr>
        <p:spPr>
          <a:xfrm>
            <a:off x="4345304" y="4591382"/>
            <a:ext cx="793987" cy="193014"/>
          </a:xfrm>
          <a:prstGeom prst="roundRect">
            <a:avLst>
              <a:gd name="adj" fmla="val 23687"/>
            </a:avLst>
          </a:prstGeom>
          <a:ln w="25400">
            <a:solidFill>
              <a:schemeClr val="accent1"/>
            </a:solidFill>
            <a:prstDash val="solid"/>
          </a:ln>
        </p:spPr>
      </p:sp>
      <p:sp>
        <p:nvSpPr>
          <p:cNvPr id="10" name="marker-2"/>
          <p:cNvSpPr/>
          <p:nvPr/>
        </p:nvSpPr>
        <p:spPr>
          <a:xfrm>
            <a:off x="3942968" y="4532441"/>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callout-range"/>
          <p:cNvSpPr/>
          <p:nvPr/>
        </p:nvSpPr>
        <p:spPr>
          <a:xfrm>
            <a:off x="3707043" y="5762624"/>
            <a:ext cx="888301" cy="168887"/>
          </a:xfrm>
          <a:prstGeom prst="roundRect">
            <a:avLst>
              <a:gd name="adj" fmla="val 27071"/>
            </a:avLst>
          </a:prstGeom>
          <a:ln w="25400">
            <a:solidFill>
              <a:schemeClr val="accent1"/>
            </a:solidFill>
            <a:prstDash val="solid"/>
          </a:ln>
        </p:spPr>
      </p:sp>
      <p:sp>
        <p:nvSpPr>
          <p:cNvPr id="12" name="marker-3"/>
          <p:cNvSpPr/>
          <p:nvPr/>
        </p:nvSpPr>
        <p:spPr>
          <a:xfrm>
            <a:off x="4650208" y="5378576"/>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marker-1"/>
          <p:cNvSpPr/>
          <p:nvPr/>
        </p:nvSpPr>
        <p:spPr>
          <a:xfrm>
            <a:off x="5806440" y="2011680"/>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Text 11"/>
          <p:cNvSpPr txBox="1"/>
          <p:nvPr/>
        </p:nvSpPr>
        <p:spPr>
          <a:xfrm>
            <a:off x="6236208" y="1975104"/>
            <a:ext cx="5394960"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Downloadable one-page overview</a:t>
            </a:r>
            <a:endParaRPr lang="en-US" sz="1700" dirty="0"/>
          </a:p>
        </p:txBody>
      </p:sp>
      <p:sp>
        <p:nvSpPr>
          <p:cNvPr id="15" name="icon-FaPrint"/>
          <p:cNvSpPr/>
          <p:nvPr/>
        </p:nvSpPr>
        <p:spPr>
          <a:xfrm>
            <a:off x="6236208" y="2450592"/>
            <a:ext cx="329184" cy="329184"/>
          </a:xfrm>
          <a:prstGeom prst="ellipse">
            <a:avLst/>
          </a:prstGeom>
          <a:solidFill>
            <a:schemeClr val="tx2"/>
          </a:solidFill>
          <a:ln/>
        </p:spPr>
      </p:sp>
      <p:pic>
        <p:nvPicPr>
          <p:cNvPr id="16" name="Image 1" descr="Print icon">    </p:cNvPr>
          <p:cNvPicPr>
            <a:picLocks noChangeAspect="1"/>
          </p:cNvPicPr>
          <p:nvPr/>
        </p:nvPicPr>
        <p:blipFill>
          <a:blip r:embed="rId2"/>
          <a:stretch>
            <a:fillRect/>
          </a:stretch>
        </p:blipFill>
        <p:spPr>
          <a:xfrm>
            <a:off x="6318504" y="2532888"/>
            <a:ext cx="164592" cy="164592"/>
          </a:xfrm>
          <a:prstGeom prst="rect">
            <a:avLst/>
          </a:prstGeom>
        </p:spPr>
      </p:pic>
      <p:sp>
        <p:nvSpPr>
          <p:cNvPr id="17" name="Text 13"/>
          <p:cNvSpPr txBox="1"/>
          <p:nvPr/>
        </p:nvSpPr>
        <p:spPr>
          <a:xfrm>
            <a:off x="6675120" y="2414016"/>
            <a:ext cx="4965192" cy="402336"/>
          </a:xfrm>
          <a:prstGeom prst="rect">
            <a:avLst/>
          </a:prstGeom>
          <a:noFill/>
          <a:ln/>
        </p:spPr>
        <p:txBody>
          <a:bodyPr wrap="square" lIns="0" tIns="0" rIns="0" bIns="0" rtlCol="0" anchor="ctr"/>
          <a:lstStyle/>
          <a:p>
            <a:pPr indent="0" marL="0">
              <a:buNone/>
            </a:pPr>
            <a:r>
              <a:rPr lang="en-US" sz="1250" b="1" dirty="0">
                <a:solidFill>
                  <a:schemeClr val="tx1"/>
                </a:solidFill>
              </a:rPr>
              <a:t>English brief: </a:t>
            </a:r>
            <a:pPr indent="0" marL="0">
              <a:buNone/>
            </a:pPr>
            <a:r>
              <a:rPr lang="en-US" sz="1250" dirty="0">
                <a:solidFill>
                  <a:schemeClr val="accent5"/>
                </a:solidFill>
              </a:rPr>
              <a:t>verdict, range, drivers and launch plan, one click to PDF</a:t>
            </a:r>
            <a:endParaRPr lang="en-US" sz="1250" dirty="0"/>
          </a:p>
        </p:txBody>
      </p:sp>
      <p:sp>
        <p:nvSpPr>
          <p:cNvPr id="18" name="ringi-seal"/>
          <p:cNvSpPr/>
          <p:nvPr/>
        </p:nvSpPr>
        <p:spPr>
          <a:xfrm>
            <a:off x="6236208" y="2889504"/>
            <a:ext cx="329184" cy="329184"/>
          </a:xfrm>
          <a:prstGeom prst="roundRect">
            <a:avLst>
              <a:gd name="adj" fmla="val 13889"/>
            </a:avLst>
          </a:prstGeom>
          <a:solidFill>
            <a:schemeClr val="bg1"/>
          </a:solidFill>
          <a:ln w="19050">
            <a:solidFill>
              <a:schemeClr val="accent1"/>
            </a:solidFill>
          </a:ln>
        </p:spPr>
        <p:txBody>
          <a:bodyPr wrap="square" lIns="0" tIns="0" rIns="0" bIns="0" rtlCol="0" anchor="ctr"/>
          <a:lstStyle/>
          <a:p>
            <a:pPr algn="ctr" indent="0" marL="0">
              <a:buNone/>
            </a:pPr>
            <a:r>
              <a:rPr lang="en-US" sz="1400" b="1" dirty="0">
                <a:solidFill>
                  <a:schemeClr val="accent1"/>
                </a:solidFill>
                <a:latin typeface="Yu Mincho" pitchFamily="34" charset="0"/>
                <a:ea typeface="Yu Mincho" pitchFamily="34" charset="-122"/>
                <a:cs typeface="Yu Mincho" pitchFamily="34" charset="-120"/>
              </a:rPr>
              <a:t>稟</a:t>
            </a:r>
            <a:endParaRPr lang="en-US" sz="1400" dirty="0"/>
          </a:p>
        </p:txBody>
      </p:sp>
      <p:sp>
        <p:nvSpPr>
          <p:cNvPr id="19" name="Text 15"/>
          <p:cNvSpPr txBox="1"/>
          <p:nvPr/>
        </p:nvSpPr>
        <p:spPr>
          <a:xfrm>
            <a:off x="6675120" y="2834640"/>
            <a:ext cx="4965192" cy="457200"/>
          </a:xfrm>
          <a:prstGeom prst="rect">
            <a:avLst/>
          </a:prstGeom>
          <a:noFill/>
          <a:ln/>
        </p:spPr>
        <p:txBody>
          <a:bodyPr wrap="square" lIns="0" tIns="0" rIns="0" bIns="0" rtlCol="0" anchor="ctr"/>
          <a:lstStyle/>
          <a:p>
            <a:pPr indent="0" marL="0">
              <a:buNone/>
            </a:pPr>
            <a:r>
              <a:rPr lang="en-US" sz="1250" b="1" dirty="0">
                <a:solidFill>
                  <a:schemeClr val="tx1"/>
                </a:solidFill>
              </a:rPr>
              <a:t>稟議書 (ringi-sho): </a:t>
            </a:r>
            <a:pPr indent="0" marL="0">
              <a:buNone/>
            </a:pPr>
            <a:r>
              <a:rPr lang="en-US" sz="1250" dirty="0">
                <a:solidFill>
                  <a:schemeClr val="accent5"/>
                </a:solidFill>
              </a:rPr>
              <a:t>the Japanese approval paper, with conclusion, grounds, precedents, risks, next dates and seal boxes</a:t>
            </a:r>
            <a:endParaRPr lang="en-US" sz="1250" dirty="0"/>
          </a:p>
        </p:txBody>
      </p:sp>
      <p:sp>
        <p:nvSpPr>
          <p:cNvPr id="20" name="marker-2"/>
          <p:cNvSpPr/>
          <p:nvPr/>
        </p:nvSpPr>
        <p:spPr>
          <a:xfrm>
            <a:off x="5806440" y="3465576"/>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1" name="Text 17"/>
          <p:cNvSpPr txBox="1"/>
          <p:nvPr/>
        </p:nvSpPr>
        <p:spPr>
          <a:xfrm>
            <a:off x="6236208" y="3429000"/>
            <a:ext cx="5394960"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Three forecast moments</a:t>
            </a:r>
            <a:endParaRPr lang="en-US" sz="1700" dirty="0"/>
          </a:p>
        </p:txBody>
      </p:sp>
      <p:sp>
        <p:nvSpPr>
          <p:cNvPr id="22" name="moments-line"/>
          <p:cNvSpPr/>
          <p:nvPr/>
        </p:nvSpPr>
        <p:spPr>
          <a:xfrm>
            <a:off x="6812280" y="4160520"/>
            <a:ext cx="3931920" cy="0"/>
          </a:xfrm>
          <a:prstGeom prst="line">
            <a:avLst/>
          </a:prstGeom>
          <a:noFill/>
          <a:ln w="25400">
            <a:solidFill>
              <a:schemeClr val="accent6"/>
            </a:solidFill>
            <a:prstDash val="solid"/>
          </a:ln>
        </p:spPr>
      </p:sp>
      <p:sp>
        <p:nvSpPr>
          <p:cNvPr id="23" name="moment-Cold"/>
          <p:cNvSpPr/>
          <p:nvPr/>
        </p:nvSpPr>
        <p:spPr>
          <a:xfrm>
            <a:off x="6684264" y="4032504"/>
            <a:ext cx="256032" cy="256032"/>
          </a:xfrm>
          <a:prstGeom prst="ellipse">
            <a:avLst/>
          </a:prstGeom>
          <a:solidFill>
            <a:schemeClr val="tx2"/>
          </a:solidFill>
          <a:ln w="25400">
            <a:solidFill>
              <a:schemeClr val="bg2"/>
            </a:solidFill>
            <a:prstDash val="solid"/>
          </a:ln>
        </p:spPr>
      </p:sp>
      <p:sp>
        <p:nvSpPr>
          <p:cNvPr id="24" name="Text 20"/>
          <p:cNvSpPr txBox="1"/>
          <p:nvPr/>
        </p:nvSpPr>
        <p:spPr>
          <a:xfrm>
            <a:off x="5897880" y="4334256"/>
            <a:ext cx="1828800" cy="256032"/>
          </a:xfrm>
          <a:prstGeom prst="rect">
            <a:avLst/>
          </a:prstGeom>
          <a:noFill/>
          <a:ln/>
        </p:spPr>
        <p:txBody>
          <a:bodyPr wrap="square" lIns="0" tIns="0" rIns="0" bIns="0" rtlCol="0" anchor="ctr"/>
          <a:lstStyle/>
          <a:p>
            <a:pPr algn="ctr" indent="0" marL="0">
              <a:buNone/>
            </a:pPr>
            <a:r>
              <a:rPr lang="en-US" sz="1300" b="1" dirty="0">
                <a:solidFill>
                  <a:schemeClr val="tx1"/>
                </a:solidFill>
              </a:rPr>
              <a:t>Cold</a:t>
            </a:r>
            <a:endParaRPr lang="en-US" sz="1300" dirty="0"/>
          </a:p>
        </p:txBody>
      </p:sp>
      <p:sp>
        <p:nvSpPr>
          <p:cNvPr id="25" name="Text 21"/>
          <p:cNvSpPr txBox="1"/>
          <p:nvPr/>
        </p:nvSpPr>
        <p:spPr>
          <a:xfrm>
            <a:off x="5897880" y="4590288"/>
            <a:ext cx="1828800" cy="384048"/>
          </a:xfrm>
          <a:prstGeom prst="rect">
            <a:avLst/>
          </a:prstGeom>
          <a:noFill/>
          <a:ln/>
        </p:spPr>
        <p:txBody>
          <a:bodyPr wrap="square" lIns="0" tIns="0" rIns="0" bIns="0" rtlCol="0" anchor="t"/>
          <a:lstStyle/>
          <a:p>
            <a:pPr algn="ctr" indent="0" marL="0">
              <a:buNone/>
            </a:pPr>
            <a:r>
              <a:rPr lang="en-US" sz="1050" dirty="0">
                <a:solidFill>
                  <a:schemeClr val="accent5"/>
                </a:solidFill>
              </a:rPr>
              <a:t>any time: genre, studio and the closest past titles</a:t>
            </a:r>
            <a:endParaRPr lang="en-US" sz="1050" dirty="0"/>
          </a:p>
        </p:txBody>
      </p:sp>
      <p:sp>
        <p:nvSpPr>
          <p:cNvPr id="26" name="moment-T−28"/>
          <p:cNvSpPr/>
          <p:nvPr/>
        </p:nvSpPr>
        <p:spPr>
          <a:xfrm>
            <a:off x="8650224" y="4032504"/>
            <a:ext cx="256032" cy="256032"/>
          </a:xfrm>
          <a:prstGeom prst="ellipse">
            <a:avLst/>
          </a:prstGeom>
          <a:solidFill>
            <a:schemeClr val="tx2"/>
          </a:solidFill>
          <a:ln w="25400">
            <a:solidFill>
              <a:schemeClr val="bg2"/>
            </a:solidFill>
            <a:prstDash val="solid"/>
          </a:ln>
        </p:spPr>
      </p:sp>
      <p:sp>
        <p:nvSpPr>
          <p:cNvPr id="27" name="Text 23"/>
          <p:cNvSpPr txBox="1"/>
          <p:nvPr/>
        </p:nvSpPr>
        <p:spPr>
          <a:xfrm>
            <a:off x="7863840" y="4334256"/>
            <a:ext cx="1828800" cy="256032"/>
          </a:xfrm>
          <a:prstGeom prst="rect">
            <a:avLst/>
          </a:prstGeom>
          <a:noFill/>
          <a:ln/>
        </p:spPr>
        <p:txBody>
          <a:bodyPr wrap="square" lIns="0" tIns="0" rIns="0" bIns="0" rtlCol="0" anchor="ctr"/>
          <a:lstStyle/>
          <a:p>
            <a:pPr algn="ctr" indent="0" marL="0">
              <a:buNone/>
            </a:pPr>
            <a:r>
              <a:rPr lang="en-US" sz="1300" b="1" dirty="0">
                <a:solidFill>
                  <a:schemeClr val="tx1"/>
                </a:solidFill>
              </a:rPr>
              <a:t>T−28</a:t>
            </a:r>
            <a:endParaRPr lang="en-US" sz="1300" dirty="0"/>
          </a:p>
        </p:txBody>
      </p:sp>
      <p:sp>
        <p:nvSpPr>
          <p:cNvPr id="28" name="Text 24"/>
          <p:cNvSpPr txBox="1"/>
          <p:nvPr/>
        </p:nvSpPr>
        <p:spPr>
          <a:xfrm>
            <a:off x="7863840" y="4590288"/>
            <a:ext cx="1828800" cy="384048"/>
          </a:xfrm>
          <a:prstGeom prst="rect">
            <a:avLst/>
          </a:prstGeom>
          <a:noFill/>
          <a:ln/>
        </p:spPr>
        <p:txBody>
          <a:bodyPr wrap="square" lIns="0" tIns="0" rIns="0" bIns="0" rtlCol="0" anchor="t"/>
          <a:lstStyle/>
          <a:p>
            <a:pPr algn="ctr" indent="0" marL="0">
              <a:buNone/>
            </a:pPr>
            <a:r>
              <a:rPr lang="en-US" sz="1050" dirty="0">
                <a:solidFill>
                  <a:schemeClr val="accent5"/>
                </a:solidFill>
              </a:rPr>
              <a:t>4 weeks before the premiere, adding early buzz</a:t>
            </a:r>
            <a:endParaRPr lang="en-US" sz="1050" dirty="0"/>
          </a:p>
        </p:txBody>
      </p:sp>
      <p:sp>
        <p:nvSpPr>
          <p:cNvPr id="29" name="moment-T+7"/>
          <p:cNvSpPr/>
          <p:nvPr/>
        </p:nvSpPr>
        <p:spPr>
          <a:xfrm>
            <a:off x="10616184" y="4032504"/>
            <a:ext cx="256032" cy="256032"/>
          </a:xfrm>
          <a:prstGeom prst="ellipse">
            <a:avLst/>
          </a:prstGeom>
          <a:solidFill>
            <a:schemeClr val="accent1"/>
          </a:solidFill>
          <a:ln w="25400">
            <a:solidFill>
              <a:schemeClr val="bg2"/>
            </a:solidFill>
            <a:prstDash val="solid"/>
          </a:ln>
        </p:spPr>
      </p:sp>
      <p:sp>
        <p:nvSpPr>
          <p:cNvPr id="30" name="Text 26"/>
          <p:cNvSpPr txBox="1"/>
          <p:nvPr/>
        </p:nvSpPr>
        <p:spPr>
          <a:xfrm>
            <a:off x="9829800" y="4334256"/>
            <a:ext cx="1828800" cy="256032"/>
          </a:xfrm>
          <a:prstGeom prst="rect">
            <a:avLst/>
          </a:prstGeom>
          <a:noFill/>
          <a:ln/>
        </p:spPr>
        <p:txBody>
          <a:bodyPr wrap="square" lIns="0" tIns="0" rIns="0" bIns="0" rtlCol="0" anchor="ctr"/>
          <a:lstStyle/>
          <a:p>
            <a:pPr algn="ctr" indent="0" marL="0">
              <a:buNone/>
            </a:pPr>
            <a:r>
              <a:rPr lang="en-US" sz="1300" b="1" dirty="0">
                <a:solidFill>
                  <a:schemeClr val="tx1"/>
                </a:solidFill>
              </a:rPr>
              <a:t>T+7</a:t>
            </a:r>
            <a:endParaRPr lang="en-US" sz="1300" dirty="0"/>
          </a:p>
        </p:txBody>
      </p:sp>
      <p:sp>
        <p:nvSpPr>
          <p:cNvPr id="31" name="Text 27"/>
          <p:cNvSpPr txBox="1"/>
          <p:nvPr/>
        </p:nvSpPr>
        <p:spPr>
          <a:xfrm>
            <a:off x="9829800" y="4590288"/>
            <a:ext cx="1828800" cy="384048"/>
          </a:xfrm>
          <a:prstGeom prst="rect">
            <a:avLst/>
          </a:prstGeom>
          <a:noFill/>
          <a:ln/>
        </p:spPr>
        <p:txBody>
          <a:bodyPr wrap="square" lIns="0" tIns="0" rIns="0" bIns="0" rtlCol="0" anchor="t"/>
          <a:lstStyle/>
          <a:p>
            <a:pPr algn="ctr" indent="0" marL="0">
              <a:buNone/>
            </a:pPr>
            <a:r>
              <a:rPr lang="en-US" sz="1050" dirty="0">
                <a:solidFill>
                  <a:schemeClr val="accent5"/>
                </a:solidFill>
              </a:rPr>
              <a:t>1 week after, adding launch week (a nowcast)</a:t>
            </a:r>
            <a:endParaRPr lang="en-US" sz="1050" dirty="0"/>
          </a:p>
        </p:txBody>
      </p:sp>
      <p:sp>
        <p:nvSpPr>
          <p:cNvPr id="32" name="marker-3"/>
          <p:cNvSpPr/>
          <p:nvPr/>
        </p:nvSpPr>
        <p:spPr>
          <a:xfrm>
            <a:off x="5806440" y="510235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9"/>
          <p:cNvSpPr txBox="1"/>
          <p:nvPr/>
        </p:nvSpPr>
        <p:spPr>
          <a:xfrm>
            <a:off x="6236208" y="5065776"/>
            <a:ext cx="5394960"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An honest 80% range sets the verdict</a:t>
            </a:r>
            <a:endParaRPr lang="en-US" sz="1700" dirty="0"/>
          </a:p>
        </p:txBody>
      </p:sp>
      <p:sp>
        <p:nvSpPr>
          <p:cNvPr id="34" name="verdict-rule-Launch"/>
          <p:cNvSpPr/>
          <p:nvPr/>
        </p:nvSpPr>
        <p:spPr>
          <a:xfrm>
            <a:off x="5806440" y="5522976"/>
            <a:ext cx="1853489" cy="640080"/>
          </a:xfrm>
          <a:prstGeom prst="roundRect">
            <a:avLst>
              <a:gd name="adj" fmla="val 11429"/>
            </a:avLst>
          </a:prstGeom>
          <a:solidFill>
            <a:schemeClr val="accent2"/>
          </a:solidFill>
          <a:ln/>
        </p:spPr>
        <p:txBody>
          <a:bodyPr wrap="square" lIns="508" tIns="508" rIns="508" bIns="508" rtlCol="0" anchor="ctr"/>
          <a:lstStyle/>
          <a:p>
            <a:pPr algn="ctr" indent="0" marL="0">
              <a:buNone/>
            </a:pPr>
            <a:r>
              <a:rPr lang="en-US" sz="1400" b="1" dirty="0">
                <a:solidFill>
                  <a:schemeClr val="bg1"/>
                </a:solidFill>
              </a:rPr>
              <a:t>Launch</a:t>
            </a:r>
            <a:endParaRPr lang="en-US" sz="1400" dirty="0"/>
          </a:p>
          <a:p>
            <a:pPr algn="ctr" indent="0" marL="0">
              <a:buNone/>
            </a:pPr>
            <a:r>
              <a:rPr lang="en-US" sz="1050" dirty="0">
                <a:solidFill>
                  <a:schemeClr val="bg1"/>
                </a:solidFill>
              </a:rPr>
              <a:t>whole range above the line</a:t>
            </a:r>
            <a:endParaRPr lang="en-US" sz="1400" dirty="0"/>
          </a:p>
        </p:txBody>
      </p:sp>
      <p:sp>
        <p:nvSpPr>
          <p:cNvPr id="35" name="verdict-rule-Test-market"/>
          <p:cNvSpPr/>
          <p:nvPr/>
        </p:nvSpPr>
        <p:spPr>
          <a:xfrm>
            <a:off x="7797089" y="5522976"/>
            <a:ext cx="1853489" cy="640080"/>
          </a:xfrm>
          <a:prstGeom prst="roundRect">
            <a:avLst>
              <a:gd name="adj" fmla="val 11429"/>
            </a:avLst>
          </a:prstGeom>
          <a:solidFill>
            <a:schemeClr val="accent3"/>
          </a:solidFill>
          <a:ln/>
        </p:spPr>
        <p:txBody>
          <a:bodyPr wrap="square" lIns="508" tIns="508" rIns="508" bIns="508" rtlCol="0" anchor="ctr"/>
          <a:lstStyle/>
          <a:p>
            <a:pPr algn="ctr" indent="0" marL="0">
              <a:buNone/>
            </a:pPr>
            <a:r>
              <a:rPr lang="en-US" sz="1400" b="1" dirty="0">
                <a:solidFill>
                  <a:schemeClr val="tx1"/>
                </a:solidFill>
              </a:rPr>
              <a:t>Test-market</a:t>
            </a:r>
            <a:endParaRPr lang="en-US" sz="1400" dirty="0"/>
          </a:p>
          <a:p>
            <a:pPr algn="ctr" indent="0" marL="0">
              <a:buNone/>
            </a:pPr>
            <a:r>
              <a:rPr lang="en-US" sz="1050" dirty="0">
                <a:solidFill>
                  <a:schemeClr val="tx1"/>
                </a:solidFill>
              </a:rPr>
              <a:t>range straddles: test small</a:t>
            </a:r>
            <a:endParaRPr lang="en-US" sz="1400" dirty="0"/>
          </a:p>
        </p:txBody>
      </p:sp>
      <p:sp>
        <p:nvSpPr>
          <p:cNvPr id="36" name="verdict-rule-Hold"/>
          <p:cNvSpPr/>
          <p:nvPr/>
        </p:nvSpPr>
        <p:spPr>
          <a:xfrm>
            <a:off x="9787738" y="5522976"/>
            <a:ext cx="1853489" cy="640080"/>
          </a:xfrm>
          <a:prstGeom prst="roundRect">
            <a:avLst>
              <a:gd name="adj" fmla="val 11429"/>
            </a:avLst>
          </a:prstGeom>
          <a:solidFill>
            <a:schemeClr val="accent1"/>
          </a:solidFill>
          <a:ln/>
        </p:spPr>
        <p:txBody>
          <a:bodyPr wrap="square" lIns="508" tIns="508" rIns="508" bIns="508" rtlCol="0" anchor="ctr"/>
          <a:lstStyle/>
          <a:p>
            <a:pPr algn="ctr" indent="0" marL="0">
              <a:buNone/>
            </a:pPr>
            <a:r>
              <a:rPr lang="en-US" sz="1400" b="1" dirty="0">
                <a:solidFill>
                  <a:schemeClr val="bg1"/>
                </a:solidFill>
              </a:rPr>
              <a:t>Hold</a:t>
            </a:r>
            <a:endParaRPr lang="en-US" sz="1400" dirty="0"/>
          </a:p>
          <a:p>
            <a:pPr algn="ctr" indent="0" marL="0">
              <a:buNone/>
            </a:pPr>
            <a:r>
              <a:rPr lang="en-US" sz="1050" dirty="0">
                <a:solidFill>
                  <a:schemeClr val="bg1"/>
                </a:solidFill>
              </a:rPr>
              <a:t>whole range below the line</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06 — RESULTS</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Proven on titles the model never saw</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Trained on 2019–2023, then checked on 52 titles from 2024 it had never seen. Every number below comes from that held-out season.</a:t>
            </a:r>
            <a:endParaRPr lang="en-US" sz="1500" dirty="0"/>
          </a:p>
        </p:txBody>
      </p:sp>
      <p:sp>
        <p:nvSpPr>
          <p:cNvPr id="5" name="stat-10 of 11"/>
          <p:cNvSpPr/>
          <p:nvPr/>
        </p:nvSpPr>
        <p:spPr>
          <a:xfrm>
            <a:off x="548640" y="2011680"/>
            <a:ext cx="2601468" cy="1188720"/>
          </a:xfrm>
          <a:prstGeom prst="roundRect">
            <a:avLst>
              <a:gd name="adj" fmla="val 6154"/>
            </a:avLst>
          </a:prstGeom>
          <a:solidFill>
            <a:schemeClr val="tx2"/>
          </a:solidFill>
          <a:ln/>
          <a:effectLst>
            <a:outerShdw sx="100000" sy="100000" kx="0" ky="0" algn="bl" rotWithShape="0" blurRad="114300" dist="25400" dir="5400000">
              <a:srgbClr val="141A33">
                <a:alpha val="13000"/>
              </a:srgbClr>
            </a:outerShdw>
          </a:effectLst>
        </p:spPr>
      </p:sp>
      <p:sp>
        <p:nvSpPr>
          <p:cNvPr id="6" name="Text 4"/>
          <p:cNvSpPr txBox="1"/>
          <p:nvPr/>
        </p:nvSpPr>
        <p:spPr>
          <a:xfrm>
            <a:off x="749808" y="2103120"/>
            <a:ext cx="2199132" cy="475488"/>
          </a:xfrm>
          <a:prstGeom prst="rect">
            <a:avLst/>
          </a:prstGeom>
          <a:noFill/>
          <a:ln/>
        </p:spPr>
        <p:txBody>
          <a:bodyPr wrap="square" lIns="0" tIns="0" rIns="0" bIns="0" rtlCol="0" anchor="ctr"/>
          <a:lstStyle/>
          <a:p>
            <a:pPr indent="0" marL="0">
              <a:buNone/>
            </a:pPr>
            <a:r>
              <a:rPr lang="en-US" sz="2800" b="1" dirty="0">
                <a:solidFill>
                  <a:schemeClr val="bg2"/>
                </a:solidFill>
                <a:latin typeface="+mj-lt" pitchFamily="34" charset="0"/>
                <a:ea typeface="+mj-lt" pitchFamily="34" charset="-122"/>
                <a:cs typeface="+mj-lt" pitchFamily="34" charset="-120"/>
              </a:rPr>
              <a:t>10 of 11</a:t>
            </a:r>
            <a:endParaRPr lang="en-US" sz="2800" dirty="0"/>
          </a:p>
        </p:txBody>
      </p:sp>
      <p:sp>
        <p:nvSpPr>
          <p:cNvPr id="7" name="Text 5"/>
          <p:cNvSpPr txBox="1"/>
          <p:nvPr/>
        </p:nvSpPr>
        <p:spPr>
          <a:xfrm>
            <a:off x="749808" y="2596896"/>
            <a:ext cx="2199132" cy="512064"/>
          </a:xfrm>
          <a:prstGeom prst="rect">
            <a:avLst/>
          </a:prstGeom>
          <a:noFill/>
          <a:ln/>
        </p:spPr>
        <p:txBody>
          <a:bodyPr wrap="square" lIns="0" tIns="0" rIns="0" bIns="0" rtlCol="0" anchor="t"/>
          <a:lstStyle/>
          <a:p>
            <a:pPr indent="0" marL="0">
              <a:buNone/>
            </a:pPr>
            <a:r>
              <a:rPr lang="en-US" sz="1150" dirty="0">
                <a:solidFill>
                  <a:schemeClr val="accent6"/>
                </a:solidFill>
              </a:rPr>
              <a:t>T+7 Launch calls in India's real top third, against 1 in 3 by chance</a:t>
            </a:r>
            <a:endParaRPr lang="en-US" sz="1150" dirty="0"/>
          </a:p>
        </p:txBody>
      </p:sp>
      <p:sp>
        <p:nvSpPr>
          <p:cNvPr id="8" name="stat-4 of 4"/>
          <p:cNvSpPr/>
          <p:nvPr/>
        </p:nvSpPr>
        <p:spPr>
          <a:xfrm>
            <a:off x="3378708" y="2011680"/>
            <a:ext cx="2601468" cy="1188720"/>
          </a:xfrm>
          <a:prstGeom prst="roundRect">
            <a:avLst>
              <a:gd name="adj" fmla="val 6154"/>
            </a:avLst>
          </a:prstGeom>
          <a:solidFill>
            <a:schemeClr val="bg1"/>
          </a:solidFill>
          <a:ln/>
          <a:effectLst>
            <a:outerShdw sx="100000" sy="100000" kx="0" ky="0" algn="bl" rotWithShape="0" blurRad="114300" dist="25400" dir="5400000">
              <a:srgbClr val="141A33">
                <a:alpha val="13000"/>
              </a:srgbClr>
            </a:outerShdw>
          </a:effectLst>
        </p:spPr>
      </p:sp>
      <p:sp>
        <p:nvSpPr>
          <p:cNvPr id="9" name="Text 7"/>
          <p:cNvSpPr txBox="1"/>
          <p:nvPr/>
        </p:nvSpPr>
        <p:spPr>
          <a:xfrm>
            <a:off x="3579876" y="2103120"/>
            <a:ext cx="2199132" cy="475488"/>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4 of 4</a:t>
            </a:r>
            <a:endParaRPr lang="en-US" sz="2800" dirty="0"/>
          </a:p>
        </p:txBody>
      </p:sp>
      <p:sp>
        <p:nvSpPr>
          <p:cNvPr id="10" name="Text 8"/>
          <p:cNvSpPr txBox="1"/>
          <p:nvPr/>
        </p:nvSpPr>
        <p:spPr>
          <a:xfrm>
            <a:off x="3579876" y="2596896"/>
            <a:ext cx="2199132" cy="512064"/>
          </a:xfrm>
          <a:prstGeom prst="rect">
            <a:avLst/>
          </a:prstGeom>
          <a:noFill/>
          <a:ln/>
        </p:spPr>
        <p:txBody>
          <a:bodyPr wrap="square" lIns="0" tIns="0" rIns="0" bIns="0" rtlCol="0" anchor="t"/>
          <a:lstStyle/>
          <a:p>
            <a:pPr indent="0" marL="0">
              <a:buNone/>
            </a:pPr>
            <a:r>
              <a:rPr lang="en-US" sz="1150" dirty="0">
                <a:solidFill>
                  <a:schemeClr val="accent5"/>
                </a:solidFill>
              </a:rPr>
              <a:t>T−28 Launch calls, 4 weeks before the premiere, were real hits</a:t>
            </a:r>
            <a:endParaRPr lang="en-US" sz="1150" dirty="0"/>
          </a:p>
        </p:txBody>
      </p:sp>
      <p:sp>
        <p:nvSpPr>
          <p:cNvPr id="11" name="stat-0.66"/>
          <p:cNvSpPr/>
          <p:nvPr/>
        </p:nvSpPr>
        <p:spPr>
          <a:xfrm>
            <a:off x="6208776" y="2011680"/>
            <a:ext cx="2601468" cy="1188720"/>
          </a:xfrm>
          <a:prstGeom prst="roundRect">
            <a:avLst>
              <a:gd name="adj" fmla="val 6154"/>
            </a:avLst>
          </a:prstGeom>
          <a:solidFill>
            <a:schemeClr val="bg1"/>
          </a:solidFill>
          <a:ln/>
          <a:effectLst>
            <a:outerShdw sx="100000" sy="100000" kx="0" ky="0" algn="bl" rotWithShape="0" blurRad="114300" dist="25400" dir="5400000">
              <a:srgbClr val="141A33">
                <a:alpha val="13000"/>
              </a:srgbClr>
            </a:outerShdw>
          </a:effectLst>
        </p:spPr>
      </p:sp>
      <p:sp>
        <p:nvSpPr>
          <p:cNvPr id="12" name="Text 10"/>
          <p:cNvSpPr txBox="1"/>
          <p:nvPr/>
        </p:nvSpPr>
        <p:spPr>
          <a:xfrm>
            <a:off x="6409944" y="2103120"/>
            <a:ext cx="2199132" cy="475488"/>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0.66</a:t>
            </a:r>
            <a:endParaRPr lang="en-US" sz="2800" dirty="0"/>
          </a:p>
        </p:txBody>
      </p:sp>
      <p:sp>
        <p:nvSpPr>
          <p:cNvPr id="13" name="Text 11"/>
          <p:cNvSpPr txBox="1"/>
          <p:nvPr/>
        </p:nvSpPr>
        <p:spPr>
          <a:xfrm>
            <a:off x="6409944" y="2596896"/>
            <a:ext cx="2199132" cy="512064"/>
          </a:xfrm>
          <a:prstGeom prst="rect">
            <a:avLst/>
          </a:prstGeom>
          <a:noFill/>
          <a:ln/>
        </p:spPr>
        <p:txBody>
          <a:bodyPr wrap="square" lIns="0" tIns="0" rIns="0" bIns="0" rtlCol="0" anchor="t"/>
          <a:lstStyle/>
          <a:p>
            <a:pPr indent="0" marL="0">
              <a:buNone/>
            </a:pPr>
            <a:r>
              <a:rPr lang="en-US" sz="1150" dirty="0">
                <a:solidFill>
                  <a:schemeClr val="accent5"/>
                </a:solidFill>
              </a:rPr>
              <a:t>T+7 rank accuracy, against 0.52 for the best simple rule</a:t>
            </a:r>
            <a:endParaRPr lang="en-US" sz="1150" dirty="0"/>
          </a:p>
        </p:txBody>
      </p:sp>
      <p:sp>
        <p:nvSpPr>
          <p:cNvPr id="14" name="stat-8.4 pts"/>
          <p:cNvSpPr/>
          <p:nvPr/>
        </p:nvSpPr>
        <p:spPr>
          <a:xfrm>
            <a:off x="9038844" y="2011680"/>
            <a:ext cx="2601468" cy="1188720"/>
          </a:xfrm>
          <a:prstGeom prst="roundRect">
            <a:avLst>
              <a:gd name="adj" fmla="val 6154"/>
            </a:avLst>
          </a:prstGeom>
          <a:solidFill>
            <a:schemeClr val="bg1"/>
          </a:solidFill>
          <a:ln/>
          <a:effectLst>
            <a:outerShdw sx="100000" sy="100000" kx="0" ky="0" algn="bl" rotWithShape="0" blurRad="114300" dist="25400" dir="5400000">
              <a:srgbClr val="141A33">
                <a:alpha val="13000"/>
              </a:srgbClr>
            </a:outerShdw>
          </a:effectLst>
        </p:spPr>
      </p:sp>
      <p:sp>
        <p:nvSpPr>
          <p:cNvPr id="15" name="Text 13"/>
          <p:cNvSpPr txBox="1"/>
          <p:nvPr/>
        </p:nvSpPr>
        <p:spPr>
          <a:xfrm>
            <a:off x="9240012" y="2103120"/>
            <a:ext cx="2199132" cy="475488"/>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8.4 pts</a:t>
            </a:r>
            <a:endParaRPr lang="en-US" sz="2800" dirty="0"/>
          </a:p>
        </p:txBody>
      </p:sp>
      <p:sp>
        <p:nvSpPr>
          <p:cNvPr id="16" name="Text 14"/>
          <p:cNvSpPr txBox="1"/>
          <p:nvPr/>
        </p:nvSpPr>
        <p:spPr>
          <a:xfrm>
            <a:off x="9240012" y="2596896"/>
            <a:ext cx="2199132" cy="512064"/>
          </a:xfrm>
          <a:prstGeom prst="rect">
            <a:avLst/>
          </a:prstGeom>
          <a:noFill/>
          <a:ln/>
        </p:spPr>
        <p:txBody>
          <a:bodyPr wrap="square" lIns="0" tIns="0" rIns="0" bIns="0" rtlCol="0" anchor="t"/>
          <a:lstStyle/>
          <a:p>
            <a:pPr indent="0" marL="0">
              <a:buNone/>
            </a:pPr>
            <a:r>
              <a:rPr lang="en-US" sz="1150" dirty="0">
                <a:solidFill>
                  <a:schemeClr val="accent5"/>
                </a:solidFill>
              </a:rPr>
              <a:t>average T+7 miss on the 0–100 index; best simple rule: 9.5</a:t>
            </a:r>
            <a:endParaRPr lang="en-US" sz="1150" dirty="0"/>
          </a:p>
        </p:txBody>
      </p:sp>
      <p:sp>
        <p:nvSpPr>
          <p:cNvPr id="17" name="chart-card-rank"/>
          <p:cNvSpPr/>
          <p:nvPr/>
        </p:nvSpPr>
        <p:spPr>
          <a:xfrm>
            <a:off x="548640" y="3429000"/>
            <a:ext cx="5431536" cy="2743200"/>
          </a:xfrm>
          <a:prstGeom prst="roundRect">
            <a:avLst>
              <a:gd name="adj" fmla="val 2667"/>
            </a:avLst>
          </a:prstGeom>
          <a:solidFill>
            <a:schemeClr val="bg1"/>
          </a:solidFill>
          <a:ln/>
          <a:effectLst>
            <a:outerShdw sx="100000" sy="100000" kx="0" ky="0" algn="bl" rotWithShape="0" blurRad="114300" dist="25400" dir="5400000">
              <a:srgbClr val="141A33">
                <a:alpha val="13000"/>
              </a:srgbClr>
            </a:outerShdw>
          </a:effectLst>
        </p:spPr>
      </p:sp>
      <p:sp>
        <p:nvSpPr>
          <p:cNvPr id="18" name="Text 16"/>
          <p:cNvSpPr txBox="1"/>
          <p:nvPr/>
        </p:nvSpPr>
        <p:spPr>
          <a:xfrm>
            <a:off x="777240" y="3547872"/>
            <a:ext cx="4983480" cy="292608"/>
          </a:xfrm>
          <a:prstGeom prst="rect">
            <a:avLst/>
          </a:prstGeom>
          <a:noFill/>
          <a:ln/>
        </p:spPr>
        <p:txBody>
          <a:bodyPr wrap="square" lIns="0" tIns="0" rIns="0" bIns="0" rtlCol="0" anchor="ctr"/>
          <a:lstStyle/>
          <a:p>
            <a:pPr indent="0" marL="0">
              <a:buNone/>
            </a:pPr>
            <a:r>
              <a:rPr lang="en-US" sz="1350" b="1" dirty="0">
                <a:solidFill>
                  <a:schemeClr val="tx1"/>
                </a:solidFill>
              </a:rPr>
              <a:t>Who ranks India demand best? (T+7, 2024 titles)</a:t>
            </a:r>
            <a:endParaRPr lang="en-US" sz="1350" dirty="0"/>
          </a:p>
        </p:txBody>
      </p:sp>
      <p:graphicFrame>
        <p:nvGraphicFramePr>
          <p:cNvPr id="19" name="chart-rank" descr=""/>
          <p:cNvGraphicFramePr/>
          <p:nvPr/>
        </p:nvGraphicFramePr>
        <p:xfrm>
          <a:off x="640080" y="3858768"/>
          <a:ext cx="5248656" cy="178308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777240" y="5669280"/>
            <a:ext cx="4983480" cy="438912"/>
          </a:xfrm>
          <a:prstGeom prst="rect">
            <a:avLst/>
          </a:prstGeom>
          <a:noFill/>
          <a:ln/>
        </p:spPr>
        <p:txBody>
          <a:bodyPr wrap="square" lIns="0" tIns="0" rIns="0" bIns="0" rtlCol="0" anchor="t"/>
          <a:lstStyle/>
          <a:p>
            <a:pPr indent="0" marL="0">
              <a:buNone/>
            </a:pPr>
            <a:r>
              <a:rPr lang="en-US" sz="1050" dirty="0">
                <a:solidFill>
                  <a:schemeClr val="accent5"/>
                </a:solidFill>
              </a:rPr>
              <a:t>Rank accuracy: 1 = perfect order, 0 = chance. The Blend is our model; the rest are simple rules anyone could apply.</a:t>
            </a:r>
            <a:endParaRPr lang="en-US" sz="1050" dirty="0"/>
          </a:p>
        </p:txBody>
      </p:sp>
      <p:sp>
        <p:nvSpPr>
          <p:cNvPr id="21" name="chart-card-clock"/>
          <p:cNvSpPr/>
          <p:nvPr/>
        </p:nvSpPr>
        <p:spPr>
          <a:xfrm>
            <a:off x="6208776" y="3429000"/>
            <a:ext cx="5431536" cy="2743200"/>
          </a:xfrm>
          <a:prstGeom prst="roundRect">
            <a:avLst>
              <a:gd name="adj" fmla="val 2667"/>
            </a:avLst>
          </a:prstGeom>
          <a:solidFill>
            <a:schemeClr val="bg1"/>
          </a:solidFill>
          <a:ln/>
          <a:effectLst>
            <a:outerShdw sx="100000" sy="100000" kx="0" ky="0" algn="bl" rotWithShape="0" blurRad="114300" dist="25400" dir="5400000">
              <a:srgbClr val="141A33">
                <a:alpha val="13000"/>
              </a:srgbClr>
            </a:outerShdw>
          </a:effectLst>
        </p:spPr>
      </p:sp>
      <p:sp>
        <p:nvSpPr>
          <p:cNvPr id="22" name="Text 19"/>
          <p:cNvSpPr txBox="1"/>
          <p:nvPr/>
        </p:nvSpPr>
        <p:spPr>
          <a:xfrm>
            <a:off x="6437376" y="3547872"/>
            <a:ext cx="4983480" cy="292608"/>
          </a:xfrm>
          <a:prstGeom prst="rect">
            <a:avLst/>
          </a:prstGeom>
          <a:noFill/>
          <a:ln/>
        </p:spPr>
        <p:txBody>
          <a:bodyPr wrap="square" lIns="0" tIns="0" rIns="0" bIns="0" rtlCol="0" anchor="ctr"/>
          <a:lstStyle/>
          <a:p>
            <a:pPr indent="0" marL="0">
              <a:buNone/>
            </a:pPr>
            <a:r>
              <a:rPr lang="en-US" sz="1350" b="1" dirty="0">
                <a:solidFill>
                  <a:schemeClr val="tx1"/>
                </a:solidFill>
              </a:rPr>
              <a:t>When will we know? A forecast made on each day</a:t>
            </a:r>
            <a:endParaRPr lang="en-US" sz="1350" dirty="0"/>
          </a:p>
        </p:txBody>
      </p:sp>
      <p:graphicFrame>
        <p:nvGraphicFramePr>
          <p:cNvPr id="23" name="chart-clock" descr=""/>
          <p:cNvGraphicFramePr/>
          <p:nvPr/>
        </p:nvGraphicFramePr>
        <p:xfrm>
          <a:off x="6300216" y="3858768"/>
          <a:ext cx="5248656" cy="178308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txBox="1"/>
          <p:nvPr/>
        </p:nvSpPr>
        <p:spPr>
          <a:xfrm>
            <a:off x="6437376" y="5669280"/>
            <a:ext cx="4983480" cy="438912"/>
          </a:xfrm>
          <a:prstGeom prst="rect">
            <a:avLst/>
          </a:prstGeom>
          <a:noFill/>
          <a:ln/>
        </p:spPr>
        <p:txBody>
          <a:bodyPr wrap="square" lIns="0" tIns="0" rIns="0" bIns="0" rtlCol="0" anchor="t"/>
          <a:lstStyle/>
          <a:p>
            <a:pPr indent="0" marL="0">
              <a:buNone/>
            </a:pPr>
            <a:r>
              <a:rPr lang="en-US" sz="1050" dirty="0">
                <a:solidFill>
                  <a:schemeClr val="accent5"/>
                </a:solidFill>
              </a:rPr>
              <a:t>Days from the Japanese premiere. Waiting before it buys little (0.29 → 0.38); day 0 → +3 is the jump (0.41 → 0.53). So: license small early, decide the dub on day 3–7.</a:t>
            </a:r>
            <a:endParaRPr lang="en-US" sz="10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07 — REGION &amp; LANGUAGE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Where in India, and which dub first</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Every title gets a language-hub map and a dub-demand score, read from Indian fans of its closest past titles.</a:t>
            </a:r>
            <a:endParaRPr lang="en-US" sz="1500" dirty="0"/>
          </a:p>
        </p:txBody>
      </p:sp>
      <p:sp>
        <p:nvSpPr>
          <p:cNvPr id="5" name="screenshot-frame"/>
          <p:cNvSpPr/>
          <p:nvPr/>
        </p:nvSpPr>
        <p:spPr>
          <a:xfrm>
            <a:off x="484632" y="1920240"/>
            <a:ext cx="5751576" cy="4254703"/>
          </a:xfrm>
          <a:prstGeom prst="roundRect">
            <a:avLst>
              <a:gd name="adj" fmla="val 1719"/>
            </a:avLst>
          </a:prstGeom>
          <a:solidFill>
            <a:schemeClr val="bg1"/>
          </a:solidFill>
          <a:ln/>
          <a:effectLst>
            <a:outerShdw sx="100000" sy="100000" kx="0" ky="0" algn="bl" rotWithShape="0" blurRad="114300" dist="25400" dir="5400000">
              <a:srgbClr val="141A33">
                <a:alpha val="13000"/>
              </a:srgbClr>
            </a:outerShdw>
          </a:effectLst>
        </p:spPr>
      </p:sp>
      <p:pic>
        <p:nvPicPr>
          <p:cNvPr id="6" name="screenshot" descr="Prototype screenshot: language-hub map of India for Demon Slayer Hashira Training Arc, Hindi 80%, Malayalam 12%, Tamil 5%, Kannada 3%, from 37 comments; dub demand 10% against 25% for a typical title.">    </p:cNvPr>
          <p:cNvPicPr>
            <a:picLocks noChangeAspect="1"/>
          </p:cNvPicPr>
          <p:nvPr/>
        </p:nvPicPr>
        <p:blipFill>
          <a:blip r:embed="rId1"/>
          <a:stretch>
            <a:fillRect/>
          </a:stretch>
        </p:blipFill>
        <p:spPr>
          <a:xfrm>
            <a:off x="548640" y="1984248"/>
            <a:ext cx="5623560" cy="4126687"/>
          </a:xfrm>
          <a:prstGeom prst="rect">
            <a:avLst/>
          </a:prstGeom>
        </p:spPr>
      </p:pic>
      <p:sp>
        <p:nvSpPr>
          <p:cNvPr id="7" name="stat-1,090"/>
          <p:cNvSpPr/>
          <p:nvPr/>
        </p:nvSpPr>
        <p:spPr>
          <a:xfrm>
            <a:off x="6446520" y="1984248"/>
            <a:ext cx="2482596" cy="1051560"/>
          </a:xfrm>
          <a:prstGeom prst="roundRect">
            <a:avLst>
              <a:gd name="adj" fmla="val 6957"/>
            </a:avLst>
          </a:prstGeom>
          <a:solidFill>
            <a:schemeClr val="bg1"/>
          </a:solidFill>
          <a:ln/>
          <a:effectLst>
            <a:outerShdw sx="100000" sy="100000" kx="0" ky="0" algn="bl" rotWithShape="0" blurRad="114300" dist="25400" dir="5400000">
              <a:srgbClr val="141A33">
                <a:alpha val="13000"/>
              </a:srgbClr>
            </a:outerShdw>
          </a:effectLst>
        </p:spPr>
      </p:sp>
      <p:sp>
        <p:nvSpPr>
          <p:cNvPr id="8" name="Text 5"/>
          <p:cNvSpPr txBox="1"/>
          <p:nvPr/>
        </p:nvSpPr>
        <p:spPr>
          <a:xfrm>
            <a:off x="6647688" y="2057400"/>
            <a:ext cx="2080260" cy="438912"/>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1,090</a:t>
            </a:r>
            <a:endParaRPr lang="en-US" sz="2600" dirty="0"/>
          </a:p>
        </p:txBody>
      </p:sp>
      <p:sp>
        <p:nvSpPr>
          <p:cNvPr id="9" name="Text 6"/>
          <p:cNvSpPr txBox="1"/>
          <p:nvPr/>
        </p:nvSpPr>
        <p:spPr>
          <a:xfrm>
            <a:off x="6647688" y="2514600"/>
            <a:ext cx="2080260" cy="429768"/>
          </a:xfrm>
          <a:prstGeom prst="rect">
            <a:avLst/>
          </a:prstGeom>
          <a:noFill/>
          <a:ln/>
        </p:spPr>
        <p:txBody>
          <a:bodyPr wrap="square" lIns="0" tIns="0" rIns="0" bIns="0" rtlCol="0" anchor="t"/>
          <a:lstStyle/>
          <a:p>
            <a:pPr indent="0" marL="0">
              <a:buNone/>
            </a:pPr>
            <a:r>
              <a:rPr lang="en-US" sz="1150" dirty="0">
                <a:solidFill>
                  <a:schemeClr val="accent5"/>
                </a:solidFill>
              </a:rPr>
              <a:t>Indian comments asking for a dub, on 68 titles</a:t>
            </a:r>
            <a:endParaRPr lang="en-US" sz="1150" dirty="0"/>
          </a:p>
        </p:txBody>
      </p:sp>
      <p:sp>
        <p:nvSpPr>
          <p:cNvPr id="10" name="stat-91%"/>
          <p:cNvSpPr/>
          <p:nvPr/>
        </p:nvSpPr>
        <p:spPr>
          <a:xfrm>
            <a:off x="9157716" y="1984248"/>
            <a:ext cx="2482596" cy="1051560"/>
          </a:xfrm>
          <a:prstGeom prst="roundRect">
            <a:avLst>
              <a:gd name="adj" fmla="val 6957"/>
            </a:avLst>
          </a:prstGeom>
          <a:solidFill>
            <a:schemeClr val="bg1"/>
          </a:solidFill>
          <a:ln/>
          <a:effectLst>
            <a:outerShdw sx="100000" sy="100000" kx="0" ky="0" algn="bl" rotWithShape="0" blurRad="114300" dist="25400" dir="5400000">
              <a:srgbClr val="141A33">
                <a:alpha val="13000"/>
              </a:srgbClr>
            </a:outerShdw>
          </a:effectLst>
        </p:spPr>
      </p:sp>
      <p:sp>
        <p:nvSpPr>
          <p:cNvPr id="11" name="Text 8"/>
          <p:cNvSpPr txBox="1"/>
          <p:nvPr/>
        </p:nvSpPr>
        <p:spPr>
          <a:xfrm>
            <a:off x="9358884" y="2057400"/>
            <a:ext cx="2080260" cy="438912"/>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91%</a:t>
            </a:r>
            <a:endParaRPr lang="en-US" sz="2600" dirty="0"/>
          </a:p>
        </p:txBody>
      </p:sp>
      <p:sp>
        <p:nvSpPr>
          <p:cNvPr id="12" name="Text 9"/>
          <p:cNvSpPr txBox="1"/>
          <p:nvPr/>
        </p:nvSpPr>
        <p:spPr>
          <a:xfrm>
            <a:off x="9358884" y="2514600"/>
            <a:ext cx="2080260" cy="429768"/>
          </a:xfrm>
          <a:prstGeom prst="rect">
            <a:avLst/>
          </a:prstGeom>
          <a:noFill/>
          <a:ln/>
        </p:spPr>
        <p:txBody>
          <a:bodyPr wrap="square" lIns="0" tIns="0" rIns="0" bIns="0" rtlCol="0" anchor="t"/>
          <a:lstStyle/>
          <a:p>
            <a:pPr indent="0" marL="0">
              <a:buNone/>
            </a:pPr>
            <a:r>
              <a:rPr lang="en-US" sz="1150" dirty="0">
                <a:solidFill>
                  <a:schemeClr val="accent5"/>
                </a:solidFill>
              </a:rPr>
              <a:t>of language-tagged Indian comments are Hindi or Hinglish</a:t>
            </a:r>
            <a:endParaRPr lang="en-US" sz="1150" dirty="0"/>
          </a:p>
        </p:txBody>
      </p:sp>
      <p:sp>
        <p:nvSpPr>
          <p:cNvPr id="13" name="chart-card-dub"/>
          <p:cNvSpPr/>
          <p:nvPr/>
        </p:nvSpPr>
        <p:spPr>
          <a:xfrm>
            <a:off x="6446520" y="3200400"/>
            <a:ext cx="5193792" cy="1783080"/>
          </a:xfrm>
          <a:prstGeom prst="roundRect">
            <a:avLst>
              <a:gd name="adj" fmla="val 4103"/>
            </a:avLst>
          </a:prstGeom>
          <a:solidFill>
            <a:schemeClr val="bg1"/>
          </a:solidFill>
          <a:ln/>
          <a:effectLst>
            <a:outerShdw sx="100000" sy="100000" kx="0" ky="0" algn="bl" rotWithShape="0" blurRad="114300" dist="25400" dir="5400000">
              <a:srgbClr val="141A33">
                <a:alpha val="13000"/>
              </a:srgbClr>
            </a:outerShdw>
          </a:effectLst>
        </p:spPr>
      </p:sp>
      <p:sp>
        <p:nvSpPr>
          <p:cNvPr id="14" name="Text 11"/>
          <p:cNvSpPr txBox="1"/>
          <p:nvPr/>
        </p:nvSpPr>
        <p:spPr>
          <a:xfrm>
            <a:off x="6647688" y="3291840"/>
            <a:ext cx="4754880" cy="274320"/>
          </a:xfrm>
          <a:prstGeom prst="rect">
            <a:avLst/>
          </a:prstGeom>
          <a:noFill/>
          <a:ln/>
        </p:spPr>
        <p:txBody>
          <a:bodyPr wrap="square" lIns="0" tIns="0" rIns="0" bIns="0" rtlCol="0" anchor="ctr"/>
          <a:lstStyle/>
          <a:p>
            <a:pPr indent="0" marL="0">
              <a:buNone/>
            </a:pPr>
            <a:r>
              <a:rPr lang="en-US" sz="1300" b="1" dirty="0">
                <a:solidFill>
                  <a:schemeClr val="tx1"/>
                </a:solidFill>
              </a:rPr>
              <a:t>Dub requests by language</a:t>
            </a:r>
            <a:endParaRPr lang="en-US" sz="1300" dirty="0"/>
          </a:p>
        </p:txBody>
      </p:sp>
      <p:graphicFrame>
        <p:nvGraphicFramePr>
          <p:cNvPr id="15" name="chart-dub" descr=""/>
          <p:cNvGraphicFramePr/>
          <p:nvPr/>
        </p:nvGraphicFramePr>
        <p:xfrm>
          <a:off x="6510528" y="3566160"/>
          <a:ext cx="5029200" cy="1371600"/>
        </p:xfrm>
        <a:graphic xmlns:a="http://schemas.openxmlformats.org/drawingml/2006/main">
          <a:graphicData uri="http://schemas.openxmlformats.org/drawingml/2006/chart">
            <c:chart xmlns:c="http://schemas.openxmlformats.org/drawingml/2006/chart" r:id="rId2"/>
          </a:graphicData>
        </a:graphic>
      </p:graphicFrame>
      <p:sp>
        <p:nvSpPr>
          <p:cNvPr id="16" name="icon-FaListCheck"/>
          <p:cNvSpPr/>
          <p:nvPr/>
        </p:nvSpPr>
        <p:spPr>
          <a:xfrm>
            <a:off x="6446520" y="5138928"/>
            <a:ext cx="274320" cy="274320"/>
          </a:xfrm>
          <a:prstGeom prst="ellipse">
            <a:avLst/>
          </a:prstGeom>
          <a:solidFill>
            <a:schemeClr val="accent1"/>
          </a:solidFill>
          <a:ln/>
        </p:spPr>
      </p:sp>
      <p:pic>
        <p:nvPicPr>
          <p:cNvPr id="17" name="Image 1" descr="ListCheck icon">    </p:cNvPr>
          <p:cNvPicPr>
            <a:picLocks noChangeAspect="1"/>
          </p:cNvPicPr>
          <p:nvPr/>
        </p:nvPicPr>
        <p:blipFill>
          <a:blip r:embed="rId3"/>
          <a:stretch>
            <a:fillRect/>
          </a:stretch>
        </p:blipFill>
        <p:spPr>
          <a:xfrm>
            <a:off x="6508242" y="5200650"/>
            <a:ext cx="150876" cy="150876"/>
          </a:xfrm>
          <a:prstGeom prst="rect">
            <a:avLst/>
          </a:prstGeom>
        </p:spPr>
      </p:pic>
      <p:sp>
        <p:nvSpPr>
          <p:cNvPr id="18" name="Text 13"/>
          <p:cNvSpPr txBox="1"/>
          <p:nvPr/>
        </p:nvSpPr>
        <p:spPr>
          <a:xfrm>
            <a:off x="6830568" y="5120640"/>
            <a:ext cx="4809744" cy="310896"/>
          </a:xfrm>
          <a:prstGeom prst="rect">
            <a:avLst/>
          </a:prstGeom>
          <a:noFill/>
          <a:ln/>
        </p:spPr>
        <p:txBody>
          <a:bodyPr wrap="square" lIns="0" tIns="0" rIns="0" bIns="0" rtlCol="0" anchor="ctr"/>
          <a:lstStyle/>
          <a:p>
            <a:pPr indent="0" marL="0">
              <a:buNone/>
            </a:pPr>
            <a:r>
              <a:rPr lang="en-US" sz="1200" dirty="0">
                <a:solidFill>
                  <a:schemeClr val="tx1"/>
                </a:solidFill>
              </a:rPr>
              <a:t>Launch plan: subtitles first, a Hindi dub if early viewing shows demand</a:t>
            </a:r>
            <a:endParaRPr lang="en-US" sz="1200" dirty="0"/>
          </a:p>
        </p:txBody>
      </p:sp>
      <p:sp>
        <p:nvSpPr>
          <p:cNvPr id="19" name="icon-FaScaleBalanced"/>
          <p:cNvSpPr/>
          <p:nvPr/>
        </p:nvSpPr>
        <p:spPr>
          <a:xfrm>
            <a:off x="6446520" y="5477256"/>
            <a:ext cx="274320" cy="274320"/>
          </a:xfrm>
          <a:prstGeom prst="ellipse">
            <a:avLst/>
          </a:prstGeom>
          <a:solidFill>
            <a:schemeClr val="accent1"/>
          </a:solidFill>
          <a:ln/>
        </p:spPr>
      </p:sp>
      <p:pic>
        <p:nvPicPr>
          <p:cNvPr id="20" name="Image 2" descr="ScaleBalanced icon">    </p:cNvPr>
          <p:cNvPicPr>
            <a:picLocks noChangeAspect="1"/>
          </p:cNvPicPr>
          <p:nvPr/>
        </p:nvPicPr>
        <p:blipFill>
          <a:blip r:embed="rId4"/>
          <a:stretch>
            <a:fillRect/>
          </a:stretch>
        </p:blipFill>
        <p:spPr>
          <a:xfrm>
            <a:off x="6508242" y="5538978"/>
            <a:ext cx="150876" cy="150876"/>
          </a:xfrm>
          <a:prstGeom prst="rect">
            <a:avLst/>
          </a:prstGeom>
        </p:spPr>
      </p:pic>
      <p:sp>
        <p:nvSpPr>
          <p:cNvPr id="21" name="Text 15"/>
          <p:cNvSpPr txBox="1"/>
          <p:nvPr/>
        </p:nvSpPr>
        <p:spPr>
          <a:xfrm>
            <a:off x="6830568" y="5458968"/>
            <a:ext cx="4809744" cy="310896"/>
          </a:xfrm>
          <a:prstGeom prst="rect">
            <a:avLst/>
          </a:prstGeom>
          <a:noFill/>
          <a:ln/>
        </p:spPr>
        <p:txBody>
          <a:bodyPr wrap="square" lIns="0" tIns="0" rIns="0" bIns="0" rtlCol="0" anchor="ctr"/>
          <a:lstStyle/>
          <a:p>
            <a:pPr indent="0" marL="0">
              <a:buNone/>
            </a:pPr>
            <a:r>
              <a:rPr lang="en-US" sz="1200" dirty="0">
                <a:solidFill>
                  <a:schemeClr val="tx1"/>
                </a:solidFill>
              </a:rPr>
              <a:t>A ‘thin evidence’ flag when a map rests on under 30 comments</a:t>
            </a:r>
            <a:endParaRPr lang="en-US" sz="1200" dirty="0"/>
          </a:p>
        </p:txBody>
      </p:sp>
      <p:sp>
        <p:nvSpPr>
          <p:cNvPr id="22" name="icon-FaCalendarCheck"/>
          <p:cNvSpPr/>
          <p:nvPr/>
        </p:nvSpPr>
        <p:spPr>
          <a:xfrm>
            <a:off x="6446520" y="5815584"/>
            <a:ext cx="274320" cy="274320"/>
          </a:xfrm>
          <a:prstGeom prst="ellipse">
            <a:avLst/>
          </a:prstGeom>
          <a:solidFill>
            <a:schemeClr val="accent1"/>
          </a:solidFill>
          <a:ln/>
        </p:spPr>
      </p:sp>
      <p:pic>
        <p:nvPicPr>
          <p:cNvPr id="23" name="Image 3" descr="CalendarCheck icon">    </p:cNvPr>
          <p:cNvPicPr>
            <a:picLocks noChangeAspect="1"/>
          </p:cNvPicPr>
          <p:nvPr/>
        </p:nvPicPr>
        <p:blipFill>
          <a:blip r:embed="rId5"/>
          <a:stretch>
            <a:fillRect/>
          </a:stretch>
        </p:blipFill>
        <p:spPr>
          <a:xfrm>
            <a:off x="6508242" y="5877306"/>
            <a:ext cx="150876" cy="150876"/>
          </a:xfrm>
          <a:prstGeom prst="rect">
            <a:avLst/>
          </a:prstGeom>
        </p:spPr>
      </p:pic>
      <p:sp>
        <p:nvSpPr>
          <p:cNvPr id="24" name="Text 17"/>
          <p:cNvSpPr txBox="1"/>
          <p:nvPr/>
        </p:nvSpPr>
        <p:spPr>
          <a:xfrm>
            <a:off x="6830568" y="5797296"/>
            <a:ext cx="4809744" cy="310896"/>
          </a:xfrm>
          <a:prstGeom prst="rect">
            <a:avLst/>
          </a:prstGeom>
          <a:noFill/>
          <a:ln/>
        </p:spPr>
        <p:txBody>
          <a:bodyPr wrap="square" lIns="0" tIns="0" rIns="0" bIns="0" rtlCol="0" anchor="ctr"/>
          <a:lstStyle/>
          <a:p>
            <a:pPr indent="0" marL="0">
              <a:buNone/>
            </a:pPr>
            <a:r>
              <a:rPr lang="en-US" sz="1200" dirty="0">
                <a:solidFill>
                  <a:schemeClr val="tx1"/>
                </a:solidFill>
              </a:rPr>
              <a:t>Release-window what-if: festive season, board exams, IPL</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08 — DEMAND GUIDE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Demand Guide: an extensible service</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Built only from what India has watched and said, so it helps even sellers whose own title is unlikely to work.</a:t>
            </a:r>
            <a:endParaRPr lang="en-US" sz="1500" dirty="0"/>
          </a:p>
        </p:txBody>
      </p:sp>
      <p:sp>
        <p:nvSpPr>
          <p:cNvPr id="5" name="screenshot-frame"/>
          <p:cNvSpPr/>
          <p:nvPr/>
        </p:nvSpPr>
        <p:spPr>
          <a:xfrm>
            <a:off x="484632" y="1920240"/>
            <a:ext cx="5292547" cy="4242816"/>
          </a:xfrm>
          <a:prstGeom prst="roundRect">
            <a:avLst>
              <a:gd name="adj" fmla="val 1724"/>
            </a:avLst>
          </a:prstGeom>
          <a:solidFill>
            <a:schemeClr val="bg1"/>
          </a:solidFill>
          <a:ln/>
          <a:effectLst>
            <a:outerShdw sx="100000" sy="100000" kx="0" ky="0" algn="bl" rotWithShape="0" blurRad="114300" dist="25400" dir="5400000">
              <a:srgbClr val="141A33">
                <a:alpha val="13000"/>
              </a:srgbClr>
            </a:outerShdw>
          </a:effectLst>
        </p:spPr>
      </p:sp>
      <p:pic>
        <p:nvPicPr>
          <p:cNvPr id="6" name="screenshot" descr="Prototype screenshot: Check your title. For a new action show, 5 of 107 similar anime reached India's Top 10 (5%) against 4% for all anime on Netflix, with similar titles and what-ifs such as as a movie, 2 of 11.">    </p:cNvPr>
          <p:cNvPicPr>
            <a:picLocks noChangeAspect="1"/>
          </p:cNvPicPr>
          <p:nvPr/>
        </p:nvPicPr>
        <p:blipFill>
          <a:blip r:embed="rId1"/>
          <a:stretch>
            <a:fillRect/>
          </a:stretch>
        </p:blipFill>
        <p:spPr>
          <a:xfrm>
            <a:off x="548640" y="1984248"/>
            <a:ext cx="5164531" cy="4114800"/>
          </a:xfrm>
          <a:prstGeom prst="rect">
            <a:avLst/>
          </a:prstGeom>
        </p:spPr>
      </p:pic>
      <p:sp>
        <p:nvSpPr>
          <p:cNvPr id="7" name="Text 4"/>
          <p:cNvSpPr txBox="1"/>
          <p:nvPr/>
        </p:nvSpPr>
        <p:spPr>
          <a:xfrm>
            <a:off x="6035040" y="1965960"/>
            <a:ext cx="5605272" cy="32918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Four views, one guide</a:t>
            </a:r>
            <a:endParaRPr lang="en-US" sz="1600" dirty="0"/>
          </a:p>
        </p:txBody>
      </p:sp>
      <p:sp>
        <p:nvSpPr>
          <p:cNvPr id="8" name="guide-view-1"/>
          <p:cNvSpPr/>
          <p:nvPr/>
        </p:nvSpPr>
        <p:spPr>
          <a:xfrm>
            <a:off x="6035040" y="2423160"/>
            <a:ext cx="329184" cy="329184"/>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6"/>
          <p:cNvSpPr txBox="1"/>
          <p:nvPr/>
        </p:nvSpPr>
        <p:spPr>
          <a:xfrm>
            <a:off x="6473952" y="2377440"/>
            <a:ext cx="5166360" cy="246888"/>
          </a:xfrm>
          <a:prstGeom prst="rect">
            <a:avLst/>
          </a:prstGeom>
          <a:noFill/>
          <a:ln/>
        </p:spPr>
        <p:txBody>
          <a:bodyPr wrap="square" lIns="0" tIns="0" rIns="0" bIns="0" rtlCol="0" anchor="ctr"/>
          <a:lstStyle/>
          <a:p>
            <a:pPr indent="0" marL="0">
              <a:buNone/>
            </a:pPr>
            <a:r>
              <a:rPr lang="en-US" sz="1350" b="1" dirty="0">
                <a:solidFill>
                  <a:schemeClr val="tx1"/>
                </a:solidFill>
              </a:rPr>
              <a:t>What India actually watched</a:t>
            </a:r>
            <a:endParaRPr lang="en-US" sz="1350" dirty="0"/>
          </a:p>
        </p:txBody>
      </p:sp>
      <p:sp>
        <p:nvSpPr>
          <p:cNvPr id="10" name="Text 7"/>
          <p:cNvSpPr txBox="1"/>
          <p:nvPr/>
        </p:nvSpPr>
        <p:spPr>
          <a:xfrm>
            <a:off x="6473952" y="2624328"/>
            <a:ext cx="5166360" cy="246888"/>
          </a:xfrm>
          <a:prstGeom prst="rect">
            <a:avLst/>
          </a:prstGeom>
          <a:noFill/>
          <a:ln/>
        </p:spPr>
        <p:txBody>
          <a:bodyPr wrap="square" lIns="0" tIns="0" rIns="0" bIns="0" rtlCol="0" anchor="ctr"/>
          <a:lstStyle/>
          <a:p>
            <a:pPr indent="0" marL="0">
              <a:buNone/>
            </a:pPr>
            <a:r>
              <a:rPr lang="en-US" sz="1100" dirty="0">
                <a:solidFill>
                  <a:schemeClr val="accent5"/>
                </a:solidFill>
              </a:rPr>
              <a:t>15 anime reached Netflix India's Top 10 in 277 weeks</a:t>
            </a:r>
            <a:endParaRPr lang="en-US" sz="1100" dirty="0"/>
          </a:p>
        </p:txBody>
      </p:sp>
      <p:sp>
        <p:nvSpPr>
          <p:cNvPr id="11" name="guide-view-2"/>
          <p:cNvSpPr/>
          <p:nvPr/>
        </p:nvSpPr>
        <p:spPr>
          <a:xfrm>
            <a:off x="6035040" y="2907792"/>
            <a:ext cx="329184" cy="329184"/>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9"/>
          <p:cNvSpPr txBox="1"/>
          <p:nvPr/>
        </p:nvSpPr>
        <p:spPr>
          <a:xfrm>
            <a:off x="6473952" y="2862072"/>
            <a:ext cx="5166360" cy="246888"/>
          </a:xfrm>
          <a:prstGeom prst="rect">
            <a:avLst/>
          </a:prstGeom>
          <a:noFill/>
          <a:ln/>
        </p:spPr>
        <p:txBody>
          <a:bodyPr wrap="square" lIns="0" tIns="0" rIns="0" bIns="0" rtlCol="0" anchor="ctr"/>
          <a:lstStyle/>
          <a:p>
            <a:pPr indent="0" marL="0">
              <a:buNone/>
            </a:pPr>
            <a:r>
              <a:rPr lang="en-US" sz="1350" b="1" dirty="0">
                <a:solidFill>
                  <a:schemeClr val="tx1"/>
                </a:solidFill>
              </a:rPr>
              <a:t>What kind of title gets there</a:t>
            </a:r>
            <a:endParaRPr lang="en-US" sz="1350" dirty="0"/>
          </a:p>
        </p:txBody>
      </p:sp>
      <p:sp>
        <p:nvSpPr>
          <p:cNvPr id="13" name="Text 10"/>
          <p:cNvSpPr txBox="1"/>
          <p:nvPr/>
        </p:nvSpPr>
        <p:spPr>
          <a:xfrm>
            <a:off x="6473952" y="3108960"/>
            <a:ext cx="5166360" cy="246888"/>
          </a:xfrm>
          <a:prstGeom prst="rect">
            <a:avLst/>
          </a:prstGeom>
          <a:noFill/>
          <a:ln/>
        </p:spPr>
        <p:txBody>
          <a:bodyPr wrap="square" lIns="0" tIns="0" rIns="0" bIns="0" rtlCol="0" anchor="ctr"/>
          <a:lstStyle/>
          <a:p>
            <a:pPr indent="0" marL="0">
              <a:buNone/>
            </a:pPr>
            <a:r>
              <a:rPr lang="en-US" sz="1100" dirty="0">
                <a:solidFill>
                  <a:schemeClr val="accent5"/>
                </a:solidFill>
              </a:rPr>
              <a:t>split by genre, audience, source, format, new or sequel</a:t>
            </a:r>
            <a:endParaRPr lang="en-US" sz="1100" dirty="0"/>
          </a:p>
        </p:txBody>
      </p:sp>
      <p:sp>
        <p:nvSpPr>
          <p:cNvPr id="14" name="guide-view-3"/>
          <p:cNvSpPr/>
          <p:nvPr/>
        </p:nvSpPr>
        <p:spPr>
          <a:xfrm>
            <a:off x="6035040" y="3392424"/>
            <a:ext cx="329184" cy="329184"/>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2"/>
          <p:cNvSpPr txBox="1"/>
          <p:nvPr/>
        </p:nvSpPr>
        <p:spPr>
          <a:xfrm>
            <a:off x="6473952" y="3346704"/>
            <a:ext cx="5166360" cy="246888"/>
          </a:xfrm>
          <a:prstGeom prst="rect">
            <a:avLst/>
          </a:prstGeom>
          <a:noFill/>
          <a:ln/>
        </p:spPr>
        <p:txBody>
          <a:bodyPr wrap="square" lIns="0" tIns="0" rIns="0" bIns="0" rtlCol="0" anchor="ctr"/>
          <a:lstStyle/>
          <a:p>
            <a:pPr indent="0" marL="0">
              <a:buNone/>
            </a:pPr>
            <a:r>
              <a:rPr lang="en-US" sz="1350" b="1" dirty="0">
                <a:solidFill>
                  <a:schemeClr val="tx1"/>
                </a:solidFill>
              </a:rPr>
              <a:t>What India is asking for</a:t>
            </a:r>
            <a:endParaRPr lang="en-US" sz="1350" dirty="0"/>
          </a:p>
        </p:txBody>
      </p:sp>
      <p:sp>
        <p:nvSpPr>
          <p:cNvPr id="16" name="Text 13"/>
          <p:cNvSpPr txBox="1"/>
          <p:nvPr/>
        </p:nvSpPr>
        <p:spPr>
          <a:xfrm>
            <a:off x="6473952" y="3593592"/>
            <a:ext cx="5166360" cy="246888"/>
          </a:xfrm>
          <a:prstGeom prst="rect">
            <a:avLst/>
          </a:prstGeom>
          <a:noFill/>
          <a:ln/>
        </p:spPr>
        <p:txBody>
          <a:bodyPr wrap="square" lIns="0" tIns="0" rIns="0" bIns="0" rtlCol="0" anchor="ctr"/>
          <a:lstStyle/>
          <a:p>
            <a:pPr indent="0" marL="0">
              <a:buNone/>
            </a:pPr>
            <a:r>
              <a:rPr lang="en-US" sz="1100" dirty="0">
                <a:solidFill>
                  <a:schemeClr val="accent5"/>
                </a:solidFill>
              </a:rPr>
              <a:t>1,197 asks on 68 titles: Solo Leveling S2 (173), Infinity Castle (146), Suzume (103)</a:t>
            </a:r>
            <a:endParaRPr lang="en-US" sz="1100" dirty="0"/>
          </a:p>
        </p:txBody>
      </p:sp>
      <p:sp>
        <p:nvSpPr>
          <p:cNvPr id="17" name="guide-view-4"/>
          <p:cNvSpPr/>
          <p:nvPr/>
        </p:nvSpPr>
        <p:spPr>
          <a:xfrm>
            <a:off x="6035040" y="387705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Text 15"/>
          <p:cNvSpPr txBox="1"/>
          <p:nvPr/>
        </p:nvSpPr>
        <p:spPr>
          <a:xfrm>
            <a:off x="6473952" y="3831336"/>
            <a:ext cx="5166360" cy="246888"/>
          </a:xfrm>
          <a:prstGeom prst="rect">
            <a:avLst/>
          </a:prstGeom>
          <a:noFill/>
          <a:ln/>
        </p:spPr>
        <p:txBody>
          <a:bodyPr wrap="square" lIns="0" tIns="0" rIns="0" bIns="0" rtlCol="0" anchor="ctr"/>
          <a:lstStyle/>
          <a:p>
            <a:pPr indent="0" marL="0">
              <a:buNone/>
            </a:pPr>
            <a:r>
              <a:rPr lang="en-US" sz="1350" b="1" dirty="0">
                <a:solidFill>
                  <a:schemeClr val="tx1"/>
                </a:solidFill>
              </a:rPr>
              <a:t>Check your title  ◂ shown left</a:t>
            </a:r>
            <a:endParaRPr lang="en-US" sz="1350" dirty="0"/>
          </a:p>
        </p:txBody>
      </p:sp>
      <p:sp>
        <p:nvSpPr>
          <p:cNvPr id="19" name="Text 16"/>
          <p:cNvSpPr txBox="1"/>
          <p:nvPr/>
        </p:nvSpPr>
        <p:spPr>
          <a:xfrm>
            <a:off x="6473952" y="4078224"/>
            <a:ext cx="5166360" cy="246888"/>
          </a:xfrm>
          <a:prstGeom prst="rect">
            <a:avLst/>
          </a:prstGeom>
          <a:noFill/>
          <a:ln/>
        </p:spPr>
        <p:txBody>
          <a:bodyPr wrap="square" lIns="0" tIns="0" rIns="0" bIns="0" rtlCol="0" anchor="ctr"/>
          <a:lstStyle/>
          <a:p>
            <a:pPr indent="0" marL="0">
              <a:buNone/>
            </a:pPr>
            <a:r>
              <a:rPr lang="en-US" sz="1100" dirty="0">
                <a:solidFill>
                  <a:schemeClr val="accent5"/>
                </a:solidFill>
              </a:rPr>
              <a:t>describe a title: similar anime that charted, plus ‘if one thing changed’</a:t>
            </a:r>
            <a:endParaRPr lang="en-US" sz="1100" dirty="0"/>
          </a:p>
        </p:txBody>
      </p:sp>
      <p:sp>
        <p:nvSpPr>
          <p:cNvPr id="20" name="extensible-panel"/>
          <p:cNvSpPr/>
          <p:nvPr/>
        </p:nvSpPr>
        <p:spPr>
          <a:xfrm>
            <a:off x="6035040" y="4389120"/>
            <a:ext cx="5605272" cy="1709928"/>
          </a:xfrm>
          <a:prstGeom prst="roundRect">
            <a:avLst>
              <a:gd name="adj" fmla="val 4278"/>
            </a:avLst>
          </a:prstGeom>
          <a:solidFill>
            <a:schemeClr val="tx2"/>
          </a:solidFill>
          <a:ln/>
          <a:effectLst>
            <a:outerShdw sx="100000" sy="100000" kx="0" ky="0" algn="bl" rotWithShape="0" blurRad="114300" dist="25400" dir="5400000">
              <a:srgbClr val="141A33">
                <a:alpha val="13000"/>
              </a:srgbClr>
            </a:outerShdw>
          </a:effectLst>
        </p:spPr>
      </p:sp>
      <p:sp>
        <p:nvSpPr>
          <p:cNvPr id="21" name="icon-FaPlug"/>
          <p:cNvSpPr/>
          <p:nvPr/>
        </p:nvSpPr>
        <p:spPr>
          <a:xfrm>
            <a:off x="6245352" y="4498848"/>
            <a:ext cx="329184" cy="329184"/>
          </a:xfrm>
          <a:prstGeom prst="ellipse">
            <a:avLst/>
          </a:prstGeom>
          <a:solidFill>
            <a:schemeClr val="accent1"/>
          </a:solidFill>
          <a:ln/>
        </p:spPr>
      </p:sp>
      <p:pic>
        <p:nvPicPr>
          <p:cNvPr id="22" name="Image 1" descr="Plug icon">    </p:cNvPr>
          <p:cNvPicPr>
            <a:picLocks noChangeAspect="1"/>
          </p:cNvPicPr>
          <p:nvPr/>
        </p:nvPicPr>
        <p:blipFill>
          <a:blip r:embed="rId2"/>
          <a:stretch>
            <a:fillRect/>
          </a:stretch>
        </p:blipFill>
        <p:spPr>
          <a:xfrm>
            <a:off x="6319418" y="4572914"/>
            <a:ext cx="181051" cy="181051"/>
          </a:xfrm>
          <a:prstGeom prst="rect">
            <a:avLst/>
          </a:prstGeom>
        </p:spPr>
      </p:pic>
      <p:sp>
        <p:nvSpPr>
          <p:cNvPr id="23" name="Text 19"/>
          <p:cNvSpPr txBox="1"/>
          <p:nvPr/>
        </p:nvSpPr>
        <p:spPr>
          <a:xfrm>
            <a:off x="6675120" y="4498848"/>
            <a:ext cx="4754880" cy="329184"/>
          </a:xfrm>
          <a:prstGeom prst="rect">
            <a:avLst/>
          </a:prstGeom>
          <a:noFill/>
          <a:ln/>
        </p:spPr>
        <p:txBody>
          <a:bodyPr wrap="square" lIns="0" tIns="0" rIns="0" bIns="0" rtlCol="0" anchor="ctr"/>
          <a:lstStyle/>
          <a:p>
            <a:pPr indent="0" marL="0">
              <a:buNone/>
            </a:pPr>
            <a:r>
              <a:rPr lang="en-US" sz="1400" b="1" dirty="0">
                <a:solidFill>
                  <a:schemeClr val="bg2"/>
                </a:solidFill>
              </a:rPr>
              <a:t>Extensible by design: plug in</a:t>
            </a:r>
            <a:endParaRPr lang="en-US" sz="1400" dirty="0"/>
          </a:p>
        </p:txBody>
      </p:sp>
      <p:sp>
        <p:nvSpPr>
          <p:cNvPr id="24" name="Text 20"/>
          <p:cNvSpPr txBox="1"/>
          <p:nvPr/>
        </p:nvSpPr>
        <p:spPr>
          <a:xfrm>
            <a:off x="6245352" y="4919472"/>
            <a:ext cx="2514600" cy="201168"/>
          </a:xfrm>
          <a:prstGeom prst="rect">
            <a:avLst/>
          </a:prstGeom>
          <a:noFill/>
          <a:ln/>
        </p:spPr>
        <p:txBody>
          <a:bodyPr wrap="square" lIns="0" tIns="0" rIns="0" bIns="0" rtlCol="0" anchor="ctr"/>
          <a:lstStyle/>
          <a:p>
            <a:pPr indent="0" marL="0">
              <a:buNone/>
            </a:pPr>
            <a:r>
              <a:rPr lang="en-US" sz="1200" b="1" dirty="0">
                <a:solidFill>
                  <a:schemeClr val="accent1"/>
                </a:solidFill>
              </a:rPr>
              <a:t>+ New market</a:t>
            </a:r>
            <a:endParaRPr lang="en-US" sz="1200" dirty="0"/>
          </a:p>
        </p:txBody>
      </p:sp>
      <p:sp>
        <p:nvSpPr>
          <p:cNvPr id="25" name="Text 21"/>
          <p:cNvSpPr txBox="1"/>
          <p:nvPr/>
        </p:nvSpPr>
        <p:spPr>
          <a:xfrm>
            <a:off x="6245352" y="5120640"/>
            <a:ext cx="2514600" cy="329184"/>
          </a:xfrm>
          <a:prstGeom prst="rect">
            <a:avLst/>
          </a:prstGeom>
          <a:noFill/>
          <a:ln/>
        </p:spPr>
        <p:txBody>
          <a:bodyPr wrap="square" lIns="0" tIns="0" rIns="0" bIns="0" rtlCol="0" anchor="t"/>
          <a:lstStyle/>
          <a:p>
            <a:pPr indent="0" marL="0">
              <a:buNone/>
            </a:pPr>
            <a:r>
              <a:rPr lang="en-US" sz="1000" dirty="0">
                <a:solidFill>
                  <a:schemeClr val="accent6"/>
                </a:solidFill>
              </a:rPr>
              <a:t>one line of config: Indonesia, Thailand, Brazil, Mexico ready</a:t>
            </a:r>
            <a:endParaRPr lang="en-US" sz="1000" dirty="0"/>
          </a:p>
        </p:txBody>
      </p:sp>
      <p:sp>
        <p:nvSpPr>
          <p:cNvPr id="26" name="Text 22"/>
          <p:cNvSpPr txBox="1"/>
          <p:nvPr/>
        </p:nvSpPr>
        <p:spPr>
          <a:xfrm>
            <a:off x="8915400" y="4919472"/>
            <a:ext cx="2514600" cy="201168"/>
          </a:xfrm>
          <a:prstGeom prst="rect">
            <a:avLst/>
          </a:prstGeom>
          <a:noFill/>
          <a:ln/>
        </p:spPr>
        <p:txBody>
          <a:bodyPr wrap="square" lIns="0" tIns="0" rIns="0" bIns="0" rtlCol="0" anchor="ctr"/>
          <a:lstStyle/>
          <a:p>
            <a:pPr indent="0" marL="0">
              <a:buNone/>
            </a:pPr>
            <a:r>
              <a:rPr lang="en-US" sz="1200" b="1" dirty="0">
                <a:solidFill>
                  <a:schemeClr val="accent1"/>
                </a:solidFill>
              </a:rPr>
              <a:t>+ New signal</a:t>
            </a:r>
            <a:endParaRPr lang="en-US" sz="1200" dirty="0"/>
          </a:p>
        </p:txBody>
      </p:sp>
      <p:sp>
        <p:nvSpPr>
          <p:cNvPr id="27" name="Text 23"/>
          <p:cNvSpPr txBox="1"/>
          <p:nvPr/>
        </p:nvSpPr>
        <p:spPr>
          <a:xfrm>
            <a:off x="8915400" y="5120640"/>
            <a:ext cx="2514600" cy="329184"/>
          </a:xfrm>
          <a:prstGeom prst="rect">
            <a:avLst/>
          </a:prstGeom>
          <a:noFill/>
          <a:ln/>
        </p:spPr>
        <p:txBody>
          <a:bodyPr wrap="square" lIns="0" tIns="0" rIns="0" bIns="0" rtlCol="0" anchor="t"/>
          <a:lstStyle/>
          <a:p>
            <a:pPr indent="0" marL="0">
              <a:buNone/>
            </a:pPr>
            <a:r>
              <a:rPr lang="en-US" sz="1000" dirty="0">
                <a:solidFill>
                  <a:schemeClr val="accent6"/>
                </a:solidFill>
              </a:rPr>
              <a:t>streaming availability → titles India asks for and cannot get</a:t>
            </a:r>
            <a:endParaRPr lang="en-US" sz="1000" dirty="0"/>
          </a:p>
        </p:txBody>
      </p:sp>
      <p:sp>
        <p:nvSpPr>
          <p:cNvPr id="28" name="Text 24"/>
          <p:cNvSpPr txBox="1"/>
          <p:nvPr/>
        </p:nvSpPr>
        <p:spPr>
          <a:xfrm>
            <a:off x="6245352" y="5486400"/>
            <a:ext cx="2514600" cy="201168"/>
          </a:xfrm>
          <a:prstGeom prst="rect">
            <a:avLst/>
          </a:prstGeom>
          <a:noFill/>
          <a:ln/>
        </p:spPr>
        <p:txBody>
          <a:bodyPr wrap="square" lIns="0" tIns="0" rIns="0" bIns="0" rtlCol="0" anchor="ctr"/>
          <a:lstStyle/>
          <a:p>
            <a:pPr indent="0" marL="0">
              <a:buNone/>
            </a:pPr>
            <a:r>
              <a:rPr lang="en-US" sz="1200" b="1" dirty="0">
                <a:solidFill>
                  <a:schemeClr val="accent1"/>
                </a:solidFill>
              </a:rPr>
              <a:t>+ New content</a:t>
            </a:r>
            <a:endParaRPr lang="en-US" sz="1200" dirty="0"/>
          </a:p>
        </p:txBody>
      </p:sp>
      <p:sp>
        <p:nvSpPr>
          <p:cNvPr id="29" name="Text 25"/>
          <p:cNvSpPr txBox="1"/>
          <p:nvPr/>
        </p:nvSpPr>
        <p:spPr>
          <a:xfrm>
            <a:off x="6245352" y="5687568"/>
            <a:ext cx="2514600" cy="329184"/>
          </a:xfrm>
          <a:prstGeom prst="rect">
            <a:avLst/>
          </a:prstGeom>
          <a:noFill/>
          <a:ln/>
        </p:spPr>
        <p:txBody>
          <a:bodyPr wrap="square" lIns="0" tIns="0" rIns="0" bIns="0" rtlCol="0" anchor="t"/>
          <a:lstStyle/>
          <a:p>
            <a:pPr indent="0" marL="0">
              <a:buNone/>
            </a:pPr>
            <a:r>
              <a:rPr lang="en-US" sz="1000" dirty="0">
                <a:solidFill>
                  <a:schemeClr val="accent6"/>
                </a:solidFill>
              </a:rPr>
              <a:t>K-dramas, Japanese films, Indian films abroad</a:t>
            </a:r>
            <a:endParaRPr lang="en-US" sz="1000" dirty="0"/>
          </a:p>
        </p:txBody>
      </p:sp>
      <p:sp>
        <p:nvSpPr>
          <p:cNvPr id="30" name="Text 26"/>
          <p:cNvSpPr txBox="1"/>
          <p:nvPr/>
        </p:nvSpPr>
        <p:spPr>
          <a:xfrm>
            <a:off x="8915400" y="5486400"/>
            <a:ext cx="2514600" cy="201168"/>
          </a:xfrm>
          <a:prstGeom prst="rect">
            <a:avLst/>
          </a:prstGeom>
          <a:noFill/>
          <a:ln/>
        </p:spPr>
        <p:txBody>
          <a:bodyPr wrap="square" lIns="0" tIns="0" rIns="0" bIns="0" rtlCol="0" anchor="ctr"/>
          <a:lstStyle/>
          <a:p>
            <a:pPr indent="0" marL="0">
              <a:buNone/>
            </a:pPr>
            <a:r>
              <a:rPr lang="en-US" sz="1200" b="1" dirty="0">
                <a:solidFill>
                  <a:schemeClr val="accent1"/>
                </a:solidFill>
              </a:rPr>
              <a:t>+ New delivery</a:t>
            </a:r>
            <a:endParaRPr lang="en-US" sz="1200" dirty="0"/>
          </a:p>
        </p:txBody>
      </p:sp>
      <p:sp>
        <p:nvSpPr>
          <p:cNvPr id="31" name="Text 27"/>
          <p:cNvSpPr txBox="1"/>
          <p:nvPr/>
        </p:nvSpPr>
        <p:spPr>
          <a:xfrm>
            <a:off x="8915400" y="5687568"/>
            <a:ext cx="2514600" cy="329184"/>
          </a:xfrm>
          <a:prstGeom prst="rect">
            <a:avLst/>
          </a:prstGeom>
          <a:noFill/>
          <a:ln/>
        </p:spPr>
        <p:txBody>
          <a:bodyPr wrap="square" lIns="0" tIns="0" rIns="0" bIns="0" rtlCol="0" anchor="t"/>
          <a:lstStyle/>
          <a:p>
            <a:pPr indent="0" marL="0">
              <a:buNone/>
            </a:pPr>
            <a:r>
              <a:rPr lang="en-US" sz="1000" dirty="0">
                <a:solidFill>
                  <a:schemeClr val="accent6"/>
                </a:solidFill>
              </a:rPr>
              <a:t>API, Excel slate, alerts in Slack, Teams or LINE WORKS</a:t>
            </a:r>
            <a:endParaRPr lang="en-US" sz="10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09 — BUSINESS</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Business model and where we go next</a:t>
            </a:r>
            <a:endParaRPr lang="en-US" sz="3400" dirty="0"/>
          </a:p>
        </p:txBody>
      </p:sp>
      <p:sp>
        <p:nvSpPr>
          <p:cNvPr id="4" name="Text 0"/>
          <p:cNvSpPr/>
          <p:nvPr>
            <p:ph idx="102" type="body" hasCustomPrompt="1"/>
          </p:nvPr>
        </p:nvSpPr>
        <p:spPr>
          <a:xfrm>
            <a:off x="548640" y="137160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One wrong rights deal or dub costs more than years of a subscription, and serving one more title costs close to nothing.</a:t>
            </a:r>
            <a:endParaRPr lang="en-US" sz="1500" dirty="0"/>
          </a:p>
        </p:txBody>
      </p:sp>
      <p:sp>
        <p:nvSpPr>
          <p:cNvPr id="5" name="business-Who pays"/>
          <p:cNvSpPr/>
          <p:nvPr/>
        </p:nvSpPr>
        <p:spPr>
          <a:xfrm>
            <a:off x="548640" y="1965960"/>
            <a:ext cx="3514039" cy="3291840"/>
          </a:xfrm>
          <a:prstGeom prst="roundRect">
            <a:avLst>
              <a:gd name="adj" fmla="val 2222"/>
            </a:avLst>
          </a:prstGeom>
          <a:solidFill>
            <a:schemeClr val="bg1"/>
          </a:solidFill>
          <a:ln/>
          <a:effectLst>
            <a:outerShdw sx="100000" sy="100000" kx="0" ky="0" algn="bl" rotWithShape="0" blurRad="114300" dist="25400" dir="5400000">
              <a:srgbClr val="141A33">
                <a:alpha val="13000"/>
              </a:srgbClr>
            </a:outerShdw>
          </a:effectLst>
        </p:spPr>
      </p:sp>
      <p:sp>
        <p:nvSpPr>
          <p:cNvPr id="6" name="Text 4"/>
          <p:cNvSpPr txBox="1"/>
          <p:nvPr/>
        </p:nvSpPr>
        <p:spPr>
          <a:xfrm>
            <a:off x="777240" y="2103120"/>
            <a:ext cx="3056839" cy="32918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Who pays</a:t>
            </a:r>
            <a:endParaRPr lang="en-US" sz="1600" dirty="0"/>
          </a:p>
        </p:txBody>
      </p:sp>
      <p:sp>
        <p:nvSpPr>
          <p:cNvPr id="7" name="icon-FaTv"/>
          <p:cNvSpPr/>
          <p:nvPr/>
        </p:nvSpPr>
        <p:spPr>
          <a:xfrm>
            <a:off x="777240" y="2642616"/>
            <a:ext cx="384048" cy="384048"/>
          </a:xfrm>
          <a:prstGeom prst="ellipse">
            <a:avLst/>
          </a:prstGeom>
          <a:solidFill>
            <a:schemeClr val="accent1"/>
          </a:solidFill>
          <a:ln/>
        </p:spPr>
      </p:sp>
      <p:pic>
        <p:nvPicPr>
          <p:cNvPr id="8" name="Image 0" descr="Tv icon">    </p:cNvPr>
          <p:cNvPicPr>
            <a:picLocks noChangeAspect="1"/>
          </p:cNvPicPr>
          <p:nvPr/>
        </p:nvPicPr>
        <p:blipFill>
          <a:blip r:embed="rId1"/>
          <a:stretch>
            <a:fillRect/>
          </a:stretch>
        </p:blipFill>
        <p:spPr>
          <a:xfrm>
            <a:off x="869412" y="2734788"/>
            <a:ext cx="199705" cy="199705"/>
          </a:xfrm>
          <a:prstGeom prst="rect">
            <a:avLst/>
          </a:prstGeom>
        </p:spPr>
      </p:pic>
      <p:sp>
        <p:nvSpPr>
          <p:cNvPr id="9" name="Text 6"/>
          <p:cNvSpPr txBox="1"/>
          <p:nvPr/>
        </p:nvSpPr>
        <p:spPr>
          <a:xfrm>
            <a:off x="1280160" y="2606040"/>
            <a:ext cx="2599639" cy="256032"/>
          </a:xfrm>
          <a:prstGeom prst="rect">
            <a:avLst/>
          </a:prstGeom>
          <a:noFill/>
          <a:ln/>
        </p:spPr>
        <p:txBody>
          <a:bodyPr wrap="square" lIns="0" tIns="0" rIns="0" bIns="0" rtlCol="0" anchor="ctr"/>
          <a:lstStyle/>
          <a:p>
            <a:pPr indent="0" marL="0">
              <a:buNone/>
            </a:pPr>
            <a:r>
              <a:rPr lang="en-US" sz="1300" b="1" dirty="0">
                <a:solidFill>
                  <a:schemeClr val="tx1"/>
                </a:solidFill>
              </a:rPr>
              <a:t>Indian streaming &amp; TV</a:t>
            </a:r>
            <a:endParaRPr lang="en-US" sz="1300" dirty="0"/>
          </a:p>
        </p:txBody>
      </p:sp>
      <p:sp>
        <p:nvSpPr>
          <p:cNvPr id="10" name="Text 7"/>
          <p:cNvSpPr txBox="1"/>
          <p:nvPr/>
        </p:nvSpPr>
        <p:spPr>
          <a:xfrm>
            <a:off x="1280160" y="2862072"/>
            <a:ext cx="2599639" cy="347472"/>
          </a:xfrm>
          <a:prstGeom prst="rect">
            <a:avLst/>
          </a:prstGeom>
          <a:noFill/>
          <a:ln/>
        </p:spPr>
        <p:txBody>
          <a:bodyPr wrap="square" lIns="0" tIns="0" rIns="0" bIns="0" rtlCol="0" anchor="t"/>
          <a:lstStyle/>
          <a:p>
            <a:pPr indent="0" marL="0">
              <a:buNone/>
            </a:pPr>
            <a:r>
              <a:rPr lang="en-US" sz="1100" dirty="0">
                <a:solidFill>
                  <a:schemeClr val="accent5"/>
                </a:solidFill>
              </a:rPr>
              <a:t>what to license, when, and whether to dub</a:t>
            </a:r>
            <a:endParaRPr lang="en-US" sz="1100" dirty="0"/>
          </a:p>
        </p:txBody>
      </p:sp>
      <p:sp>
        <p:nvSpPr>
          <p:cNvPr id="11" name="icon-FaToriiGate"/>
          <p:cNvSpPr/>
          <p:nvPr/>
        </p:nvSpPr>
        <p:spPr>
          <a:xfrm>
            <a:off x="777240" y="3282696"/>
            <a:ext cx="384048" cy="384048"/>
          </a:xfrm>
          <a:prstGeom prst="ellipse">
            <a:avLst/>
          </a:prstGeom>
          <a:solidFill>
            <a:schemeClr val="accent1"/>
          </a:solidFill>
          <a:ln/>
        </p:spPr>
      </p:sp>
      <p:pic>
        <p:nvPicPr>
          <p:cNvPr id="12" name="Image 1" descr="ToriiGate icon">    </p:cNvPr>
          <p:cNvPicPr>
            <a:picLocks noChangeAspect="1"/>
          </p:cNvPicPr>
          <p:nvPr/>
        </p:nvPicPr>
        <p:blipFill>
          <a:blip r:embed="rId2"/>
          <a:stretch>
            <a:fillRect/>
          </a:stretch>
        </p:blipFill>
        <p:spPr>
          <a:xfrm>
            <a:off x="869412" y="3374868"/>
            <a:ext cx="199705" cy="199705"/>
          </a:xfrm>
          <a:prstGeom prst="rect">
            <a:avLst/>
          </a:prstGeom>
        </p:spPr>
      </p:pic>
      <p:sp>
        <p:nvSpPr>
          <p:cNvPr id="13" name="Text 9"/>
          <p:cNvSpPr txBox="1"/>
          <p:nvPr/>
        </p:nvSpPr>
        <p:spPr>
          <a:xfrm>
            <a:off x="1280160" y="3246120"/>
            <a:ext cx="2599639" cy="256032"/>
          </a:xfrm>
          <a:prstGeom prst="rect">
            <a:avLst/>
          </a:prstGeom>
          <a:noFill/>
          <a:ln/>
        </p:spPr>
        <p:txBody>
          <a:bodyPr wrap="square" lIns="0" tIns="0" rIns="0" bIns="0" rtlCol="0" anchor="ctr"/>
          <a:lstStyle/>
          <a:p>
            <a:pPr indent="0" marL="0">
              <a:buNone/>
            </a:pPr>
            <a:r>
              <a:rPr lang="en-US" sz="1300" b="1" dirty="0">
                <a:solidFill>
                  <a:schemeClr val="tx1"/>
                </a:solidFill>
              </a:rPr>
              <a:t>Japanese studios &amp; licensors</a:t>
            </a:r>
            <a:endParaRPr lang="en-US" sz="1300" dirty="0"/>
          </a:p>
        </p:txBody>
      </p:sp>
      <p:sp>
        <p:nvSpPr>
          <p:cNvPr id="14" name="Text 10"/>
          <p:cNvSpPr txBox="1"/>
          <p:nvPr/>
        </p:nvSpPr>
        <p:spPr>
          <a:xfrm>
            <a:off x="1280160" y="3502152"/>
            <a:ext cx="2599639" cy="347472"/>
          </a:xfrm>
          <a:prstGeom prst="rect">
            <a:avLst/>
          </a:prstGeom>
          <a:noFill/>
          <a:ln/>
        </p:spPr>
        <p:txBody>
          <a:bodyPr wrap="square" lIns="0" tIns="0" rIns="0" bIns="0" rtlCol="0" anchor="t"/>
          <a:lstStyle/>
          <a:p>
            <a:pPr indent="0" marL="0">
              <a:buNone/>
            </a:pPr>
            <a:r>
              <a:rPr lang="en-US" sz="1100" dirty="0">
                <a:solidFill>
                  <a:schemeClr val="accent5"/>
                </a:solidFill>
              </a:rPr>
              <a:t>which titles to offer India, at what price</a:t>
            </a:r>
            <a:endParaRPr lang="en-US" sz="1100" dirty="0"/>
          </a:p>
        </p:txBody>
      </p:sp>
      <p:sp>
        <p:nvSpPr>
          <p:cNvPr id="15" name="icon-FaFilm"/>
          <p:cNvSpPr/>
          <p:nvPr/>
        </p:nvSpPr>
        <p:spPr>
          <a:xfrm>
            <a:off x="777240" y="3922776"/>
            <a:ext cx="384048" cy="384048"/>
          </a:xfrm>
          <a:prstGeom prst="ellipse">
            <a:avLst/>
          </a:prstGeom>
          <a:solidFill>
            <a:schemeClr val="accent1"/>
          </a:solidFill>
          <a:ln/>
        </p:spPr>
      </p:sp>
      <p:pic>
        <p:nvPicPr>
          <p:cNvPr id="16" name="Image 2" descr="Film icon">    </p:cNvPr>
          <p:cNvPicPr>
            <a:picLocks noChangeAspect="1"/>
          </p:cNvPicPr>
          <p:nvPr/>
        </p:nvPicPr>
        <p:blipFill>
          <a:blip r:embed="rId3"/>
          <a:stretch>
            <a:fillRect/>
          </a:stretch>
        </p:blipFill>
        <p:spPr>
          <a:xfrm>
            <a:off x="869412" y="4014948"/>
            <a:ext cx="199705" cy="199705"/>
          </a:xfrm>
          <a:prstGeom prst="rect">
            <a:avLst/>
          </a:prstGeom>
        </p:spPr>
      </p:pic>
      <p:sp>
        <p:nvSpPr>
          <p:cNvPr id="17" name="Text 12"/>
          <p:cNvSpPr txBox="1"/>
          <p:nvPr/>
        </p:nvSpPr>
        <p:spPr>
          <a:xfrm>
            <a:off x="1280160" y="3886200"/>
            <a:ext cx="2599639" cy="256032"/>
          </a:xfrm>
          <a:prstGeom prst="rect">
            <a:avLst/>
          </a:prstGeom>
          <a:noFill/>
          <a:ln/>
        </p:spPr>
        <p:txBody>
          <a:bodyPr wrap="square" lIns="0" tIns="0" rIns="0" bIns="0" rtlCol="0" anchor="ctr"/>
          <a:lstStyle/>
          <a:p>
            <a:pPr indent="0" marL="0">
              <a:buNone/>
            </a:pPr>
            <a:r>
              <a:rPr lang="en-US" sz="1300" b="1" dirty="0">
                <a:solidFill>
                  <a:schemeClr val="tx1"/>
                </a:solidFill>
              </a:rPr>
              <a:t>Cinema chains</a:t>
            </a:r>
            <a:endParaRPr lang="en-US" sz="1300" dirty="0"/>
          </a:p>
        </p:txBody>
      </p:sp>
      <p:sp>
        <p:nvSpPr>
          <p:cNvPr id="18" name="Text 13"/>
          <p:cNvSpPr txBox="1"/>
          <p:nvPr/>
        </p:nvSpPr>
        <p:spPr>
          <a:xfrm>
            <a:off x="1280160" y="4142232"/>
            <a:ext cx="2599639" cy="347472"/>
          </a:xfrm>
          <a:prstGeom prst="rect">
            <a:avLst/>
          </a:prstGeom>
          <a:noFill/>
          <a:ln/>
        </p:spPr>
        <p:txBody>
          <a:bodyPr wrap="square" lIns="0" tIns="0" rIns="0" bIns="0" rtlCol="0" anchor="t"/>
          <a:lstStyle/>
          <a:p>
            <a:pPr indent="0" marL="0">
              <a:buNone/>
            </a:pPr>
            <a:r>
              <a:rPr lang="en-US" sz="1100" dirty="0">
                <a:solidFill>
                  <a:schemeClr val="accent5"/>
                </a:solidFill>
              </a:rPr>
              <a:t>which anime films, in which languages</a:t>
            </a:r>
            <a:endParaRPr lang="en-US" sz="1100" dirty="0"/>
          </a:p>
        </p:txBody>
      </p:sp>
      <p:sp>
        <p:nvSpPr>
          <p:cNvPr id="19" name="icon-FaMicrophoneLines"/>
          <p:cNvSpPr/>
          <p:nvPr/>
        </p:nvSpPr>
        <p:spPr>
          <a:xfrm>
            <a:off x="777240" y="4562856"/>
            <a:ext cx="384048" cy="384048"/>
          </a:xfrm>
          <a:prstGeom prst="ellipse">
            <a:avLst/>
          </a:prstGeom>
          <a:solidFill>
            <a:schemeClr val="accent1"/>
          </a:solidFill>
          <a:ln/>
        </p:spPr>
      </p:sp>
      <p:pic>
        <p:nvPicPr>
          <p:cNvPr id="20" name="Image 3" descr="MicrophoneLines icon">    </p:cNvPr>
          <p:cNvPicPr>
            <a:picLocks noChangeAspect="1"/>
          </p:cNvPicPr>
          <p:nvPr/>
        </p:nvPicPr>
        <p:blipFill>
          <a:blip r:embed="rId4"/>
          <a:stretch>
            <a:fillRect/>
          </a:stretch>
        </p:blipFill>
        <p:spPr>
          <a:xfrm>
            <a:off x="869412" y="4655028"/>
            <a:ext cx="199705" cy="199705"/>
          </a:xfrm>
          <a:prstGeom prst="rect">
            <a:avLst/>
          </a:prstGeom>
        </p:spPr>
      </p:pic>
      <p:sp>
        <p:nvSpPr>
          <p:cNvPr id="21" name="Text 15"/>
          <p:cNvSpPr txBox="1"/>
          <p:nvPr/>
        </p:nvSpPr>
        <p:spPr>
          <a:xfrm>
            <a:off x="1280160" y="4526280"/>
            <a:ext cx="2599639" cy="256032"/>
          </a:xfrm>
          <a:prstGeom prst="rect">
            <a:avLst/>
          </a:prstGeom>
          <a:noFill/>
          <a:ln/>
        </p:spPr>
        <p:txBody>
          <a:bodyPr wrap="square" lIns="0" tIns="0" rIns="0" bIns="0" rtlCol="0" anchor="ctr"/>
          <a:lstStyle/>
          <a:p>
            <a:pPr indent="0" marL="0">
              <a:buNone/>
            </a:pPr>
            <a:r>
              <a:rPr lang="en-US" sz="1300" b="1" dirty="0">
                <a:solidFill>
                  <a:schemeClr val="tx1"/>
                </a:solidFill>
              </a:rPr>
              <a:t>Dubbing studios</a:t>
            </a:r>
            <a:endParaRPr lang="en-US" sz="1300" dirty="0"/>
          </a:p>
        </p:txBody>
      </p:sp>
      <p:sp>
        <p:nvSpPr>
          <p:cNvPr id="22" name="Text 16"/>
          <p:cNvSpPr txBox="1"/>
          <p:nvPr/>
        </p:nvSpPr>
        <p:spPr>
          <a:xfrm>
            <a:off x="1280160" y="4782312"/>
            <a:ext cx="2599639" cy="347472"/>
          </a:xfrm>
          <a:prstGeom prst="rect">
            <a:avLst/>
          </a:prstGeom>
          <a:noFill/>
          <a:ln/>
        </p:spPr>
        <p:txBody>
          <a:bodyPr wrap="square" lIns="0" tIns="0" rIns="0" bIns="0" rtlCol="0" anchor="t"/>
          <a:lstStyle/>
          <a:p>
            <a:pPr indent="0" marL="0">
              <a:buNone/>
            </a:pPr>
            <a:r>
              <a:rPr lang="en-US" sz="1100" dirty="0">
                <a:solidFill>
                  <a:schemeClr val="accent5"/>
                </a:solidFill>
              </a:rPr>
              <a:t>which titles and languages to pitch</a:t>
            </a:r>
            <a:endParaRPr lang="en-US" sz="1100" dirty="0"/>
          </a:p>
        </p:txBody>
      </p:sp>
      <p:sp>
        <p:nvSpPr>
          <p:cNvPr id="23" name="business-How we earn"/>
          <p:cNvSpPr/>
          <p:nvPr/>
        </p:nvSpPr>
        <p:spPr>
          <a:xfrm>
            <a:off x="4336999" y="1965960"/>
            <a:ext cx="3514039" cy="3291840"/>
          </a:xfrm>
          <a:prstGeom prst="roundRect">
            <a:avLst>
              <a:gd name="adj" fmla="val 2222"/>
            </a:avLst>
          </a:prstGeom>
          <a:solidFill>
            <a:schemeClr val="bg1"/>
          </a:solidFill>
          <a:ln/>
          <a:effectLst>
            <a:outerShdw sx="100000" sy="100000" kx="0" ky="0" algn="bl" rotWithShape="0" blurRad="114300" dist="25400" dir="5400000">
              <a:srgbClr val="141A33">
                <a:alpha val="13000"/>
              </a:srgbClr>
            </a:outerShdw>
          </a:effectLst>
        </p:spPr>
      </p:sp>
      <p:sp>
        <p:nvSpPr>
          <p:cNvPr id="24" name="Text 18"/>
          <p:cNvSpPr txBox="1"/>
          <p:nvPr/>
        </p:nvSpPr>
        <p:spPr>
          <a:xfrm>
            <a:off x="4565599" y="2103120"/>
            <a:ext cx="3056839" cy="32918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How we earn</a:t>
            </a:r>
            <a:endParaRPr lang="en-US" sz="1600" dirty="0"/>
          </a:p>
        </p:txBody>
      </p:sp>
      <p:sp>
        <p:nvSpPr>
          <p:cNvPr id="25" name="icon-FaCalendarCheck"/>
          <p:cNvSpPr/>
          <p:nvPr/>
        </p:nvSpPr>
        <p:spPr>
          <a:xfrm>
            <a:off x="4565599" y="2642616"/>
            <a:ext cx="384048" cy="384048"/>
          </a:xfrm>
          <a:prstGeom prst="ellipse">
            <a:avLst/>
          </a:prstGeom>
          <a:solidFill>
            <a:schemeClr val="accent1"/>
          </a:solidFill>
          <a:ln/>
        </p:spPr>
      </p:sp>
      <p:pic>
        <p:nvPicPr>
          <p:cNvPr id="26" name="Image 4" descr="CalendarCheck icon">    </p:cNvPr>
          <p:cNvPicPr>
            <a:picLocks noChangeAspect="1"/>
          </p:cNvPicPr>
          <p:nvPr/>
        </p:nvPicPr>
        <p:blipFill>
          <a:blip r:embed="rId5"/>
          <a:stretch>
            <a:fillRect/>
          </a:stretch>
        </p:blipFill>
        <p:spPr>
          <a:xfrm>
            <a:off x="4657771" y="2734788"/>
            <a:ext cx="199705" cy="199705"/>
          </a:xfrm>
          <a:prstGeom prst="rect">
            <a:avLst/>
          </a:prstGeom>
        </p:spPr>
      </p:pic>
      <p:sp>
        <p:nvSpPr>
          <p:cNvPr id="27" name="Text 20"/>
          <p:cNvSpPr txBox="1"/>
          <p:nvPr/>
        </p:nvSpPr>
        <p:spPr>
          <a:xfrm>
            <a:off x="5068519" y="2606040"/>
            <a:ext cx="2599639" cy="256032"/>
          </a:xfrm>
          <a:prstGeom prst="rect">
            <a:avLst/>
          </a:prstGeom>
          <a:noFill/>
          <a:ln/>
        </p:spPr>
        <p:txBody>
          <a:bodyPr wrap="square" lIns="0" tIns="0" rIns="0" bIns="0" rtlCol="0" anchor="ctr"/>
          <a:lstStyle/>
          <a:p>
            <a:pPr indent="0" marL="0">
              <a:buNone/>
            </a:pPr>
            <a:r>
              <a:rPr lang="en-US" sz="1300" b="1" dirty="0">
                <a:solidFill>
                  <a:schemeClr val="tx1"/>
                </a:solidFill>
              </a:rPr>
              <a:t>Season subscription</a:t>
            </a:r>
            <a:endParaRPr lang="en-US" sz="1300" dirty="0"/>
          </a:p>
        </p:txBody>
      </p:sp>
      <p:sp>
        <p:nvSpPr>
          <p:cNvPr id="28" name="Text 21"/>
          <p:cNvSpPr txBox="1"/>
          <p:nvPr/>
        </p:nvSpPr>
        <p:spPr>
          <a:xfrm>
            <a:off x="5068519" y="2862072"/>
            <a:ext cx="2599639" cy="347472"/>
          </a:xfrm>
          <a:prstGeom prst="rect">
            <a:avLst/>
          </a:prstGeom>
          <a:noFill/>
          <a:ln/>
        </p:spPr>
        <p:txBody>
          <a:bodyPr wrap="square" lIns="0" tIns="0" rIns="0" bIns="0" rtlCol="0" anchor="t"/>
          <a:lstStyle/>
          <a:p>
            <a:pPr indent="0" marL="0">
              <a:buNone/>
            </a:pPr>
            <a:r>
              <a:rPr lang="en-US" sz="1100" dirty="0">
                <a:solidFill>
                  <a:schemeClr val="accent5"/>
                </a:solidFill>
              </a:rPr>
              <a:t>every new title at all three stages, refreshed daily</a:t>
            </a:r>
            <a:endParaRPr lang="en-US" sz="1100" dirty="0"/>
          </a:p>
        </p:txBody>
      </p:sp>
      <p:sp>
        <p:nvSpPr>
          <p:cNvPr id="29" name="icon-FaFileArrowDown"/>
          <p:cNvSpPr/>
          <p:nvPr/>
        </p:nvSpPr>
        <p:spPr>
          <a:xfrm>
            <a:off x="4565599" y="3282696"/>
            <a:ext cx="384048" cy="384048"/>
          </a:xfrm>
          <a:prstGeom prst="ellipse">
            <a:avLst/>
          </a:prstGeom>
          <a:solidFill>
            <a:schemeClr val="accent1"/>
          </a:solidFill>
          <a:ln/>
        </p:spPr>
      </p:sp>
      <p:pic>
        <p:nvPicPr>
          <p:cNvPr id="30" name="Image 5" descr="FileArrowDown icon">    </p:cNvPr>
          <p:cNvPicPr>
            <a:picLocks noChangeAspect="1"/>
          </p:cNvPicPr>
          <p:nvPr/>
        </p:nvPicPr>
        <p:blipFill>
          <a:blip r:embed="rId6"/>
          <a:stretch>
            <a:fillRect/>
          </a:stretch>
        </p:blipFill>
        <p:spPr>
          <a:xfrm>
            <a:off x="4657771" y="3374868"/>
            <a:ext cx="199705" cy="199705"/>
          </a:xfrm>
          <a:prstGeom prst="rect">
            <a:avLst/>
          </a:prstGeom>
        </p:spPr>
      </p:pic>
      <p:sp>
        <p:nvSpPr>
          <p:cNvPr id="31" name="Text 23"/>
          <p:cNvSpPr txBox="1"/>
          <p:nvPr/>
        </p:nvSpPr>
        <p:spPr>
          <a:xfrm>
            <a:off x="5068519" y="3246120"/>
            <a:ext cx="2599639" cy="256032"/>
          </a:xfrm>
          <a:prstGeom prst="rect">
            <a:avLst/>
          </a:prstGeom>
          <a:noFill/>
          <a:ln/>
        </p:spPr>
        <p:txBody>
          <a:bodyPr wrap="square" lIns="0" tIns="0" rIns="0" bIns="0" rtlCol="0" anchor="ctr"/>
          <a:lstStyle/>
          <a:p>
            <a:pPr indent="0" marL="0">
              <a:buNone/>
            </a:pPr>
            <a:r>
              <a:rPr lang="en-US" sz="1300" b="1" dirty="0">
                <a:solidFill>
                  <a:schemeClr val="tx1"/>
                </a:solidFill>
              </a:rPr>
              <a:t>Per-title briefs</a:t>
            </a:r>
            <a:endParaRPr lang="en-US" sz="1300" dirty="0"/>
          </a:p>
        </p:txBody>
      </p:sp>
      <p:sp>
        <p:nvSpPr>
          <p:cNvPr id="32" name="Text 24"/>
          <p:cNvSpPr txBox="1"/>
          <p:nvPr/>
        </p:nvSpPr>
        <p:spPr>
          <a:xfrm>
            <a:off x="5068519" y="3502152"/>
            <a:ext cx="2599639" cy="347472"/>
          </a:xfrm>
          <a:prstGeom prst="rect">
            <a:avLst/>
          </a:prstGeom>
          <a:noFill/>
          <a:ln/>
        </p:spPr>
        <p:txBody>
          <a:bodyPr wrap="square" lIns="0" tIns="0" rIns="0" bIns="0" rtlCol="0" anchor="t"/>
          <a:lstStyle/>
          <a:p>
            <a:pPr indent="0" marL="0">
              <a:buNone/>
            </a:pPr>
            <a:r>
              <a:rPr lang="en-US" sz="1100" dirty="0">
                <a:solidFill>
                  <a:schemeClr val="accent5"/>
                </a:solidFill>
              </a:rPr>
              <a:t>one-page overview, in English or as a 稟議書</a:t>
            </a:r>
            <a:endParaRPr lang="en-US" sz="1100" dirty="0"/>
          </a:p>
        </p:txBody>
      </p:sp>
      <p:sp>
        <p:nvSpPr>
          <p:cNvPr id="33" name="icon-FaHandshake"/>
          <p:cNvSpPr/>
          <p:nvPr/>
        </p:nvSpPr>
        <p:spPr>
          <a:xfrm>
            <a:off x="4565599" y="3922776"/>
            <a:ext cx="384048" cy="384048"/>
          </a:xfrm>
          <a:prstGeom prst="ellipse">
            <a:avLst/>
          </a:prstGeom>
          <a:solidFill>
            <a:schemeClr val="accent1"/>
          </a:solidFill>
          <a:ln/>
        </p:spPr>
      </p:sp>
      <p:pic>
        <p:nvPicPr>
          <p:cNvPr id="34" name="Image 6" descr="Handshake icon">    </p:cNvPr>
          <p:cNvPicPr>
            <a:picLocks noChangeAspect="1"/>
          </p:cNvPicPr>
          <p:nvPr/>
        </p:nvPicPr>
        <p:blipFill>
          <a:blip r:embed="rId7"/>
          <a:stretch>
            <a:fillRect/>
          </a:stretch>
        </p:blipFill>
        <p:spPr>
          <a:xfrm>
            <a:off x="4657771" y="4014948"/>
            <a:ext cx="199705" cy="199705"/>
          </a:xfrm>
          <a:prstGeom prst="rect">
            <a:avLst/>
          </a:prstGeom>
        </p:spPr>
      </p:pic>
      <p:sp>
        <p:nvSpPr>
          <p:cNvPr id="35" name="Text 26"/>
          <p:cNvSpPr txBox="1"/>
          <p:nvPr/>
        </p:nvSpPr>
        <p:spPr>
          <a:xfrm>
            <a:off x="5068519" y="3886200"/>
            <a:ext cx="2599639" cy="256032"/>
          </a:xfrm>
          <a:prstGeom prst="rect">
            <a:avLst/>
          </a:prstGeom>
          <a:noFill/>
          <a:ln/>
        </p:spPr>
        <p:txBody>
          <a:bodyPr wrap="square" lIns="0" tIns="0" rIns="0" bIns="0" rtlCol="0" anchor="ctr"/>
          <a:lstStyle/>
          <a:p>
            <a:pPr indent="0" marL="0">
              <a:buNone/>
            </a:pPr>
            <a:r>
              <a:rPr lang="en-US" sz="1300" b="1" dirty="0">
                <a:solidFill>
                  <a:schemeClr val="tx1"/>
                </a:solidFill>
              </a:rPr>
              <a:t>Partner tier</a:t>
            </a:r>
            <a:endParaRPr lang="en-US" sz="1300" dirty="0"/>
          </a:p>
        </p:txBody>
      </p:sp>
      <p:sp>
        <p:nvSpPr>
          <p:cNvPr id="36" name="Text 27"/>
          <p:cNvSpPr txBox="1"/>
          <p:nvPr/>
        </p:nvSpPr>
        <p:spPr>
          <a:xfrm>
            <a:off x="5068519" y="4142232"/>
            <a:ext cx="2599639" cy="347472"/>
          </a:xfrm>
          <a:prstGeom prst="rect">
            <a:avLst/>
          </a:prstGeom>
          <a:noFill/>
          <a:ln/>
        </p:spPr>
        <p:txBody>
          <a:bodyPr wrap="square" lIns="0" tIns="0" rIns="0" bIns="0" rtlCol="0" anchor="t"/>
          <a:lstStyle/>
          <a:p>
            <a:pPr indent="0" marL="0">
              <a:buNone/>
            </a:pPr>
            <a:r>
              <a:rPr lang="en-US" sz="1100" dirty="0">
                <a:solidFill>
                  <a:schemeClr val="accent5"/>
                </a:solidFill>
              </a:rPr>
              <a:t>adds a platform's own pre-launch signals</a:t>
            </a:r>
            <a:endParaRPr lang="en-US" sz="1100" dirty="0"/>
          </a:p>
        </p:txBody>
      </p:sp>
      <p:sp>
        <p:nvSpPr>
          <p:cNvPr id="37" name="icon-FaShieldHalved"/>
          <p:cNvSpPr/>
          <p:nvPr/>
        </p:nvSpPr>
        <p:spPr>
          <a:xfrm>
            <a:off x="4565599" y="4562856"/>
            <a:ext cx="384048" cy="384048"/>
          </a:xfrm>
          <a:prstGeom prst="ellipse">
            <a:avLst/>
          </a:prstGeom>
          <a:solidFill>
            <a:schemeClr val="accent1"/>
          </a:solidFill>
          <a:ln/>
        </p:spPr>
      </p:sp>
      <p:pic>
        <p:nvPicPr>
          <p:cNvPr id="38" name="Image 7" descr="ShieldHalved icon">    </p:cNvPr>
          <p:cNvPicPr>
            <a:picLocks noChangeAspect="1"/>
          </p:cNvPicPr>
          <p:nvPr/>
        </p:nvPicPr>
        <p:blipFill>
          <a:blip r:embed="rId8"/>
          <a:stretch>
            <a:fillRect/>
          </a:stretch>
        </p:blipFill>
        <p:spPr>
          <a:xfrm>
            <a:off x="4657771" y="4655028"/>
            <a:ext cx="199705" cy="199705"/>
          </a:xfrm>
          <a:prstGeom prst="rect">
            <a:avLst/>
          </a:prstGeom>
        </p:spPr>
      </p:pic>
      <p:sp>
        <p:nvSpPr>
          <p:cNvPr id="39" name="Text 29"/>
          <p:cNvSpPr txBox="1"/>
          <p:nvPr/>
        </p:nvSpPr>
        <p:spPr>
          <a:xfrm>
            <a:off x="5068519" y="4526280"/>
            <a:ext cx="2599639" cy="256032"/>
          </a:xfrm>
          <a:prstGeom prst="rect">
            <a:avLst/>
          </a:prstGeom>
          <a:noFill/>
          <a:ln/>
        </p:spPr>
        <p:txBody>
          <a:bodyPr wrap="square" lIns="0" tIns="0" rIns="0" bIns="0" rtlCol="0" anchor="ctr"/>
          <a:lstStyle/>
          <a:p>
            <a:pPr indent="0" marL="0">
              <a:buNone/>
            </a:pPr>
            <a:r>
              <a:rPr lang="en-US" sz="1300" b="1" dirty="0">
                <a:solidFill>
                  <a:schemeClr val="tx1"/>
                </a:solidFill>
              </a:rPr>
              <a:t>Accuracy guarantee</a:t>
            </a:r>
            <a:endParaRPr lang="en-US" sz="1300" dirty="0"/>
          </a:p>
        </p:txBody>
      </p:sp>
      <p:sp>
        <p:nvSpPr>
          <p:cNvPr id="40" name="Text 30"/>
          <p:cNvSpPr txBox="1"/>
          <p:nvPr/>
        </p:nvSpPr>
        <p:spPr>
          <a:xfrm>
            <a:off x="5068519" y="4782312"/>
            <a:ext cx="2599639" cy="347472"/>
          </a:xfrm>
          <a:prstGeom prst="rect">
            <a:avLst/>
          </a:prstGeom>
          <a:noFill/>
          <a:ln/>
        </p:spPr>
        <p:txBody>
          <a:bodyPr wrap="square" lIns="0" tIns="0" rIns="0" bIns="0" rtlCol="0" anchor="t"/>
          <a:lstStyle/>
          <a:p>
            <a:pPr indent="0" marL="0">
              <a:buNone/>
            </a:pPr>
            <a:r>
              <a:rPr lang="en-US" sz="1100" dirty="0">
                <a:solidFill>
                  <a:schemeClr val="accent5"/>
                </a:solidFill>
              </a:rPr>
              <a:t>a season free if under 70% land in range, once proven</a:t>
            </a:r>
            <a:endParaRPr lang="en-US" sz="1100" dirty="0"/>
          </a:p>
        </p:txBody>
      </p:sp>
      <p:sp>
        <p:nvSpPr>
          <p:cNvPr id="41" name="roadmap"/>
          <p:cNvSpPr/>
          <p:nvPr/>
        </p:nvSpPr>
        <p:spPr>
          <a:xfrm>
            <a:off x="8125358" y="1965960"/>
            <a:ext cx="3514039" cy="3291840"/>
          </a:xfrm>
          <a:prstGeom prst="roundRect">
            <a:avLst>
              <a:gd name="adj" fmla="val 2222"/>
            </a:avLst>
          </a:prstGeom>
          <a:solidFill>
            <a:schemeClr val="tx2"/>
          </a:solidFill>
          <a:ln/>
          <a:effectLst>
            <a:outerShdw sx="100000" sy="100000" kx="0" ky="0" algn="bl" rotWithShape="0" blurRad="114300" dist="25400" dir="5400000">
              <a:srgbClr val="141A33">
                <a:alpha val="13000"/>
              </a:srgbClr>
            </a:outerShdw>
          </a:effectLst>
        </p:spPr>
      </p:sp>
      <p:sp>
        <p:nvSpPr>
          <p:cNvPr id="42" name="Text 32"/>
          <p:cNvSpPr txBox="1"/>
          <p:nvPr/>
        </p:nvSpPr>
        <p:spPr>
          <a:xfrm>
            <a:off x="8353958" y="2103120"/>
            <a:ext cx="3056839" cy="329184"/>
          </a:xfrm>
          <a:prstGeom prst="rect">
            <a:avLst/>
          </a:prstGeom>
          <a:noFill/>
          <a:ln/>
        </p:spPr>
        <p:txBody>
          <a:bodyPr wrap="square" lIns="0" tIns="0" rIns="0" bIns="0" rtlCol="0" anchor="ctr"/>
          <a:lstStyle/>
          <a:p>
            <a:pPr indent="0" marL="0">
              <a:buNone/>
            </a:pPr>
            <a:r>
              <a:rPr lang="en-US" sz="1600" b="1" dirty="0">
                <a:solidFill>
                  <a:schemeClr val="bg2"/>
                </a:solidFill>
                <a:latin typeface="+mj-lt" pitchFamily="34" charset="0"/>
                <a:ea typeface="+mj-lt" pitchFamily="34" charset="-122"/>
                <a:cs typeface="+mj-lt" pitchFamily="34" charset="-120"/>
              </a:rPr>
              <a:t>Future expansion</a:t>
            </a:r>
            <a:endParaRPr lang="en-US" sz="1600" dirty="0"/>
          </a:p>
        </p:txBody>
      </p:sp>
      <p:sp>
        <p:nvSpPr>
          <p:cNvPr id="43" name="roadmap-line"/>
          <p:cNvSpPr/>
          <p:nvPr/>
        </p:nvSpPr>
        <p:spPr>
          <a:xfrm>
            <a:off x="8491118" y="2743200"/>
            <a:ext cx="0" cy="1874520"/>
          </a:xfrm>
          <a:prstGeom prst="line">
            <a:avLst/>
          </a:prstGeom>
          <a:noFill/>
          <a:ln w="25400">
            <a:solidFill>
              <a:schemeClr val="accent5"/>
            </a:solidFill>
            <a:prstDash val="solid"/>
          </a:ln>
        </p:spPr>
      </p:sp>
      <p:sp>
        <p:nvSpPr>
          <p:cNvPr id="44" name="roadmap-1"/>
          <p:cNvSpPr/>
          <p:nvPr/>
        </p:nvSpPr>
        <p:spPr>
          <a:xfrm>
            <a:off x="8363102" y="2624328"/>
            <a:ext cx="256032" cy="256032"/>
          </a:xfrm>
          <a:prstGeom prst="ellipse">
            <a:avLst/>
          </a:prstGeom>
          <a:solidFill>
            <a:schemeClr val="accent1"/>
          </a:solidFill>
          <a:ln w="25400">
            <a:solidFill>
              <a:schemeClr val="tx2"/>
            </a:solidFill>
            <a:prstDash val="solid"/>
          </a:ln>
        </p:spPr>
      </p:sp>
      <p:sp>
        <p:nvSpPr>
          <p:cNvPr id="45" name="Text 35"/>
          <p:cNvSpPr txBox="1"/>
          <p:nvPr/>
        </p:nvSpPr>
        <p:spPr>
          <a:xfrm>
            <a:off x="8765438" y="2606040"/>
            <a:ext cx="2691079"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NOW</a:t>
            </a:r>
            <a:endParaRPr lang="en-US" sz="1200" dirty="0"/>
          </a:p>
        </p:txBody>
      </p:sp>
      <p:sp>
        <p:nvSpPr>
          <p:cNvPr id="46" name="Text 36"/>
          <p:cNvSpPr txBox="1"/>
          <p:nvPr/>
        </p:nvSpPr>
        <p:spPr>
          <a:xfrm>
            <a:off x="8765438" y="2880360"/>
            <a:ext cx="2691079" cy="548640"/>
          </a:xfrm>
          <a:prstGeom prst="rect">
            <a:avLst/>
          </a:prstGeom>
          <a:noFill/>
          <a:ln/>
        </p:spPr>
        <p:txBody>
          <a:bodyPr wrap="square" lIns="0" tIns="0" rIns="0" bIns="0" rtlCol="0" anchor="t"/>
          <a:lstStyle/>
          <a:p>
            <a:pPr indent="0" marL="0">
              <a:buNone/>
            </a:pPr>
            <a:r>
              <a:rPr lang="en-US" sz="1050" dirty="0">
                <a:solidFill>
                  <a:schemeClr val="accent6"/>
                </a:solidFill>
              </a:rPr>
              <a:t>Japanese anime → India: 1,400 titles, Winter 2027 forecasts sealed</a:t>
            </a:r>
            <a:endParaRPr lang="en-US" sz="1050" dirty="0"/>
          </a:p>
        </p:txBody>
      </p:sp>
      <p:sp>
        <p:nvSpPr>
          <p:cNvPr id="47" name="roadmap-2"/>
          <p:cNvSpPr/>
          <p:nvPr/>
        </p:nvSpPr>
        <p:spPr>
          <a:xfrm>
            <a:off x="8363102" y="3493008"/>
            <a:ext cx="256032" cy="256032"/>
          </a:xfrm>
          <a:prstGeom prst="ellipse">
            <a:avLst/>
          </a:prstGeom>
          <a:solidFill>
            <a:schemeClr val="bg2"/>
          </a:solidFill>
          <a:ln w="25400">
            <a:solidFill>
              <a:schemeClr val="tx2"/>
            </a:solidFill>
            <a:prstDash val="solid"/>
          </a:ln>
        </p:spPr>
      </p:sp>
      <p:sp>
        <p:nvSpPr>
          <p:cNvPr id="48" name="Text 38"/>
          <p:cNvSpPr txBox="1"/>
          <p:nvPr/>
        </p:nvSpPr>
        <p:spPr>
          <a:xfrm>
            <a:off x="8765438" y="3474720"/>
            <a:ext cx="2691079" cy="274320"/>
          </a:xfrm>
          <a:prstGeom prst="rect">
            <a:avLst/>
          </a:prstGeom>
          <a:noFill/>
          <a:ln/>
        </p:spPr>
        <p:txBody>
          <a:bodyPr wrap="square" lIns="0" tIns="0" rIns="0" bIns="0" rtlCol="0" anchor="ctr"/>
          <a:lstStyle/>
          <a:p>
            <a:pPr indent="0" marL="0">
              <a:buNone/>
            </a:pPr>
            <a:r>
              <a:rPr lang="en-US" sz="1200" b="1" spc="100" kern="0" dirty="0">
                <a:solidFill>
                  <a:schemeClr val="bg2"/>
                </a:solidFill>
              </a:rPr>
              <a:t>NEXT · 3 MONTHS</a:t>
            </a:r>
            <a:endParaRPr lang="en-US" sz="1200" dirty="0"/>
          </a:p>
        </p:txBody>
      </p:sp>
      <p:sp>
        <p:nvSpPr>
          <p:cNvPr id="49" name="Text 39"/>
          <p:cNvSpPr txBox="1"/>
          <p:nvPr/>
        </p:nvSpPr>
        <p:spPr>
          <a:xfrm>
            <a:off x="8765438" y="3749040"/>
            <a:ext cx="2691079" cy="548640"/>
          </a:xfrm>
          <a:prstGeom prst="rect">
            <a:avLst/>
          </a:prstGeom>
          <a:noFill/>
          <a:ln/>
        </p:spPr>
        <p:txBody>
          <a:bodyPr wrap="square" lIns="0" tIns="0" rIns="0" bIns="0" rtlCol="0" anchor="t"/>
          <a:lstStyle/>
          <a:p>
            <a:pPr indent="0" marL="0">
              <a:buNone/>
            </a:pPr>
            <a:r>
              <a:rPr lang="en-US" sz="1050" dirty="0">
                <a:solidFill>
                  <a:schemeClr val="accent6"/>
                </a:solidFill>
              </a:rPr>
              <a:t>Grade the sealed season; pilots with a Japanese rights holder and an Indian distributor; Indonesia, Thailand, Brazil, Mexico</a:t>
            </a:r>
            <a:endParaRPr lang="en-US" sz="1050" dirty="0"/>
          </a:p>
        </p:txBody>
      </p:sp>
      <p:sp>
        <p:nvSpPr>
          <p:cNvPr id="50" name="roadmap-3"/>
          <p:cNvSpPr/>
          <p:nvPr/>
        </p:nvSpPr>
        <p:spPr>
          <a:xfrm>
            <a:off x="8363102" y="4361688"/>
            <a:ext cx="256032" cy="256032"/>
          </a:xfrm>
          <a:prstGeom prst="ellipse">
            <a:avLst/>
          </a:prstGeom>
          <a:solidFill>
            <a:schemeClr val="bg2"/>
          </a:solidFill>
          <a:ln w="25400">
            <a:solidFill>
              <a:schemeClr val="tx2"/>
            </a:solidFill>
            <a:prstDash val="solid"/>
          </a:ln>
        </p:spPr>
      </p:sp>
      <p:sp>
        <p:nvSpPr>
          <p:cNvPr id="51" name="Text 41"/>
          <p:cNvSpPr txBox="1"/>
          <p:nvPr/>
        </p:nvSpPr>
        <p:spPr>
          <a:xfrm>
            <a:off x="8765438" y="4343400"/>
            <a:ext cx="2691079" cy="274320"/>
          </a:xfrm>
          <a:prstGeom prst="rect">
            <a:avLst/>
          </a:prstGeom>
          <a:noFill/>
          <a:ln/>
        </p:spPr>
        <p:txBody>
          <a:bodyPr wrap="square" lIns="0" tIns="0" rIns="0" bIns="0" rtlCol="0" anchor="ctr"/>
          <a:lstStyle/>
          <a:p>
            <a:pPr indent="0" marL="0">
              <a:buNone/>
            </a:pPr>
            <a:r>
              <a:rPr lang="en-US" sz="1200" b="1" spc="100" kern="0" dirty="0">
                <a:solidFill>
                  <a:schemeClr val="bg2"/>
                </a:solidFill>
              </a:rPr>
              <a:t>LATER · 12 MONTHS</a:t>
            </a:r>
            <a:endParaRPr lang="en-US" sz="1200" dirty="0"/>
          </a:p>
        </p:txBody>
      </p:sp>
      <p:sp>
        <p:nvSpPr>
          <p:cNvPr id="52" name="Text 42"/>
          <p:cNvSpPr txBox="1"/>
          <p:nvPr/>
        </p:nvSpPr>
        <p:spPr>
          <a:xfrm>
            <a:off x="8765438" y="4617720"/>
            <a:ext cx="2691079" cy="548640"/>
          </a:xfrm>
          <a:prstGeom prst="rect">
            <a:avLst/>
          </a:prstGeom>
          <a:noFill/>
          <a:ln/>
        </p:spPr>
        <p:txBody>
          <a:bodyPr wrap="square" lIns="0" tIns="0" rIns="0" bIns="0" rtlCol="0" anchor="t"/>
          <a:lstStyle/>
          <a:p>
            <a:pPr indent="0" marL="0">
              <a:buNone/>
            </a:pPr>
            <a:r>
              <a:rPr lang="en-US" sz="1050" dirty="0">
                <a:solidFill>
                  <a:schemeClr val="accent6"/>
                </a:solidFill>
              </a:rPr>
              <a:t>K-dramas and Japanese films in India, Indian films abroad; revenue forecasts with partner data; Japanese UI and API</a:t>
            </a:r>
            <a:endParaRPr lang="en-US" sz="1050" dirty="0"/>
          </a:p>
        </p:txBody>
      </p:sp>
      <p:sp>
        <p:nvSpPr>
          <p:cNvPr id="53" name="edge-1"/>
          <p:cNvSpPr/>
          <p:nvPr/>
        </p:nvSpPr>
        <p:spPr>
          <a:xfrm>
            <a:off x="548640" y="5440680"/>
            <a:ext cx="3514039" cy="731520"/>
          </a:xfrm>
          <a:prstGeom prst="roundRect">
            <a:avLst>
              <a:gd name="adj" fmla="val 10000"/>
            </a:avLst>
          </a:prstGeom>
          <a:solidFill>
            <a:schemeClr val="bg1"/>
          </a:solidFill>
          <a:ln/>
          <a:effectLst>
            <a:outerShdw sx="100000" sy="100000" kx="0" ky="0" algn="bl" rotWithShape="0" blurRad="114300" dist="25400" dir="5400000">
              <a:srgbClr val="141A33">
                <a:alpha val="13000"/>
              </a:srgbClr>
            </a:outerShdw>
          </a:effectLst>
        </p:spPr>
      </p:sp>
      <p:sp>
        <p:nvSpPr>
          <p:cNvPr id="54" name="icon-FaFingerprint"/>
          <p:cNvSpPr/>
          <p:nvPr/>
        </p:nvSpPr>
        <p:spPr>
          <a:xfrm>
            <a:off x="731520" y="5605272"/>
            <a:ext cx="402336" cy="402336"/>
          </a:xfrm>
          <a:prstGeom prst="ellipse">
            <a:avLst/>
          </a:prstGeom>
          <a:solidFill>
            <a:schemeClr val="tx2"/>
          </a:solidFill>
          <a:ln/>
        </p:spPr>
      </p:sp>
      <p:pic>
        <p:nvPicPr>
          <p:cNvPr id="55" name="Image 8" descr="Fingerprint icon">    </p:cNvPr>
          <p:cNvPicPr>
            <a:picLocks noChangeAspect="1"/>
          </p:cNvPicPr>
          <p:nvPr/>
        </p:nvPicPr>
        <p:blipFill>
          <a:blip r:embed="rId9"/>
          <a:stretch>
            <a:fillRect/>
          </a:stretch>
        </p:blipFill>
        <p:spPr>
          <a:xfrm>
            <a:off x="832104" y="5705856"/>
            <a:ext cx="201168" cy="201168"/>
          </a:xfrm>
          <a:prstGeom prst="rect">
            <a:avLst/>
          </a:prstGeom>
        </p:spPr>
      </p:pic>
      <p:sp>
        <p:nvSpPr>
          <p:cNvPr id="56" name="Text 45"/>
          <p:cNvSpPr txBox="1"/>
          <p:nvPr/>
        </p:nvSpPr>
        <p:spPr>
          <a:xfrm>
            <a:off x="1261872" y="5486400"/>
            <a:ext cx="2645359" cy="640080"/>
          </a:xfrm>
          <a:prstGeom prst="rect">
            <a:avLst/>
          </a:prstGeom>
          <a:noFill/>
          <a:ln/>
        </p:spPr>
        <p:txBody>
          <a:bodyPr wrap="square" lIns="0" tIns="0" rIns="0" bIns="0" rtlCol="0" anchor="ctr"/>
          <a:lstStyle/>
          <a:p>
            <a:pPr indent="0" marL="0">
              <a:buNone/>
            </a:pPr>
            <a:r>
              <a:rPr lang="en-US" sz="1200" dirty="0">
                <a:solidFill>
                  <a:schemeClr val="tx1"/>
                </a:solidFill>
              </a:rPr>
              <a:t>Moat: a sealed, dated track record no rival can backfill</a:t>
            </a:r>
            <a:endParaRPr lang="en-US" sz="1200" dirty="0"/>
          </a:p>
        </p:txBody>
      </p:sp>
      <p:sp>
        <p:nvSpPr>
          <p:cNvPr id="57" name="edge-2"/>
          <p:cNvSpPr/>
          <p:nvPr/>
        </p:nvSpPr>
        <p:spPr>
          <a:xfrm>
            <a:off x="4336999" y="5440680"/>
            <a:ext cx="3514039" cy="731520"/>
          </a:xfrm>
          <a:prstGeom prst="roundRect">
            <a:avLst>
              <a:gd name="adj" fmla="val 10000"/>
            </a:avLst>
          </a:prstGeom>
          <a:solidFill>
            <a:schemeClr val="bg1"/>
          </a:solidFill>
          <a:ln/>
          <a:effectLst>
            <a:outerShdw sx="100000" sy="100000" kx="0" ky="0" algn="bl" rotWithShape="0" blurRad="114300" dist="25400" dir="5400000">
              <a:srgbClr val="141A33">
                <a:alpha val="13000"/>
              </a:srgbClr>
            </a:outerShdw>
          </a:effectLst>
        </p:spPr>
      </p:sp>
      <p:sp>
        <p:nvSpPr>
          <p:cNvPr id="58" name="icon-FaYenSign"/>
          <p:cNvSpPr/>
          <p:nvPr/>
        </p:nvSpPr>
        <p:spPr>
          <a:xfrm>
            <a:off x="4519879" y="5605272"/>
            <a:ext cx="402336" cy="402336"/>
          </a:xfrm>
          <a:prstGeom prst="ellipse">
            <a:avLst/>
          </a:prstGeom>
          <a:solidFill>
            <a:schemeClr val="tx2"/>
          </a:solidFill>
          <a:ln/>
        </p:spPr>
      </p:sp>
      <p:pic>
        <p:nvPicPr>
          <p:cNvPr id="59" name="Image 9" descr="YenSign icon">    </p:cNvPr>
          <p:cNvPicPr>
            <a:picLocks noChangeAspect="1"/>
          </p:cNvPicPr>
          <p:nvPr/>
        </p:nvPicPr>
        <p:blipFill>
          <a:blip r:embed="rId10"/>
          <a:stretch>
            <a:fillRect/>
          </a:stretch>
        </p:blipFill>
        <p:spPr>
          <a:xfrm>
            <a:off x="4620463" y="5705856"/>
            <a:ext cx="201168" cy="201168"/>
          </a:xfrm>
          <a:prstGeom prst="rect">
            <a:avLst/>
          </a:prstGeom>
        </p:spPr>
      </p:pic>
      <p:sp>
        <p:nvSpPr>
          <p:cNvPr id="60" name="Text 48"/>
          <p:cNvSpPr txBox="1"/>
          <p:nvPr/>
        </p:nvSpPr>
        <p:spPr>
          <a:xfrm>
            <a:off x="5050231" y="5486400"/>
            <a:ext cx="2645359" cy="640080"/>
          </a:xfrm>
          <a:prstGeom prst="rect">
            <a:avLst/>
          </a:prstGeom>
          <a:noFill/>
          <a:ln/>
        </p:spPr>
        <p:txBody>
          <a:bodyPr wrap="square" lIns="0" tIns="0" rIns="0" bIns="0" rtlCol="0" anchor="ctr"/>
          <a:lstStyle/>
          <a:p>
            <a:pPr indent="0" marL="0">
              <a:buNone/>
            </a:pPr>
            <a:r>
              <a:rPr lang="en-US" sz="1200" dirty="0">
                <a:solidFill>
                  <a:schemeClr val="tx1"/>
                </a:solidFill>
              </a:rPr>
              <a:t>Tailwind: Japan targets ¥20 T in overseas content sales by 2033</a:t>
            </a:r>
            <a:endParaRPr lang="en-US" sz="1200" dirty="0"/>
          </a:p>
        </p:txBody>
      </p:sp>
      <p:sp>
        <p:nvSpPr>
          <p:cNvPr id="61" name="edge-3"/>
          <p:cNvSpPr/>
          <p:nvPr/>
        </p:nvSpPr>
        <p:spPr>
          <a:xfrm>
            <a:off x="8125358" y="5440680"/>
            <a:ext cx="3514039" cy="731520"/>
          </a:xfrm>
          <a:prstGeom prst="roundRect">
            <a:avLst>
              <a:gd name="adj" fmla="val 10000"/>
            </a:avLst>
          </a:prstGeom>
          <a:solidFill>
            <a:schemeClr val="bg1"/>
          </a:solidFill>
          <a:ln/>
          <a:effectLst>
            <a:outerShdw sx="100000" sy="100000" kx="0" ky="0" algn="bl" rotWithShape="0" blurRad="114300" dist="25400" dir="5400000">
              <a:srgbClr val="141A33">
                <a:alpha val="13000"/>
              </a:srgbClr>
            </a:outerShdw>
          </a:effectLst>
        </p:spPr>
      </p:sp>
      <p:sp>
        <p:nvSpPr>
          <p:cNvPr id="62" name="icon-FaEarthAsia"/>
          <p:cNvSpPr/>
          <p:nvPr/>
        </p:nvSpPr>
        <p:spPr>
          <a:xfrm>
            <a:off x="8308238" y="5605272"/>
            <a:ext cx="402336" cy="402336"/>
          </a:xfrm>
          <a:prstGeom prst="ellipse">
            <a:avLst/>
          </a:prstGeom>
          <a:solidFill>
            <a:schemeClr val="tx2"/>
          </a:solidFill>
          <a:ln/>
        </p:spPr>
      </p:sp>
      <p:pic>
        <p:nvPicPr>
          <p:cNvPr id="63" name="Image 10" descr="EarthAsia icon">    </p:cNvPr>
          <p:cNvPicPr>
            <a:picLocks noChangeAspect="1"/>
          </p:cNvPicPr>
          <p:nvPr/>
        </p:nvPicPr>
        <p:blipFill>
          <a:blip r:embed="rId11"/>
          <a:stretch>
            <a:fillRect/>
          </a:stretch>
        </p:blipFill>
        <p:spPr>
          <a:xfrm>
            <a:off x="8408822" y="5705856"/>
            <a:ext cx="201168" cy="201168"/>
          </a:xfrm>
          <a:prstGeom prst="rect">
            <a:avLst/>
          </a:prstGeom>
        </p:spPr>
      </p:pic>
      <p:sp>
        <p:nvSpPr>
          <p:cNvPr id="64" name="Text 51"/>
          <p:cNvSpPr txBox="1"/>
          <p:nvPr/>
        </p:nvSpPr>
        <p:spPr>
          <a:xfrm>
            <a:off x="8838590" y="5486400"/>
            <a:ext cx="2645359" cy="640080"/>
          </a:xfrm>
          <a:prstGeom prst="rect">
            <a:avLst/>
          </a:prstGeom>
          <a:noFill/>
          <a:ln/>
        </p:spPr>
        <p:txBody>
          <a:bodyPr wrap="square" lIns="0" tIns="0" rIns="0" bIns="0" rtlCol="0" anchor="ctr"/>
          <a:lstStyle/>
          <a:p>
            <a:pPr indent="0" marL="0">
              <a:buNone/>
            </a:pPr>
            <a:r>
              <a:rPr lang="en-US" sz="1200" dirty="0">
                <a:solidFill>
                  <a:schemeClr val="tx1"/>
                </a:solidFill>
              </a:rPr>
              <a:t>Reach: Netflix publishes Top 10 charts for about 90 countries</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178"/>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Yosoku">
  <a:themeElements>
    <a:clrScheme name="Yosoku">
      <a:dk1>
        <a:srgbClr val="141A33"/>
      </a:dk1>
      <a:lt1>
        <a:srgbClr val="FFFDF8"/>
      </a:lt1>
      <a:dk2>
        <a:srgbClr val="0E1330"/>
      </a:dk2>
      <a:lt2>
        <a:srgbClr val="F4EEE3"/>
      </a:lt2>
      <a:accent1>
        <a:srgbClr val="D9412B"/>
      </a:accent1>
      <a:accent2>
        <a:srgbClr val="1E6B4C"/>
      </a:accent2>
      <a:accent3>
        <a:srgbClr val="E0A63A"/>
      </a:accent3>
      <a:accent4>
        <a:srgbClr val="1F7A86"/>
      </a:accent4>
      <a:accent5>
        <a:srgbClr val="5B6178"/>
      </a:accent5>
      <a:accent6>
        <a:srgbClr val="C9BFAE"/>
      </a:accent6>
      <a:hlink>
        <a:srgbClr val="D9412B"/>
      </a:hlink>
      <a:folHlink>
        <a:srgbClr val="8A4FA0"/>
      </a:folHlink>
    </a:clrScheme>
    <a:fontScheme name="Yosoku">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Team shecodes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Yosoku: will it land in India?</dc:title>
  <dc:subject>Forecasting how Japanese anime will perform in India</dc:subject>
  <dc:creator>Team shecodes</dc:creator>
  <cp:lastModifiedBy>Team shecodes</cp:lastModifiedBy>
  <cp:revision>1</cp:revision>
  <dcterms:created xsi:type="dcterms:W3CDTF">2026-10-25T00:12:00Z</dcterms:created>
  <dcterms:modified xsi:type="dcterms:W3CDTF">2026-10-25T00:12:00Z</dcterms:modified>
</cp:coreProperties>
</file>